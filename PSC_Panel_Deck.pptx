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6318cd7-f66f-7bfd-911e-2dd9c3c4c885}">
          <p14:sldIdLst>
            <p14:sldId id="256"/>
            <p14:sldId id="257"/>
            <p14:sldId id="258"/>
            <p14:sldId id="259"/>
          </p14:sldIdLst>
        </p14:section>
        <p14:section name="Build" id="{2cbd5c96-fc3c-555f-47cd-84d1014d142f}">
          <p14:sldIdLst>
            <p14:sldId id="260"/>
            <p14:sldId id="261"/>
            <p14:sldId id="262"/>
            <p14:sldId id="263"/>
            <p14:sldId id="264"/>
          </p14:sldIdLst>
        </p14:section>
        <p14:section name="Prove and ship" id="{8707c70f-a86a-5d8e-2f37-034fbe4589a2}">
          <p14:sldIdLst>
            <p14:sldId id="265"/>
            <p14:sldId id="266"/>
            <p14:sldId id="267"/>
            <p14:sldId id="268"/>
            <p14:sldId id="269"/>
          </p14:sldIdLst>
        </p14:section>
        <p14:section name="Close" id="{21ffcf30-b3d1-6e8d-1181-0ec13b590568}">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I built one system, Platform Security Copilot, across seven modules so that every competency in the posting maps to working code. In the next 25 minutes: the problem, the stack mental model, each module with the design decision I would defend with a customer, then evaluation, deployment, and what broke along the way. I'll close with a short live demo and how I'd run this as a customer engagement.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 case is deliberately close to my DoD DevSecOps work. A manifest like payments-api has a privileged container, hostNetwork and a latest tag; the image also bundles Log4Shell. PSC scans deterministically, triages into a typed report, grounds each fix in our runbooks with the SLA, stops for human approval on HIGH or CRITICAL, and writes the report. That shape, deterministic plus LLM plus human, is what most enterprise customers actually want.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picture to keep in mind: LangGraph is the runtime; LangChain's create_agent and Deep Agents' create_deep_agent are higher-level ways to build LangGraph graphs; LangSmith observes, evaluates and hosts them. Three things I'd say to any customer: create_agent is a compiled graph, middleware replaced chain subclassing as the customization surface, and LangSmith is useful even if they don't use our frameworks.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structured the build so each module adds one piece of the stack to the same codebase and maps to a line in the job description. Modules 1 through 5 are the agent-engineering half, 6 is evaluation, 7 is the infrastructure half. I'll go through each one with the design decision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1 is the foundation every customer build starts with. Three choices: tools return errors as data so the model can recover; the output is a typed TriageReport, never free text, so downstream systems can consume it; and middleware supplies production behavior: a call limit as a circuit breaker, retries scoped to the one flaky network tool, and a custom guardrail that converts unexpected tool exceptions into an error message. In LangSmith you see model call, parallel tool calls, then the structured-output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2 gives the agent our own runbooks. I chunk on markdown headers so one chunk is one procedure and the heading becomes a citation. Embeddings are just an interface; I used a local ONNX model, which means no key and no data egress, the right default for regulated customers, and production would swap to pgvector. Retrieval is a tool the agent chooses to call. Test question: ask something the runbooks don't cover and check that the agent admits the gap; that becomes an eval in Module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module I'd lead with for an enterprise customer: nobody wants a free-roaming agent touching production. Scan and routing are plain Python; the LLM only writes the plan. HIGH or CRITICAL findings hit interrupt(), the state is checkpointed, and the resume can come hours later from Slack. If the reviewer accepts a risk, that's written to the long-term store under the team's namespace, and the next run on a new thread suppresses that rule. Four memory concepts: state, checkpointer, store, and runtime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4 splits the agent into a supervisor and three specialists wrapped as tools: the subagents pattern. The benefit is context isolation and cost: mechanical work runs on Haiku. The classic failure mode is a subagent that does the work but leaves it out of its final message, because the supervisor only sees that message; I fix it in the prompt and guard it with an eval. Expect the panel to ask which pattern and why: handoffs when the user talks to the specialist, router for clear categories, a custom workflow when compliance needs auditability. And I'd always measure multi-agent against the single-agent baseline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5 is the cluster-wide audit. The deep agent plans with write_todos, sends each manifest to a manifest-auditor subagent, reads the k8s-hardening skill only when it gets to patching, follows the report format in AGENTS.md, and writes the report to disk. The security points: the FilesystemBackend runs in virtual mode so paths can't escape the workspace, edits to existing files need human approval, and code execution belongs in a sandbox backend, never a local shell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is where most customer engagements stall, so I spent the most time here. Deterministic checks first because they're free and exact; an LLM judge only for the fuzzy part; trajectory evals for agent behavior; humans to calibrate the judge. The A/B test compares two system prompts on the same dataset with repetitions, and I read per-example regressions, not just averages. If I've run it with live keys before the panel, replace this note with the actual scores. I'm honest that five examples is a smoke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graphs are served from one Agent Server defined by langgraph.json. Dev mode gives Studio for running graphs and answering interrupts; build produces the image; deploy ships it to LangSmith Deployment. A real gotcha: the server refused my supervisor graph because I'd compiled it with an in-memory checkpointer; the platform owns persistence, so I export graphs without one. For deployment shape: cloud is fastest, hybrid keeps agents and data in the customer's cluster but traces still go to the control plane, self-hosted for regulated or air-gapped.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half of the role where my platform background carries the conversation. API pods and queue workers scale separately; Redis carries pub/sub and streaming and can be rebuilt; Postgres holds threads, checkpoints, the store and the run queue, so it gets the HA and DR investment: multi-AZ, point-in-time recovery, a cross-region replica. Secrets from Vault, egress locked to model APIs and LangSmith, custom auth mapped to the customer's IdP. Terraform, Helm values in Git, Argo CD, with the eval suite as a CI gate. And never run Agent Servers on serverless, where scale-to-zero drops in-flight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documentation slide. LangSmith self-hosted is six services on Kubernetes: the frontend serves the UI and routes API calls; the backend handles CRUD and trace queries; the platform backend handles auth and high-volume run ingestion; the ingest queue persists traces to ClickHouse asynchronously with retries; the playground proxies LLM calls; ACE runs code in a sandbox. External services: ClickHouse for traces and feedback, Postgres for operational data, Redis or Valkey for queuing and caching, blob storage for large payloads. Managed services are strongly recommended over in-cluster. Deployment is an optional add-on: a control plane plus Agent Servers, which have their own Postgres and Redis. Scalability: the write path is platform backend to Redis to ingest queue to ClickHouse, so scale platform-backend and queue replicas, ideally with KEDA on Redis backlog. The read path is backend to ClickHouse: scale backend replicas and move ClickHouse to a 3-node replicated cluster. Replica numbers are from LangChain's published example configurations, low to high load. Baseline cluster is about 16 vCPU and 64 GB. Agent Server: API servers scale request concurrency; queue workers times N_JOBS_PER_WORKER sets run concurrency.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issues I hit while building and testing, and they're exactly the kind of thing a deployed architect runs into on site. The checkpointer rejection only shows up when you serve the graph, not in unit runs. The subagent final-message problem is in LangChain's own docs as the common failure mode. The air-gap one matters for DoD customers: the embedding model downloads on first call, so it has to be baked into the image. And community packages are sunsetting, so I depended on the interface rather than the integration.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order: Studio first because the pause-and-resume is the most tangible thing. Then the supervisor trace in LangSmith. Then the experiment comparison. Then back to the architecture slide for infrastructure questions. Backup if the network fails: the remediation flow runs fully offline except the plan step, and I have screenshots.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turning the project into the job: assess maturity, prove value on one workflow with a golden dataset, productionize with the right deployment shape and HA, then keep improving with online evals. That's the Professional Services motion. Then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SC Title">
    <p:bg>
      <p:bgPr>
        <a:solidFill>
          <a:srgbClr val="12332B"/>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6583680" cy="365760"/>
          </a:xfrm>
          <a:prstGeom prst="rect">
            <a:avLst/>
          </a:prstGeom>
          <a:noFill/>
          <a:ln/>
        </p:spPr>
        <p:txBody>
          <a:bodyPr wrap="square" rtlCol="0"/>
          <a:lstStyle>
            <a:lvl1pPr indent="0" marL="0">
              <a:buNone/>
              <a:defRPr lang="en-US" sz="1400" b="1" spc="200" kern="0" dirty="0">
                <a:solidFill>
                  <a:schemeClr val="accent1"/>
                </a:solidFill>
              </a:defRPr>
            </a:lvl1pPr>
          </a:lstStyle>
          <a:p>
            <a:pPr indent="0" marL="0">
              <a:buNone/>
            </a:pPr>
            <a:endParaRPr lang="en-US" sz="1400" dirty="0"/>
          </a:p>
        </p:txBody>
      </p:sp>
      <p:sp>
        <p:nvSpPr>
          <p:cNvPr id="3" name="Text 0"/>
          <p:cNvSpPr/>
          <p:nvPr>
            <p:ph idx="101" type="title" hasCustomPrompt="1"/>
          </p:nvPr>
        </p:nvSpPr>
        <p:spPr>
          <a:xfrm>
            <a:off x="548640" y="1554480"/>
            <a:ext cx="6583680" cy="17373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4" name="Text 0"/>
          <p:cNvSpPr/>
          <p:nvPr>
            <p:ph idx="102" type="body" hasCustomPrompt="1"/>
          </p:nvPr>
        </p:nvSpPr>
        <p:spPr>
          <a:xfrm>
            <a:off x="548640" y="3383280"/>
            <a:ext cx="6035040" cy="128016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
        <p:nvSpPr>
          <p:cNvPr id="5" name="Text 0"/>
          <p:cNvSpPr/>
          <p:nvPr>
            <p:ph idx="103" type="body" hasCustomPrompt="1"/>
          </p:nvPr>
        </p:nvSpPr>
        <p:spPr>
          <a:xfrm>
            <a:off x="548640" y="5669280"/>
            <a:ext cx="6035040" cy="457200"/>
          </a:xfrm>
          <a:prstGeom prst="rect">
            <a:avLst/>
          </a:prstGeom>
          <a:noFill/>
          <a:ln/>
        </p:spPr>
        <p:txBody>
          <a:bodyPr wrap="square" rtlCol="0"/>
          <a:lstStyle>
            <a:lvl1pPr indent="0" marL="0">
              <a:buNone/>
              <a:defRPr lang="en-US" sz="1400" dirty="0">
                <a:solidFill>
                  <a:schemeClr val="bg1"/>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SC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lstStyle>
            <a:lvl1pPr indent="0" marL="0">
              <a:buNone/>
              <a:defRPr lang="en-US" sz="1200" b="1" spc="200" kern="0" dirty="0">
                <a:solidFill>
                  <a:schemeClr val="accent3"/>
                </a:solidFill>
              </a:defRPr>
            </a:lvl1pPr>
          </a:lstStyle>
          <a:p>
            <a:pPr indent="0" marL="0">
              <a:buNone/>
            </a:pPr>
            <a:endParaRPr lang="en-US" sz="1200" dirty="0"/>
          </a:p>
        </p:txBody>
      </p:sp>
      <p:sp>
        <p:nvSpPr>
          <p:cNvPr id="3" name="Text 0"/>
          <p:cNvSpPr/>
          <p:nvPr>
            <p:ph idx="101" type="title" hasCustomPrompt="1"/>
          </p:nvPr>
        </p:nvSpPr>
        <p:spPr>
          <a:xfrm>
            <a:off x="548640" y="585216"/>
            <a:ext cx="11094415"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5"/>
                </a:solidFill>
              </a:rPr>
              <a:t>Platform Security Copilot  ·  Adam Gantt</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SC Closing">
    <p:bg>
      <p:bgPr>
        <a:solidFill>
          <a:srgbClr val="12332B"/>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548640"/>
            <a:ext cx="8229600" cy="320040"/>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86868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3.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6583680" cy="365760"/>
          </a:xfrm>
          <a:prstGeom prst="rect">
            <a:avLst/>
          </a:prstGeom>
          <a:noFill/>
          <a:ln/>
        </p:spPr>
        <p:txBody>
          <a:bodyPr wrap="square" lIns="0" tIns="0" rIns="0" bIns="0" rtlCol="0"/>
          <a:lstStyle/>
          <a:p>
            <a:pPr indent="0" marL="0">
              <a:buNone/>
            </a:pPr>
            <a:r>
              <a:rPr lang="en-US" sz="1400" b="1" spc="200" kern="0" dirty="0">
                <a:solidFill>
                  <a:schemeClr val="accent1"/>
                </a:solidFill>
              </a:rPr>
              <a:t>DEPLOYED ARCHITECT PANEL</a:t>
            </a:r>
            <a:endParaRPr lang="en-US" sz="1400" dirty="0"/>
          </a:p>
        </p:txBody>
      </p:sp>
      <p:sp>
        <p:nvSpPr>
          <p:cNvPr id="3" name="Text 0"/>
          <p:cNvSpPr/>
          <p:nvPr>
            <p:ph idx="101" type="title" hasCustomPrompt="1"/>
          </p:nvPr>
        </p:nvSpPr>
        <p:spPr>
          <a:xfrm>
            <a:off x="548640" y="1554480"/>
            <a:ext cx="6583680" cy="1737360"/>
          </a:xfrm>
          <a:prstGeom prst="rect">
            <a:avLst/>
          </a:prstGeom>
          <a:noFill/>
          <a:ln/>
        </p:spPr>
        <p:txBody>
          <a:bodyPr wrap="square" lIns="0" tIns="0" rIns="0" bIns="0" rtlCol="0" anchor="t"/>
          <a:lstStyle/>
          <a:p>
            <a:pPr algn="l" indent="0" marL="0">
              <a:buNone/>
            </a:pPr>
            <a:r>
              <a:rPr lang="en-US" sz="4800" b="1" dirty="0">
                <a:solidFill>
                  <a:schemeClr val="bg1"/>
                </a:solidFill>
              </a:rPr>
              <a:t>Platform Security Copilot</a:t>
            </a:r>
            <a:endParaRPr lang="en-US" sz="4800" dirty="0"/>
          </a:p>
        </p:txBody>
      </p:sp>
      <p:sp>
        <p:nvSpPr>
          <p:cNvPr id="4" name="Text 0"/>
          <p:cNvSpPr/>
          <p:nvPr>
            <p:ph idx="102" type="body" hasCustomPrompt="1"/>
          </p:nvPr>
        </p:nvSpPr>
        <p:spPr>
          <a:xfrm>
            <a:off x="548640" y="3383280"/>
            <a:ext cx="6035040" cy="1280160"/>
          </a:xfrm>
          <a:prstGeom prst="rect">
            <a:avLst/>
          </a:prstGeom>
          <a:noFill/>
          <a:ln/>
        </p:spPr>
        <p:txBody>
          <a:bodyPr wrap="square" lIns="0" tIns="0" rIns="0" bIns="0" rtlCol="0" anchor="t"/>
          <a:lstStyle/>
          <a:p>
            <a:pPr indent="0" marL="0">
              <a:buNone/>
            </a:pPr>
            <a:r>
              <a:rPr lang="en-US" sz="1800" dirty="0">
                <a:solidFill>
                  <a:schemeClr val="accent4"/>
                </a:solidFill>
              </a:rPr>
              <a:t>A DevSecOps agent system built end to end on LangChain, LangGraph, Deep Agents and LangSmith</a:t>
            </a:r>
            <a:endParaRPr lang="en-US" sz="1800" dirty="0"/>
          </a:p>
        </p:txBody>
      </p:sp>
      <p:sp>
        <p:nvSpPr>
          <p:cNvPr id="5" name="Text 0"/>
          <p:cNvSpPr/>
          <p:nvPr>
            <p:ph idx="103" type="body" hasCustomPrompt="1"/>
          </p:nvPr>
        </p:nvSpPr>
        <p:spPr>
          <a:xfrm>
            <a:off x="548640" y="5669280"/>
            <a:ext cx="6035040" cy="457200"/>
          </a:xfrm>
          <a:prstGeom prst="rect">
            <a:avLst/>
          </a:prstGeom>
          <a:noFill/>
          <a:ln/>
        </p:spPr>
        <p:txBody>
          <a:bodyPr wrap="square" lIns="0" tIns="0" rIns="0" bIns="0" rtlCol="0"/>
          <a:lstStyle/>
          <a:p>
            <a:pPr indent="0" marL="0">
              <a:buNone/>
            </a:pPr>
            <a:r>
              <a:rPr lang="en-US" sz="1400" dirty="0">
                <a:solidFill>
                  <a:schemeClr val="bg1"/>
                </a:solidFill>
              </a:rPr>
              <a:t>Adam Gantt  ·  October 2026</a:t>
            </a:r>
            <a:endParaRPr lang="en-US" sz="1400" dirty="0"/>
          </a:p>
        </p:txBody>
      </p:sp>
      <p:sp>
        <p:nvSpPr>
          <p:cNvPr id="6" name="card-1"/>
          <p:cNvSpPr/>
          <p:nvPr/>
        </p:nvSpPr>
        <p:spPr>
          <a:xfrm>
            <a:off x="7726680" y="960120"/>
            <a:ext cx="3931920" cy="530352"/>
          </a:xfrm>
          <a:prstGeom prst="roundRect">
            <a:avLst>
              <a:gd name="adj" fmla="val 20690"/>
            </a:avLst>
          </a:prstGeom>
          <a:solidFill>
            <a:srgbClr val="1B4A3E"/>
          </a:solidFill>
          <a:ln w="12700">
            <a:solidFill>
              <a:srgbClr val="1B4A3E"/>
            </a:solidFill>
            <a:prstDash val="solid"/>
          </a:ln>
        </p:spPr>
      </p:sp>
      <p:sp>
        <p:nvSpPr>
          <p:cNvPr id="7" name="badge-2"/>
          <p:cNvSpPr/>
          <p:nvPr/>
        </p:nvSpPr>
        <p:spPr>
          <a:xfrm>
            <a:off x="7818120" y="1024128"/>
            <a:ext cx="402336" cy="402336"/>
          </a:xfrm>
          <a:prstGeom prst="roundRect">
            <a:avLst>
              <a:gd name="adj" fmla="val 22727"/>
            </a:avLst>
          </a:prstGeom>
          <a:solidFill>
            <a:schemeClr val="accent1"/>
          </a:solidFill>
          <a:ln w="12700">
            <a:solidFill>
              <a:schemeClr val="accent1"/>
            </a:solidFill>
            <a:prstDash val="solid"/>
          </a:ln>
        </p:spPr>
      </p:sp>
      <p:sp>
        <p:nvSpPr>
          <p:cNvPr id="8" name="badge-label-3"/>
          <p:cNvSpPr txBox="1"/>
          <p:nvPr/>
        </p:nvSpPr>
        <p:spPr>
          <a:xfrm>
            <a:off x="7818120" y="1024128"/>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9" name="text-4"/>
          <p:cNvSpPr txBox="1"/>
          <p:nvPr/>
        </p:nvSpPr>
        <p:spPr>
          <a:xfrm>
            <a:off x="8366760" y="960120"/>
            <a:ext cx="3200400" cy="530352"/>
          </a:xfrm>
          <a:prstGeom prst="rect">
            <a:avLst/>
          </a:prstGeom>
          <a:noFill/>
          <a:ln/>
        </p:spPr>
        <p:txBody>
          <a:bodyPr wrap="square" lIns="0" tIns="0" rIns="0" bIns="0" rtlCol="0" anchor="ctr"/>
          <a:lstStyle/>
          <a:p>
            <a:pPr indent="0" marL="0">
              <a:buNone/>
            </a:pPr>
            <a:r>
              <a:rPr lang="en-US" sz="1500" b="1" dirty="0">
                <a:solidFill>
                  <a:schemeClr val="bg1"/>
                </a:solidFill>
              </a:rPr>
              <a:t>Triage agent</a:t>
            </a:r>
            <a:endParaRPr lang="en-US" sz="1500" dirty="0"/>
          </a:p>
        </p:txBody>
      </p:sp>
      <p:sp>
        <p:nvSpPr>
          <p:cNvPr id="10" name="card-5"/>
          <p:cNvSpPr/>
          <p:nvPr/>
        </p:nvSpPr>
        <p:spPr>
          <a:xfrm>
            <a:off x="7726680" y="1618488"/>
            <a:ext cx="3931920" cy="530352"/>
          </a:xfrm>
          <a:prstGeom prst="roundRect">
            <a:avLst>
              <a:gd name="adj" fmla="val 20690"/>
            </a:avLst>
          </a:prstGeom>
          <a:solidFill>
            <a:srgbClr val="1B4A3E"/>
          </a:solidFill>
          <a:ln w="12700">
            <a:solidFill>
              <a:srgbClr val="1B4A3E"/>
            </a:solidFill>
            <a:prstDash val="solid"/>
          </a:ln>
        </p:spPr>
      </p:sp>
      <p:sp>
        <p:nvSpPr>
          <p:cNvPr id="11" name="badge-6"/>
          <p:cNvSpPr/>
          <p:nvPr/>
        </p:nvSpPr>
        <p:spPr>
          <a:xfrm>
            <a:off x="7818120" y="1682496"/>
            <a:ext cx="402336" cy="402336"/>
          </a:xfrm>
          <a:prstGeom prst="roundRect">
            <a:avLst>
              <a:gd name="adj" fmla="val 22727"/>
            </a:avLst>
          </a:prstGeom>
          <a:solidFill>
            <a:schemeClr val="accent1"/>
          </a:solidFill>
          <a:ln w="12700">
            <a:solidFill>
              <a:schemeClr val="accent1"/>
            </a:solidFill>
            <a:prstDash val="solid"/>
          </a:ln>
        </p:spPr>
      </p:sp>
      <p:sp>
        <p:nvSpPr>
          <p:cNvPr id="12" name="badge-label-7"/>
          <p:cNvSpPr txBox="1"/>
          <p:nvPr/>
        </p:nvSpPr>
        <p:spPr>
          <a:xfrm>
            <a:off x="7818120" y="168249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3" name="text-8"/>
          <p:cNvSpPr txBox="1"/>
          <p:nvPr/>
        </p:nvSpPr>
        <p:spPr>
          <a:xfrm>
            <a:off x="8366760" y="1618488"/>
            <a:ext cx="3200400" cy="530352"/>
          </a:xfrm>
          <a:prstGeom prst="rect">
            <a:avLst/>
          </a:prstGeom>
          <a:noFill/>
          <a:ln/>
        </p:spPr>
        <p:txBody>
          <a:bodyPr wrap="square" lIns="0" tIns="0" rIns="0" bIns="0" rtlCol="0" anchor="ctr"/>
          <a:lstStyle/>
          <a:p>
            <a:pPr indent="0" marL="0">
              <a:buNone/>
            </a:pPr>
            <a:r>
              <a:rPr lang="en-US" sz="1500" b="1" dirty="0">
                <a:solidFill>
                  <a:schemeClr val="bg1"/>
                </a:solidFill>
              </a:rPr>
              <a:t>Runbook RAG</a:t>
            </a:r>
            <a:endParaRPr lang="en-US" sz="1500" dirty="0"/>
          </a:p>
        </p:txBody>
      </p:sp>
      <p:sp>
        <p:nvSpPr>
          <p:cNvPr id="14" name="card-9"/>
          <p:cNvSpPr/>
          <p:nvPr/>
        </p:nvSpPr>
        <p:spPr>
          <a:xfrm>
            <a:off x="7726680" y="2276856"/>
            <a:ext cx="3931920" cy="530352"/>
          </a:xfrm>
          <a:prstGeom prst="roundRect">
            <a:avLst>
              <a:gd name="adj" fmla="val 20690"/>
            </a:avLst>
          </a:prstGeom>
          <a:solidFill>
            <a:srgbClr val="1B4A3E"/>
          </a:solidFill>
          <a:ln w="12700">
            <a:solidFill>
              <a:srgbClr val="1B4A3E"/>
            </a:solidFill>
            <a:prstDash val="solid"/>
          </a:ln>
        </p:spPr>
      </p:sp>
      <p:sp>
        <p:nvSpPr>
          <p:cNvPr id="15" name="badge-10"/>
          <p:cNvSpPr/>
          <p:nvPr/>
        </p:nvSpPr>
        <p:spPr>
          <a:xfrm>
            <a:off x="7818120" y="2340864"/>
            <a:ext cx="402336" cy="402336"/>
          </a:xfrm>
          <a:prstGeom prst="roundRect">
            <a:avLst>
              <a:gd name="adj" fmla="val 22727"/>
            </a:avLst>
          </a:prstGeom>
          <a:solidFill>
            <a:schemeClr val="accent1"/>
          </a:solidFill>
          <a:ln w="12700">
            <a:solidFill>
              <a:schemeClr val="accent1"/>
            </a:solidFill>
            <a:prstDash val="solid"/>
          </a:ln>
        </p:spPr>
      </p:sp>
      <p:sp>
        <p:nvSpPr>
          <p:cNvPr id="16" name="badge-label-11"/>
          <p:cNvSpPr txBox="1"/>
          <p:nvPr/>
        </p:nvSpPr>
        <p:spPr>
          <a:xfrm>
            <a:off x="7818120" y="2340864"/>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7" name="text-12"/>
          <p:cNvSpPr txBox="1"/>
          <p:nvPr/>
        </p:nvSpPr>
        <p:spPr>
          <a:xfrm>
            <a:off x="8366760" y="2276856"/>
            <a:ext cx="3200400" cy="530352"/>
          </a:xfrm>
          <a:prstGeom prst="rect">
            <a:avLst/>
          </a:prstGeom>
          <a:noFill/>
          <a:ln/>
        </p:spPr>
        <p:txBody>
          <a:bodyPr wrap="square" lIns="0" tIns="0" rIns="0" bIns="0" rtlCol="0" anchor="ctr"/>
          <a:lstStyle/>
          <a:p>
            <a:pPr indent="0" marL="0">
              <a:buNone/>
            </a:pPr>
            <a:r>
              <a:rPr lang="en-US" sz="1500" b="1" dirty="0">
                <a:solidFill>
                  <a:schemeClr val="bg1"/>
                </a:solidFill>
              </a:rPr>
              <a:t>Approval workflow</a:t>
            </a:r>
            <a:endParaRPr lang="en-US" sz="1500" dirty="0"/>
          </a:p>
        </p:txBody>
      </p:sp>
      <p:sp>
        <p:nvSpPr>
          <p:cNvPr id="18" name="card-13"/>
          <p:cNvSpPr/>
          <p:nvPr/>
        </p:nvSpPr>
        <p:spPr>
          <a:xfrm>
            <a:off x="7726680" y="2935224"/>
            <a:ext cx="3931920" cy="530352"/>
          </a:xfrm>
          <a:prstGeom prst="roundRect">
            <a:avLst>
              <a:gd name="adj" fmla="val 20690"/>
            </a:avLst>
          </a:prstGeom>
          <a:solidFill>
            <a:srgbClr val="1B4A3E"/>
          </a:solidFill>
          <a:ln w="12700">
            <a:solidFill>
              <a:srgbClr val="1B4A3E"/>
            </a:solidFill>
            <a:prstDash val="solid"/>
          </a:ln>
        </p:spPr>
      </p:sp>
      <p:sp>
        <p:nvSpPr>
          <p:cNvPr id="19" name="badge-14"/>
          <p:cNvSpPr/>
          <p:nvPr/>
        </p:nvSpPr>
        <p:spPr>
          <a:xfrm>
            <a:off x="7818120" y="2999232"/>
            <a:ext cx="402336" cy="402336"/>
          </a:xfrm>
          <a:prstGeom prst="roundRect">
            <a:avLst>
              <a:gd name="adj" fmla="val 22727"/>
            </a:avLst>
          </a:prstGeom>
          <a:solidFill>
            <a:schemeClr val="accent1"/>
          </a:solidFill>
          <a:ln w="12700">
            <a:solidFill>
              <a:schemeClr val="accent1"/>
            </a:solidFill>
            <a:prstDash val="solid"/>
          </a:ln>
        </p:spPr>
      </p:sp>
      <p:sp>
        <p:nvSpPr>
          <p:cNvPr id="20" name="badge-label-15"/>
          <p:cNvSpPr txBox="1"/>
          <p:nvPr/>
        </p:nvSpPr>
        <p:spPr>
          <a:xfrm>
            <a:off x="7818120" y="299923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1" name="text-16"/>
          <p:cNvSpPr txBox="1"/>
          <p:nvPr/>
        </p:nvSpPr>
        <p:spPr>
          <a:xfrm>
            <a:off x="8366760" y="2935224"/>
            <a:ext cx="3200400" cy="530352"/>
          </a:xfrm>
          <a:prstGeom prst="rect">
            <a:avLst/>
          </a:prstGeom>
          <a:noFill/>
          <a:ln/>
        </p:spPr>
        <p:txBody>
          <a:bodyPr wrap="square" lIns="0" tIns="0" rIns="0" bIns="0" rtlCol="0" anchor="ctr"/>
          <a:lstStyle/>
          <a:p>
            <a:pPr indent="0" marL="0">
              <a:buNone/>
            </a:pPr>
            <a:r>
              <a:rPr lang="en-US" sz="1500" b="1" dirty="0">
                <a:solidFill>
                  <a:schemeClr val="bg1"/>
                </a:solidFill>
              </a:rPr>
              <a:t>Supervisor + specialists</a:t>
            </a:r>
            <a:endParaRPr lang="en-US" sz="1500" dirty="0"/>
          </a:p>
        </p:txBody>
      </p:sp>
      <p:sp>
        <p:nvSpPr>
          <p:cNvPr id="22" name="card-17"/>
          <p:cNvSpPr/>
          <p:nvPr/>
        </p:nvSpPr>
        <p:spPr>
          <a:xfrm>
            <a:off x="7726680" y="3593592"/>
            <a:ext cx="3931920" cy="530352"/>
          </a:xfrm>
          <a:prstGeom prst="roundRect">
            <a:avLst>
              <a:gd name="adj" fmla="val 20690"/>
            </a:avLst>
          </a:prstGeom>
          <a:solidFill>
            <a:srgbClr val="1B4A3E"/>
          </a:solidFill>
          <a:ln w="12700">
            <a:solidFill>
              <a:srgbClr val="1B4A3E"/>
            </a:solidFill>
            <a:prstDash val="solid"/>
          </a:ln>
        </p:spPr>
      </p:sp>
      <p:sp>
        <p:nvSpPr>
          <p:cNvPr id="23" name="badge-18"/>
          <p:cNvSpPr/>
          <p:nvPr/>
        </p:nvSpPr>
        <p:spPr>
          <a:xfrm>
            <a:off x="7818120" y="3657600"/>
            <a:ext cx="402336" cy="402336"/>
          </a:xfrm>
          <a:prstGeom prst="roundRect">
            <a:avLst>
              <a:gd name="adj" fmla="val 22727"/>
            </a:avLst>
          </a:prstGeom>
          <a:solidFill>
            <a:schemeClr val="accent1"/>
          </a:solidFill>
          <a:ln w="12700">
            <a:solidFill>
              <a:schemeClr val="accent1"/>
            </a:solidFill>
            <a:prstDash val="solid"/>
          </a:ln>
        </p:spPr>
      </p:sp>
      <p:sp>
        <p:nvSpPr>
          <p:cNvPr id="24" name="badge-label-19"/>
          <p:cNvSpPr txBox="1"/>
          <p:nvPr/>
        </p:nvSpPr>
        <p:spPr>
          <a:xfrm>
            <a:off x="7818120" y="3657600"/>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05</a:t>
            </a:r>
            <a:endParaRPr lang="en-US" sz="1300" dirty="0"/>
          </a:p>
        </p:txBody>
      </p:sp>
      <p:sp>
        <p:nvSpPr>
          <p:cNvPr id="25" name="text-20"/>
          <p:cNvSpPr txBox="1"/>
          <p:nvPr/>
        </p:nvSpPr>
        <p:spPr>
          <a:xfrm>
            <a:off x="8366760" y="3593592"/>
            <a:ext cx="3200400" cy="530352"/>
          </a:xfrm>
          <a:prstGeom prst="rect">
            <a:avLst/>
          </a:prstGeom>
          <a:noFill/>
          <a:ln/>
        </p:spPr>
        <p:txBody>
          <a:bodyPr wrap="square" lIns="0" tIns="0" rIns="0" bIns="0" rtlCol="0" anchor="ctr"/>
          <a:lstStyle/>
          <a:p>
            <a:pPr indent="0" marL="0">
              <a:buNone/>
            </a:pPr>
            <a:r>
              <a:rPr lang="en-US" sz="1500" b="1" dirty="0">
                <a:solidFill>
                  <a:schemeClr val="bg1"/>
                </a:solidFill>
              </a:rPr>
              <a:t>Deep audit agent</a:t>
            </a:r>
            <a:endParaRPr lang="en-US" sz="1500" dirty="0"/>
          </a:p>
        </p:txBody>
      </p:sp>
      <p:sp>
        <p:nvSpPr>
          <p:cNvPr id="26" name="card-21"/>
          <p:cNvSpPr/>
          <p:nvPr/>
        </p:nvSpPr>
        <p:spPr>
          <a:xfrm>
            <a:off x="7726680" y="4251960"/>
            <a:ext cx="3931920" cy="530352"/>
          </a:xfrm>
          <a:prstGeom prst="roundRect">
            <a:avLst>
              <a:gd name="adj" fmla="val 20690"/>
            </a:avLst>
          </a:prstGeom>
          <a:solidFill>
            <a:srgbClr val="1B4A3E"/>
          </a:solidFill>
          <a:ln w="12700">
            <a:solidFill>
              <a:srgbClr val="1B4A3E"/>
            </a:solidFill>
            <a:prstDash val="solid"/>
          </a:ln>
        </p:spPr>
      </p:sp>
      <p:sp>
        <p:nvSpPr>
          <p:cNvPr id="27" name="badge-22"/>
          <p:cNvSpPr/>
          <p:nvPr/>
        </p:nvSpPr>
        <p:spPr>
          <a:xfrm>
            <a:off x="7818120" y="4315968"/>
            <a:ext cx="402336" cy="402336"/>
          </a:xfrm>
          <a:prstGeom prst="roundRect">
            <a:avLst>
              <a:gd name="adj" fmla="val 22727"/>
            </a:avLst>
          </a:prstGeom>
          <a:solidFill>
            <a:schemeClr val="accent1"/>
          </a:solidFill>
          <a:ln w="12700">
            <a:solidFill>
              <a:schemeClr val="accent1"/>
            </a:solidFill>
            <a:prstDash val="solid"/>
          </a:ln>
        </p:spPr>
      </p:sp>
      <p:sp>
        <p:nvSpPr>
          <p:cNvPr id="28" name="badge-label-23"/>
          <p:cNvSpPr txBox="1"/>
          <p:nvPr/>
        </p:nvSpPr>
        <p:spPr>
          <a:xfrm>
            <a:off x="7818120" y="4315968"/>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06</a:t>
            </a:r>
            <a:endParaRPr lang="en-US" sz="1300" dirty="0"/>
          </a:p>
        </p:txBody>
      </p:sp>
      <p:sp>
        <p:nvSpPr>
          <p:cNvPr id="29" name="text-24"/>
          <p:cNvSpPr txBox="1"/>
          <p:nvPr/>
        </p:nvSpPr>
        <p:spPr>
          <a:xfrm>
            <a:off x="8366760" y="4251960"/>
            <a:ext cx="3200400" cy="530352"/>
          </a:xfrm>
          <a:prstGeom prst="rect">
            <a:avLst/>
          </a:prstGeom>
          <a:noFill/>
          <a:ln/>
        </p:spPr>
        <p:txBody>
          <a:bodyPr wrap="square" lIns="0" tIns="0" rIns="0" bIns="0" rtlCol="0" anchor="ctr"/>
          <a:lstStyle/>
          <a:p>
            <a:pPr indent="0" marL="0">
              <a:buNone/>
            </a:pPr>
            <a:r>
              <a:rPr lang="en-US" sz="1500" b="1" dirty="0">
                <a:solidFill>
                  <a:schemeClr val="bg1"/>
                </a:solidFill>
              </a:rPr>
              <a:t>Evals + A/B test</a:t>
            </a:r>
            <a:endParaRPr lang="en-US" sz="1500" dirty="0"/>
          </a:p>
        </p:txBody>
      </p:sp>
      <p:sp>
        <p:nvSpPr>
          <p:cNvPr id="30" name="card-25"/>
          <p:cNvSpPr/>
          <p:nvPr/>
        </p:nvSpPr>
        <p:spPr>
          <a:xfrm>
            <a:off x="7726680" y="4910328"/>
            <a:ext cx="3931920" cy="530352"/>
          </a:xfrm>
          <a:prstGeom prst="roundRect">
            <a:avLst>
              <a:gd name="adj" fmla="val 20690"/>
            </a:avLst>
          </a:prstGeom>
          <a:solidFill>
            <a:srgbClr val="1B4A3E"/>
          </a:solidFill>
          <a:ln w="12700">
            <a:solidFill>
              <a:srgbClr val="1B4A3E"/>
            </a:solidFill>
            <a:prstDash val="solid"/>
          </a:ln>
        </p:spPr>
      </p:sp>
      <p:sp>
        <p:nvSpPr>
          <p:cNvPr id="31" name="badge-26"/>
          <p:cNvSpPr/>
          <p:nvPr/>
        </p:nvSpPr>
        <p:spPr>
          <a:xfrm>
            <a:off x="7818120" y="4974336"/>
            <a:ext cx="402336" cy="402336"/>
          </a:xfrm>
          <a:prstGeom prst="roundRect">
            <a:avLst>
              <a:gd name="adj" fmla="val 22727"/>
            </a:avLst>
          </a:prstGeom>
          <a:solidFill>
            <a:schemeClr val="accent1"/>
          </a:solidFill>
          <a:ln w="12700">
            <a:solidFill>
              <a:schemeClr val="accent1"/>
            </a:solidFill>
            <a:prstDash val="solid"/>
          </a:ln>
        </p:spPr>
      </p:sp>
      <p:sp>
        <p:nvSpPr>
          <p:cNvPr id="32" name="badge-label-27"/>
          <p:cNvSpPr txBox="1"/>
          <p:nvPr/>
        </p:nvSpPr>
        <p:spPr>
          <a:xfrm>
            <a:off x="7818120" y="497433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07</a:t>
            </a:r>
            <a:endParaRPr lang="en-US" sz="1300" dirty="0"/>
          </a:p>
        </p:txBody>
      </p:sp>
      <p:sp>
        <p:nvSpPr>
          <p:cNvPr id="33" name="text-28"/>
          <p:cNvSpPr txBox="1"/>
          <p:nvPr/>
        </p:nvSpPr>
        <p:spPr>
          <a:xfrm>
            <a:off x="8366760" y="4910328"/>
            <a:ext cx="3200400" cy="530352"/>
          </a:xfrm>
          <a:prstGeom prst="rect">
            <a:avLst/>
          </a:prstGeom>
          <a:noFill/>
          <a:ln/>
        </p:spPr>
        <p:txBody>
          <a:bodyPr wrap="square" lIns="0" tIns="0" rIns="0" bIns="0" rtlCol="0" anchor="ctr"/>
          <a:lstStyle/>
          <a:p>
            <a:pPr indent="0" marL="0">
              <a:buNone/>
            </a:pPr>
            <a:r>
              <a:rPr lang="en-US" sz="1500" b="1" dirty="0">
                <a:solidFill>
                  <a:schemeClr val="bg1"/>
                </a:solidFill>
              </a:rPr>
              <a:t>Agent Server on K8s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lstStyle/>
          <a:p>
            <a:pPr indent="0" marL="0">
              <a:buNone/>
            </a:pPr>
            <a:r>
              <a:rPr lang="en-US" sz="1200" b="1" spc="200" kern="0" dirty="0">
                <a:solidFill>
                  <a:schemeClr val="accent3"/>
                </a:solidFill>
              </a:rPr>
              <a:t>THE PROBLEM</a:t>
            </a:r>
            <a:endParaRPr lang="en-US" sz="1200" dirty="0"/>
          </a:p>
        </p:txBody>
      </p:sp>
      <p:sp>
        <p:nvSpPr>
          <p:cNvPr id="3" name="Text 0"/>
          <p:cNvSpPr/>
          <p:nvPr>
            <p:ph idx="101" type="title" hasCustomPrompt="1"/>
          </p:nvPr>
        </p:nvSpPr>
        <p:spPr>
          <a:xfrm>
            <a:off x="548640" y="58521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PSC turns scanner noise into approved remediation</a:t>
            </a:r>
            <a:endParaRPr lang="en-US" sz="3200" dirty="0"/>
          </a:p>
        </p:txBody>
      </p:sp>
      <p:sp>
        <p:nvSpPr>
          <p:cNvPr id="4" name="text-29"/>
          <p:cNvSpPr txBox="1"/>
          <p:nvPr/>
        </p:nvSpPr>
        <p:spPr>
          <a:xfrm>
            <a:off x="548640" y="1600200"/>
            <a:ext cx="4754880" cy="1463040"/>
          </a:xfrm>
          <a:prstGeom prst="rect">
            <a:avLst/>
          </a:prstGeom>
          <a:noFill/>
          <a:ln/>
        </p:spPr>
        <p:txBody>
          <a:bodyPr wrap="square" lIns="0" tIns="0" rIns="0" bIns="0" rtlCol="0" anchor="t"/>
          <a:lstStyle/>
          <a:p>
            <a:pPr indent="0" marL="0">
              <a:buNone/>
            </a:pPr>
            <a:r>
              <a:rPr lang="en-US" sz="1800" b="1" dirty="0">
                <a:solidFill>
                  <a:schemeClr val="tx1"/>
                </a:solidFill>
              </a:rPr>
              <a:t>Security teams drown in findings</a:t>
            </a:r>
            <a:endParaRPr lang="en-US" sz="1400" dirty="0"/>
          </a:p>
          <a:p>
            <a:pPr indent="0" marL="0">
              <a:buNone/>
            </a:pPr>
            <a:r>
              <a:rPr lang="en-US" sz="1500" dirty="0">
                <a:solidFill>
                  <a:schemeClr val="accent5"/>
                </a:solidFill>
              </a:rPr>
              <a:t>Scanners flag hundreds of misconfigurations and CVEs. Engineers re-derive severity, hunt for the runbook, and chase approvals by hand.</a:t>
            </a:r>
            <a:endParaRPr lang="en-US" sz="1400" dirty="0"/>
          </a:p>
        </p:txBody>
      </p:sp>
      <p:sp>
        <p:nvSpPr>
          <p:cNvPr id="5" name="text-30"/>
          <p:cNvSpPr txBox="1"/>
          <p:nvPr/>
        </p:nvSpPr>
        <p:spPr>
          <a:xfrm>
            <a:off x="548640" y="3246120"/>
            <a:ext cx="4754880" cy="1463040"/>
          </a:xfrm>
          <a:prstGeom prst="rect">
            <a:avLst/>
          </a:prstGeom>
          <a:noFill/>
          <a:ln/>
        </p:spPr>
        <p:txBody>
          <a:bodyPr wrap="square" lIns="0" tIns="0" rIns="0" bIns="0" rtlCol="0" anchor="t"/>
          <a:lstStyle/>
          <a:p>
            <a:pPr indent="0" marL="0">
              <a:buNone/>
            </a:pPr>
            <a:r>
              <a:rPr lang="en-US" sz="1800" b="1" dirty="0">
                <a:solidFill>
                  <a:schemeClr val="tx1"/>
                </a:solidFill>
              </a:rPr>
              <a:t>What PSC does instead</a:t>
            </a:r>
            <a:endParaRPr lang="en-US" sz="1400" dirty="0"/>
          </a:p>
          <a:p>
            <a:pPr indent="0" marL="0">
              <a:buNone/>
            </a:pPr>
            <a:r>
              <a:rPr lang="en-US" sz="1500" dirty="0">
                <a:solidFill>
                  <a:schemeClr val="accent5"/>
                </a:solidFill>
              </a:rPr>
              <a:t>Grounds every fix in the team's own runbooks, keeps a human gate before anything touches production, and writes the report.</a:t>
            </a:r>
            <a:endParaRPr lang="en-US" sz="1400" dirty="0"/>
          </a:p>
        </p:txBody>
      </p:sp>
      <p:sp>
        <p:nvSpPr>
          <p:cNvPr id="6" name="text-31"/>
          <p:cNvSpPr txBox="1"/>
          <p:nvPr/>
        </p:nvSpPr>
        <p:spPr>
          <a:xfrm>
            <a:off x="548640" y="5029200"/>
            <a:ext cx="4754880" cy="822960"/>
          </a:xfrm>
          <a:prstGeom prst="rect">
            <a:avLst/>
          </a:prstGeom>
          <a:noFill/>
          <a:ln/>
        </p:spPr>
        <p:txBody>
          <a:bodyPr wrap="square" lIns="0" tIns="0" rIns="0" bIns="0" rtlCol="0" anchor="t"/>
          <a:lstStyle/>
          <a:p>
            <a:pPr indent="0" marL="0">
              <a:buNone/>
            </a:pPr>
            <a:r>
              <a:rPr lang="en-US" sz="1400" i="1" dirty="0">
                <a:solidFill>
                  <a:schemeClr val="accent3"/>
                </a:solidFill>
              </a:rPr>
              <a:t>Same pattern customers ask for: deterministic where possible, LLM judgment where it helps, humans where it matters.</a:t>
            </a:r>
            <a:endParaRPr lang="en-US" sz="1400" dirty="0"/>
          </a:p>
        </p:txBody>
      </p:sp>
      <p:sp>
        <p:nvSpPr>
          <p:cNvPr id="7" name="card-32"/>
          <p:cNvSpPr/>
          <p:nvPr/>
        </p:nvSpPr>
        <p:spPr>
          <a:xfrm>
            <a:off x="5852160" y="1600200"/>
            <a:ext cx="5788152" cy="749808"/>
          </a:xfrm>
          <a:prstGeom prst="roundRect">
            <a:avLst>
              <a:gd name="adj" fmla="val 14634"/>
            </a:avLst>
          </a:prstGeom>
          <a:solidFill>
            <a:schemeClr val="bg2"/>
          </a:solidFill>
          <a:ln w="12700">
            <a:solidFill>
              <a:schemeClr val="bg2"/>
            </a:solidFill>
            <a:prstDash val="solid"/>
          </a:ln>
        </p:spPr>
      </p:sp>
      <p:sp>
        <p:nvSpPr>
          <p:cNvPr id="8" name="icon-bg-33"/>
          <p:cNvSpPr/>
          <p:nvPr/>
        </p:nvSpPr>
        <p:spPr>
          <a:xfrm>
            <a:off x="6016752" y="1728216"/>
            <a:ext cx="493776" cy="493776"/>
          </a:xfrm>
          <a:prstGeom prst="ellipse">
            <a:avLst/>
          </a:prstGeom>
          <a:solidFill>
            <a:schemeClr val="accent1"/>
          </a:solidFill>
          <a:ln w="12700">
            <a:solidFill>
              <a:schemeClr val="accent1"/>
            </a:solidFill>
            <a:prstDash val="solid"/>
          </a:ln>
        </p:spPr>
      </p:sp>
      <p:pic>
        <p:nvPicPr>
          <p:cNvPr id="9" name="icon-34" descr="preencoded.png">    </p:cNvPr>
          <p:cNvPicPr>
            <a:picLocks noChangeAspect="1"/>
          </p:cNvPicPr>
          <p:nvPr/>
        </p:nvPicPr>
        <p:blipFill>
          <a:blip r:embed="rId1"/>
          <a:stretch>
            <a:fillRect/>
          </a:stretch>
        </p:blipFill>
        <p:spPr>
          <a:xfrm>
            <a:off x="6135258" y="1846722"/>
            <a:ext cx="256764" cy="256764"/>
          </a:xfrm>
          <a:prstGeom prst="rect">
            <a:avLst/>
          </a:prstGeom>
        </p:spPr>
      </p:pic>
      <p:sp>
        <p:nvSpPr>
          <p:cNvPr id="10" name="text-35"/>
          <p:cNvSpPr txBox="1"/>
          <p:nvPr/>
        </p:nvSpPr>
        <p:spPr>
          <a:xfrm>
            <a:off x="6720840" y="1691640"/>
            <a:ext cx="4754880" cy="594360"/>
          </a:xfrm>
          <a:prstGeom prst="rect">
            <a:avLst/>
          </a:prstGeom>
          <a:noFill/>
          <a:ln/>
        </p:spPr>
        <p:txBody>
          <a:bodyPr wrap="square" lIns="0" tIns="0" rIns="0" bIns="0" rtlCol="0" anchor="t"/>
          <a:lstStyle/>
          <a:p>
            <a:pPr indent="0" marL="0">
              <a:buNone/>
            </a:pPr>
            <a:r>
              <a:rPr lang="en-US" sz="1600" b="1" dirty="0">
                <a:solidFill>
                  <a:schemeClr val="tx1"/>
                </a:solidFill>
              </a:rPr>
              <a:t>Scan</a:t>
            </a:r>
            <a:endParaRPr lang="en-US" sz="1400" dirty="0"/>
          </a:p>
          <a:p>
            <a:pPr indent="0" marL="0">
              <a:buNone/>
            </a:pPr>
            <a:r>
              <a:rPr lang="en-US" sz="1300" dirty="0">
                <a:solidFill>
                  <a:schemeClr val="accent5"/>
                </a:solidFill>
              </a:rPr>
              <a:t>K8s manifests + CVE lookup</a:t>
            </a:r>
            <a:endParaRPr lang="en-US" sz="1400" dirty="0"/>
          </a:p>
        </p:txBody>
      </p:sp>
      <p:sp>
        <p:nvSpPr>
          <p:cNvPr id="11" name="card-36"/>
          <p:cNvSpPr/>
          <p:nvPr/>
        </p:nvSpPr>
        <p:spPr>
          <a:xfrm>
            <a:off x="5852160" y="2532888"/>
            <a:ext cx="5788152" cy="749808"/>
          </a:xfrm>
          <a:prstGeom prst="roundRect">
            <a:avLst>
              <a:gd name="adj" fmla="val 14634"/>
            </a:avLst>
          </a:prstGeom>
          <a:solidFill>
            <a:schemeClr val="bg2"/>
          </a:solidFill>
          <a:ln w="12700">
            <a:solidFill>
              <a:schemeClr val="bg2"/>
            </a:solidFill>
            <a:prstDash val="solid"/>
          </a:ln>
        </p:spPr>
      </p:sp>
      <p:sp>
        <p:nvSpPr>
          <p:cNvPr id="12" name="icon-bg-37"/>
          <p:cNvSpPr/>
          <p:nvPr/>
        </p:nvSpPr>
        <p:spPr>
          <a:xfrm>
            <a:off x="6016752" y="2660904"/>
            <a:ext cx="493776" cy="493776"/>
          </a:xfrm>
          <a:prstGeom prst="ellipse">
            <a:avLst/>
          </a:prstGeom>
          <a:solidFill>
            <a:schemeClr val="accent1"/>
          </a:solidFill>
          <a:ln w="12700">
            <a:solidFill>
              <a:schemeClr val="accent1"/>
            </a:solidFill>
            <a:prstDash val="solid"/>
          </a:ln>
        </p:spPr>
      </p:sp>
      <p:pic>
        <p:nvPicPr>
          <p:cNvPr id="13" name="icon-38" descr="preencoded.png">    </p:cNvPr>
          <p:cNvPicPr>
            <a:picLocks noChangeAspect="1"/>
          </p:cNvPicPr>
          <p:nvPr/>
        </p:nvPicPr>
        <p:blipFill>
          <a:blip r:embed="rId2"/>
          <a:stretch>
            <a:fillRect/>
          </a:stretch>
        </p:blipFill>
        <p:spPr>
          <a:xfrm>
            <a:off x="6135258" y="2779410"/>
            <a:ext cx="256764" cy="256764"/>
          </a:xfrm>
          <a:prstGeom prst="rect">
            <a:avLst/>
          </a:prstGeom>
        </p:spPr>
      </p:pic>
      <p:sp>
        <p:nvSpPr>
          <p:cNvPr id="14" name="text-39"/>
          <p:cNvSpPr txBox="1"/>
          <p:nvPr/>
        </p:nvSpPr>
        <p:spPr>
          <a:xfrm>
            <a:off x="6720840" y="2624328"/>
            <a:ext cx="4754880" cy="594360"/>
          </a:xfrm>
          <a:prstGeom prst="rect">
            <a:avLst/>
          </a:prstGeom>
          <a:noFill/>
          <a:ln/>
        </p:spPr>
        <p:txBody>
          <a:bodyPr wrap="square" lIns="0" tIns="0" rIns="0" bIns="0" rtlCol="0" anchor="t"/>
          <a:lstStyle/>
          <a:p>
            <a:pPr indent="0" marL="0">
              <a:buNone/>
            </a:pPr>
            <a:r>
              <a:rPr lang="en-US" sz="1600" b="1" dirty="0">
                <a:solidFill>
                  <a:schemeClr val="tx1"/>
                </a:solidFill>
              </a:rPr>
              <a:t>Triage</a:t>
            </a:r>
            <a:endParaRPr lang="en-US" sz="1400" dirty="0"/>
          </a:p>
          <a:p>
            <a:pPr indent="0" marL="0">
              <a:buNone/>
            </a:pPr>
            <a:r>
              <a:rPr lang="en-US" sz="1300" dirty="0">
                <a:solidFill>
                  <a:schemeClr val="accent5"/>
                </a:solidFill>
              </a:rPr>
              <a:t>Typed severity report</a:t>
            </a:r>
            <a:endParaRPr lang="en-US" sz="1400" dirty="0"/>
          </a:p>
        </p:txBody>
      </p:sp>
      <p:sp>
        <p:nvSpPr>
          <p:cNvPr id="15" name="card-40"/>
          <p:cNvSpPr/>
          <p:nvPr/>
        </p:nvSpPr>
        <p:spPr>
          <a:xfrm>
            <a:off x="5852160" y="3465576"/>
            <a:ext cx="5788152" cy="749808"/>
          </a:xfrm>
          <a:prstGeom prst="roundRect">
            <a:avLst>
              <a:gd name="adj" fmla="val 14634"/>
            </a:avLst>
          </a:prstGeom>
          <a:solidFill>
            <a:schemeClr val="bg2"/>
          </a:solidFill>
          <a:ln w="12700">
            <a:solidFill>
              <a:schemeClr val="bg2"/>
            </a:solidFill>
            <a:prstDash val="solid"/>
          </a:ln>
        </p:spPr>
      </p:sp>
      <p:sp>
        <p:nvSpPr>
          <p:cNvPr id="16" name="icon-bg-41"/>
          <p:cNvSpPr/>
          <p:nvPr/>
        </p:nvSpPr>
        <p:spPr>
          <a:xfrm>
            <a:off x="6016752" y="3593592"/>
            <a:ext cx="493776" cy="493776"/>
          </a:xfrm>
          <a:prstGeom prst="ellipse">
            <a:avLst/>
          </a:prstGeom>
          <a:solidFill>
            <a:schemeClr val="accent1"/>
          </a:solidFill>
          <a:ln w="12700">
            <a:solidFill>
              <a:schemeClr val="accent1"/>
            </a:solidFill>
            <a:prstDash val="solid"/>
          </a:ln>
        </p:spPr>
      </p:sp>
      <p:pic>
        <p:nvPicPr>
          <p:cNvPr id="17" name="icon-42" descr="preencoded.png">    </p:cNvPr>
          <p:cNvPicPr>
            <a:picLocks noChangeAspect="1"/>
          </p:cNvPicPr>
          <p:nvPr/>
        </p:nvPicPr>
        <p:blipFill>
          <a:blip r:embed="rId3"/>
          <a:stretch>
            <a:fillRect/>
          </a:stretch>
        </p:blipFill>
        <p:spPr>
          <a:xfrm>
            <a:off x="6135258" y="3712098"/>
            <a:ext cx="256764" cy="256764"/>
          </a:xfrm>
          <a:prstGeom prst="rect">
            <a:avLst/>
          </a:prstGeom>
        </p:spPr>
      </p:pic>
      <p:sp>
        <p:nvSpPr>
          <p:cNvPr id="18" name="text-43"/>
          <p:cNvSpPr txBox="1"/>
          <p:nvPr/>
        </p:nvSpPr>
        <p:spPr>
          <a:xfrm>
            <a:off x="6720840" y="3557016"/>
            <a:ext cx="4754880" cy="594360"/>
          </a:xfrm>
          <a:prstGeom prst="rect">
            <a:avLst/>
          </a:prstGeom>
          <a:noFill/>
          <a:ln/>
        </p:spPr>
        <p:txBody>
          <a:bodyPr wrap="square" lIns="0" tIns="0" rIns="0" bIns="0" rtlCol="0" anchor="t"/>
          <a:lstStyle/>
          <a:p>
            <a:pPr indent="0" marL="0">
              <a:buNone/>
            </a:pPr>
            <a:r>
              <a:rPr lang="en-US" sz="1600" b="1" dirty="0">
                <a:solidFill>
                  <a:schemeClr val="tx1"/>
                </a:solidFill>
              </a:rPr>
              <a:t>Ground</a:t>
            </a:r>
            <a:endParaRPr lang="en-US" sz="1400" dirty="0"/>
          </a:p>
          <a:p>
            <a:pPr indent="0" marL="0">
              <a:buNone/>
            </a:pPr>
            <a:r>
              <a:rPr lang="en-US" sz="1300" dirty="0">
                <a:solidFill>
                  <a:schemeClr val="accent5"/>
                </a:solidFill>
              </a:rPr>
              <a:t>Cite runbook + SLA</a:t>
            </a:r>
            <a:endParaRPr lang="en-US" sz="1400" dirty="0"/>
          </a:p>
        </p:txBody>
      </p:sp>
      <p:sp>
        <p:nvSpPr>
          <p:cNvPr id="19" name="card-44"/>
          <p:cNvSpPr/>
          <p:nvPr/>
        </p:nvSpPr>
        <p:spPr>
          <a:xfrm>
            <a:off x="5852160" y="4398264"/>
            <a:ext cx="5788152" cy="749808"/>
          </a:xfrm>
          <a:prstGeom prst="roundRect">
            <a:avLst>
              <a:gd name="adj" fmla="val 14634"/>
            </a:avLst>
          </a:prstGeom>
          <a:solidFill>
            <a:srgbClr val="FBEBD3"/>
          </a:solidFill>
          <a:ln w="12700">
            <a:solidFill>
              <a:srgbClr val="FBEBD3"/>
            </a:solidFill>
            <a:prstDash val="solid"/>
          </a:ln>
        </p:spPr>
      </p:sp>
      <p:sp>
        <p:nvSpPr>
          <p:cNvPr id="20" name="icon-bg-45"/>
          <p:cNvSpPr/>
          <p:nvPr/>
        </p:nvSpPr>
        <p:spPr>
          <a:xfrm>
            <a:off x="6016752" y="4526280"/>
            <a:ext cx="493776" cy="493776"/>
          </a:xfrm>
          <a:prstGeom prst="ellipse">
            <a:avLst/>
          </a:prstGeom>
          <a:solidFill>
            <a:schemeClr val="accent2"/>
          </a:solidFill>
          <a:ln w="12700">
            <a:solidFill>
              <a:schemeClr val="accent2"/>
            </a:solidFill>
            <a:prstDash val="solid"/>
          </a:ln>
        </p:spPr>
      </p:sp>
      <p:pic>
        <p:nvPicPr>
          <p:cNvPr id="21" name="icon-46" descr="preencoded.png">    </p:cNvPr>
          <p:cNvPicPr>
            <a:picLocks noChangeAspect="1"/>
          </p:cNvPicPr>
          <p:nvPr/>
        </p:nvPicPr>
        <p:blipFill>
          <a:blip r:embed="rId4"/>
          <a:stretch>
            <a:fillRect/>
          </a:stretch>
        </p:blipFill>
        <p:spPr>
          <a:xfrm>
            <a:off x="6135258" y="4644786"/>
            <a:ext cx="256764" cy="256764"/>
          </a:xfrm>
          <a:prstGeom prst="rect">
            <a:avLst/>
          </a:prstGeom>
        </p:spPr>
      </p:pic>
      <p:sp>
        <p:nvSpPr>
          <p:cNvPr id="22" name="text-47"/>
          <p:cNvSpPr txBox="1"/>
          <p:nvPr/>
        </p:nvSpPr>
        <p:spPr>
          <a:xfrm>
            <a:off x="6720840" y="4489704"/>
            <a:ext cx="4754880" cy="594360"/>
          </a:xfrm>
          <a:prstGeom prst="rect">
            <a:avLst/>
          </a:prstGeom>
          <a:noFill/>
          <a:ln/>
        </p:spPr>
        <p:txBody>
          <a:bodyPr wrap="square" lIns="0" tIns="0" rIns="0" bIns="0" rtlCol="0" anchor="t"/>
          <a:lstStyle/>
          <a:p>
            <a:pPr indent="0" marL="0">
              <a:buNone/>
            </a:pPr>
            <a:r>
              <a:rPr lang="en-US" sz="1600" b="1" dirty="0">
                <a:solidFill>
                  <a:schemeClr val="tx1"/>
                </a:solidFill>
              </a:rPr>
              <a:t>Approve</a:t>
            </a:r>
            <a:endParaRPr lang="en-US" sz="1400" dirty="0"/>
          </a:p>
          <a:p>
            <a:pPr indent="0" marL="0">
              <a:buNone/>
            </a:pPr>
            <a:r>
              <a:rPr lang="en-US" sz="1300" dirty="0">
                <a:solidFill>
                  <a:schemeClr val="accent5"/>
                </a:solidFill>
              </a:rPr>
              <a:t>Human gate on HIGH+</a:t>
            </a:r>
            <a:endParaRPr lang="en-US" sz="1400" dirty="0"/>
          </a:p>
        </p:txBody>
      </p:sp>
      <p:sp>
        <p:nvSpPr>
          <p:cNvPr id="23" name="card-48"/>
          <p:cNvSpPr/>
          <p:nvPr/>
        </p:nvSpPr>
        <p:spPr>
          <a:xfrm>
            <a:off x="5852160" y="5330952"/>
            <a:ext cx="5788152" cy="749808"/>
          </a:xfrm>
          <a:prstGeom prst="roundRect">
            <a:avLst>
              <a:gd name="adj" fmla="val 14634"/>
            </a:avLst>
          </a:prstGeom>
          <a:solidFill>
            <a:schemeClr val="bg2"/>
          </a:solidFill>
          <a:ln w="12700">
            <a:solidFill>
              <a:schemeClr val="bg2"/>
            </a:solidFill>
            <a:prstDash val="solid"/>
          </a:ln>
        </p:spPr>
      </p:sp>
      <p:sp>
        <p:nvSpPr>
          <p:cNvPr id="24" name="icon-bg-49"/>
          <p:cNvSpPr/>
          <p:nvPr/>
        </p:nvSpPr>
        <p:spPr>
          <a:xfrm>
            <a:off x="6016752" y="5458968"/>
            <a:ext cx="493776" cy="493776"/>
          </a:xfrm>
          <a:prstGeom prst="ellipse">
            <a:avLst/>
          </a:prstGeom>
          <a:solidFill>
            <a:schemeClr val="accent1"/>
          </a:solidFill>
          <a:ln w="12700">
            <a:solidFill>
              <a:schemeClr val="accent1"/>
            </a:solidFill>
            <a:prstDash val="solid"/>
          </a:ln>
        </p:spPr>
      </p:sp>
      <p:pic>
        <p:nvPicPr>
          <p:cNvPr id="25" name="icon-50" descr="preencoded.png">    </p:cNvPr>
          <p:cNvPicPr>
            <a:picLocks noChangeAspect="1"/>
          </p:cNvPicPr>
          <p:nvPr/>
        </p:nvPicPr>
        <p:blipFill>
          <a:blip r:embed="rId5"/>
          <a:stretch>
            <a:fillRect/>
          </a:stretch>
        </p:blipFill>
        <p:spPr>
          <a:xfrm>
            <a:off x="6135258" y="5577474"/>
            <a:ext cx="256764" cy="256764"/>
          </a:xfrm>
          <a:prstGeom prst="rect">
            <a:avLst/>
          </a:prstGeom>
        </p:spPr>
      </p:pic>
      <p:sp>
        <p:nvSpPr>
          <p:cNvPr id="26" name="text-51"/>
          <p:cNvSpPr txBox="1"/>
          <p:nvPr/>
        </p:nvSpPr>
        <p:spPr>
          <a:xfrm>
            <a:off x="6720840" y="5422392"/>
            <a:ext cx="4754880" cy="594360"/>
          </a:xfrm>
          <a:prstGeom prst="rect">
            <a:avLst/>
          </a:prstGeom>
          <a:noFill/>
          <a:ln/>
        </p:spPr>
        <p:txBody>
          <a:bodyPr wrap="square" lIns="0" tIns="0" rIns="0" bIns="0" rtlCol="0" anchor="t"/>
          <a:lstStyle/>
          <a:p>
            <a:pPr indent="0" marL="0">
              <a:buNone/>
            </a:pPr>
            <a:r>
              <a:rPr lang="en-US" sz="1600" b="1" dirty="0">
                <a:solidFill>
                  <a:schemeClr val="tx1"/>
                </a:solidFill>
              </a:rPr>
              <a:t>Report</a:t>
            </a:r>
            <a:endParaRPr lang="en-US" sz="1400" dirty="0"/>
          </a:p>
          <a:p>
            <a:pPr indent="0" marL="0">
              <a:buNone/>
            </a:pPr>
            <a:r>
              <a:rPr lang="en-US" sz="1300" dirty="0">
                <a:solidFill>
                  <a:schemeClr val="accent5"/>
                </a:solidFill>
              </a:rPr>
              <a:t>Ticket-ready output</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lstStyle/>
          <a:p>
            <a:pPr indent="0" marL="0">
              <a:buNone/>
            </a:pPr>
            <a:r>
              <a:rPr lang="en-US" sz="1200" b="1" spc="200" kern="0" dirty="0">
                <a:solidFill>
                  <a:schemeClr val="accent3"/>
                </a:solidFill>
              </a:rPr>
              <a:t>MENTAL MODEL</a:t>
            </a:r>
            <a:endParaRPr lang="en-US" sz="1200" dirty="0"/>
          </a:p>
        </p:txBody>
      </p:sp>
      <p:sp>
        <p:nvSpPr>
          <p:cNvPr id="3" name="Text 0"/>
          <p:cNvSpPr/>
          <p:nvPr>
            <p:ph idx="101" type="title" hasCustomPrompt="1"/>
          </p:nvPr>
        </p:nvSpPr>
        <p:spPr>
          <a:xfrm>
            <a:off x="548640" y="58521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Four layers, one runtime</a:t>
            </a:r>
            <a:endParaRPr lang="en-US" sz="3200" dirty="0"/>
          </a:p>
        </p:txBody>
      </p:sp>
      <p:sp>
        <p:nvSpPr>
          <p:cNvPr id="4" name="card-52"/>
          <p:cNvSpPr/>
          <p:nvPr/>
        </p:nvSpPr>
        <p:spPr>
          <a:xfrm>
            <a:off x="548640" y="1600200"/>
            <a:ext cx="5486400" cy="777240"/>
          </a:xfrm>
          <a:prstGeom prst="roundRect">
            <a:avLst>
              <a:gd name="adj" fmla="val 14118"/>
            </a:avLst>
          </a:prstGeom>
          <a:solidFill>
            <a:schemeClr val="accent4"/>
          </a:solidFill>
          <a:ln w="12700">
            <a:solidFill>
              <a:schemeClr val="accent4"/>
            </a:solidFill>
            <a:prstDash val="solid"/>
          </a:ln>
        </p:spPr>
      </p:sp>
      <p:sp>
        <p:nvSpPr>
          <p:cNvPr id="5" name="text-53"/>
          <p:cNvSpPr txBox="1"/>
          <p:nvPr/>
        </p:nvSpPr>
        <p:spPr>
          <a:xfrm>
            <a:off x="822960" y="1709928"/>
            <a:ext cx="4937760" cy="594360"/>
          </a:xfrm>
          <a:prstGeom prst="rect">
            <a:avLst/>
          </a:prstGeom>
          <a:noFill/>
          <a:ln/>
        </p:spPr>
        <p:txBody>
          <a:bodyPr wrap="square" lIns="0" tIns="0" rIns="0" bIns="0" rtlCol="0" anchor="t"/>
          <a:lstStyle/>
          <a:p>
            <a:pPr indent="0" marL="0">
              <a:buNone/>
            </a:pPr>
            <a:r>
              <a:rPr lang="en-US" sz="1700" b="1" dirty="0">
                <a:solidFill>
                  <a:schemeClr val="tx1"/>
                </a:solidFill>
              </a:rPr>
              <a:t>Deep Agents</a:t>
            </a:r>
            <a:endParaRPr lang="en-US" sz="1400" dirty="0"/>
          </a:p>
          <a:p>
            <a:pPr indent="0" marL="0">
              <a:buNone/>
            </a:pPr>
            <a:r>
              <a:rPr lang="en-US" sz="1300" dirty="0">
                <a:solidFill>
                  <a:schemeClr val="tx1"/>
                </a:solidFill>
              </a:rPr>
              <a:t>Harness: planning, files, subagents, skills</a:t>
            </a:r>
            <a:endParaRPr lang="en-US" sz="1400" dirty="0"/>
          </a:p>
        </p:txBody>
      </p:sp>
      <p:sp>
        <p:nvSpPr>
          <p:cNvPr id="6" name="card-54"/>
          <p:cNvSpPr/>
          <p:nvPr/>
        </p:nvSpPr>
        <p:spPr>
          <a:xfrm>
            <a:off x="548640" y="2514600"/>
            <a:ext cx="5486400" cy="777240"/>
          </a:xfrm>
          <a:prstGeom prst="roundRect">
            <a:avLst>
              <a:gd name="adj" fmla="val 14118"/>
            </a:avLst>
          </a:prstGeom>
          <a:solidFill>
            <a:srgbClr val="8FD3BB"/>
          </a:solidFill>
          <a:ln w="12700">
            <a:solidFill>
              <a:srgbClr val="8FD3BB"/>
            </a:solidFill>
            <a:prstDash val="solid"/>
          </a:ln>
        </p:spPr>
      </p:sp>
      <p:sp>
        <p:nvSpPr>
          <p:cNvPr id="7" name="text-55"/>
          <p:cNvSpPr txBox="1"/>
          <p:nvPr/>
        </p:nvSpPr>
        <p:spPr>
          <a:xfrm>
            <a:off x="822960" y="2624328"/>
            <a:ext cx="4937760" cy="594360"/>
          </a:xfrm>
          <a:prstGeom prst="rect">
            <a:avLst/>
          </a:prstGeom>
          <a:noFill/>
          <a:ln/>
        </p:spPr>
        <p:txBody>
          <a:bodyPr wrap="square" lIns="0" tIns="0" rIns="0" bIns="0" rtlCol="0" anchor="t"/>
          <a:lstStyle/>
          <a:p>
            <a:pPr indent="0" marL="0">
              <a:buNone/>
            </a:pPr>
            <a:r>
              <a:rPr lang="en-US" sz="1700" b="1" dirty="0">
                <a:solidFill>
                  <a:schemeClr val="tx1"/>
                </a:solidFill>
              </a:rPr>
              <a:t>LangChain v1</a:t>
            </a:r>
            <a:endParaRPr lang="en-US" sz="1400" dirty="0"/>
          </a:p>
          <a:p>
            <a:pPr indent="0" marL="0">
              <a:buNone/>
            </a:pPr>
            <a:r>
              <a:rPr lang="en-US" sz="1300" dirty="0">
                <a:solidFill>
                  <a:schemeClr val="tx1"/>
                </a:solidFill>
              </a:rPr>
              <a:t>create_agent + middleware</a:t>
            </a:r>
            <a:endParaRPr lang="en-US" sz="1400" dirty="0"/>
          </a:p>
        </p:txBody>
      </p:sp>
      <p:sp>
        <p:nvSpPr>
          <p:cNvPr id="8" name="card-56"/>
          <p:cNvSpPr/>
          <p:nvPr/>
        </p:nvSpPr>
        <p:spPr>
          <a:xfrm>
            <a:off x="548640" y="3429000"/>
            <a:ext cx="5486400" cy="777240"/>
          </a:xfrm>
          <a:prstGeom prst="roundRect">
            <a:avLst>
              <a:gd name="adj" fmla="val 14118"/>
            </a:avLst>
          </a:prstGeom>
          <a:solidFill>
            <a:schemeClr val="accent1"/>
          </a:solidFill>
          <a:ln w="12700">
            <a:solidFill>
              <a:schemeClr val="accent1"/>
            </a:solidFill>
            <a:prstDash val="solid"/>
          </a:ln>
        </p:spPr>
      </p:sp>
      <p:sp>
        <p:nvSpPr>
          <p:cNvPr id="9" name="text-57"/>
          <p:cNvSpPr txBox="1"/>
          <p:nvPr/>
        </p:nvSpPr>
        <p:spPr>
          <a:xfrm>
            <a:off x="822960" y="3538728"/>
            <a:ext cx="4937760" cy="594360"/>
          </a:xfrm>
          <a:prstGeom prst="rect">
            <a:avLst/>
          </a:prstGeom>
          <a:noFill/>
          <a:ln/>
        </p:spPr>
        <p:txBody>
          <a:bodyPr wrap="square" lIns="0" tIns="0" rIns="0" bIns="0" rtlCol="0" anchor="t"/>
          <a:lstStyle/>
          <a:p>
            <a:pPr indent="0" marL="0">
              <a:buNone/>
            </a:pPr>
            <a:r>
              <a:rPr lang="en-US" sz="1700" b="1" dirty="0">
                <a:solidFill>
                  <a:schemeClr val="bg1"/>
                </a:solidFill>
              </a:rPr>
              <a:t>LangGraph</a:t>
            </a:r>
            <a:endParaRPr lang="en-US" sz="1400" dirty="0"/>
          </a:p>
          <a:p>
            <a:pPr indent="0" marL="0">
              <a:buNone/>
            </a:pPr>
            <a:r>
              <a:rPr lang="en-US" sz="1300" dirty="0">
                <a:solidFill>
                  <a:schemeClr val="bg1"/>
                </a:solidFill>
              </a:rPr>
              <a:t>StateGraph, checkpoints, interrupts, store</a:t>
            </a:r>
            <a:endParaRPr lang="en-US" sz="1400" dirty="0"/>
          </a:p>
        </p:txBody>
      </p:sp>
      <p:sp>
        <p:nvSpPr>
          <p:cNvPr id="10" name="card-58"/>
          <p:cNvSpPr/>
          <p:nvPr/>
        </p:nvSpPr>
        <p:spPr>
          <a:xfrm>
            <a:off x="548640" y="4343400"/>
            <a:ext cx="5486400" cy="777240"/>
          </a:xfrm>
          <a:prstGeom prst="roundRect">
            <a:avLst>
              <a:gd name="adj" fmla="val 14118"/>
            </a:avLst>
          </a:prstGeom>
          <a:solidFill>
            <a:schemeClr val="accent3"/>
          </a:solidFill>
          <a:ln w="12700">
            <a:solidFill>
              <a:schemeClr val="accent3"/>
            </a:solidFill>
            <a:prstDash val="solid"/>
          </a:ln>
        </p:spPr>
      </p:sp>
      <p:sp>
        <p:nvSpPr>
          <p:cNvPr id="11" name="text-59"/>
          <p:cNvSpPr txBox="1"/>
          <p:nvPr/>
        </p:nvSpPr>
        <p:spPr>
          <a:xfrm>
            <a:off x="822960" y="4453128"/>
            <a:ext cx="4937760" cy="594360"/>
          </a:xfrm>
          <a:prstGeom prst="rect">
            <a:avLst/>
          </a:prstGeom>
          <a:noFill/>
          <a:ln/>
        </p:spPr>
        <p:txBody>
          <a:bodyPr wrap="square" lIns="0" tIns="0" rIns="0" bIns="0" rtlCol="0" anchor="t"/>
          <a:lstStyle/>
          <a:p>
            <a:pPr indent="0" marL="0">
              <a:buNone/>
            </a:pPr>
            <a:r>
              <a:rPr lang="en-US" sz="1700" b="1" dirty="0">
                <a:solidFill>
                  <a:schemeClr val="bg1"/>
                </a:solidFill>
              </a:rPr>
              <a:t>Agent Server</a:t>
            </a:r>
            <a:endParaRPr lang="en-US" sz="1400" dirty="0"/>
          </a:p>
          <a:p>
            <a:pPr indent="0" marL="0">
              <a:buNone/>
            </a:pPr>
            <a:r>
              <a:rPr lang="en-US" sz="1300" dirty="0">
                <a:solidFill>
                  <a:schemeClr val="bg1"/>
                </a:solidFill>
              </a:rPr>
              <a:t>Threads, runs, crons, persistence</a:t>
            </a:r>
            <a:endParaRPr lang="en-US" sz="1400" dirty="0"/>
          </a:p>
        </p:txBody>
      </p:sp>
      <p:sp>
        <p:nvSpPr>
          <p:cNvPr id="12" name="card-60"/>
          <p:cNvSpPr/>
          <p:nvPr/>
        </p:nvSpPr>
        <p:spPr>
          <a:xfrm>
            <a:off x="6217920" y="1600200"/>
            <a:ext cx="1005840" cy="3520440"/>
          </a:xfrm>
          <a:prstGeom prst="roundRect">
            <a:avLst>
              <a:gd name="adj" fmla="val 10909"/>
            </a:avLst>
          </a:prstGeom>
          <a:solidFill>
            <a:schemeClr val="tx2"/>
          </a:solidFill>
          <a:ln w="12700">
            <a:solidFill>
              <a:schemeClr val="tx2"/>
            </a:solidFill>
            <a:prstDash val="solid"/>
          </a:ln>
        </p:spPr>
      </p:sp>
      <p:sp>
        <p:nvSpPr>
          <p:cNvPr id="13" name="langsmith-label-61"/>
          <p:cNvSpPr txBox="1"/>
          <p:nvPr/>
        </p:nvSpPr>
        <p:spPr>
          <a:xfrm rot="16200000">
            <a:off x="6217920" y="1600200"/>
            <a:ext cx="1005840" cy="3520440"/>
          </a:xfrm>
          <a:prstGeom prst="rect">
            <a:avLst/>
          </a:prstGeom>
          <a:noFill/>
          <a:ln/>
        </p:spPr>
        <p:txBody>
          <a:bodyPr wrap="square" lIns="0" tIns="0" rIns="0" bIns="0" rtlCol="0" anchor="ctr"/>
          <a:lstStyle/>
          <a:p>
            <a:pPr algn="ctr" indent="0" marL="0">
              <a:buNone/>
            </a:pPr>
            <a:r>
              <a:rPr lang="en-US" sz="1800" b="1" dirty="0">
                <a:solidFill>
                  <a:schemeClr val="bg1"/>
                </a:solidFill>
              </a:rPr>
              <a:t>LangSmith</a:t>
            </a:r>
            <a:endParaRPr lang="en-US" sz="1800" dirty="0"/>
          </a:p>
        </p:txBody>
      </p:sp>
      <p:sp>
        <p:nvSpPr>
          <p:cNvPr id="14" name="text-62"/>
          <p:cNvSpPr txBox="1"/>
          <p:nvPr/>
        </p:nvSpPr>
        <p:spPr>
          <a:xfrm>
            <a:off x="548640" y="5349240"/>
            <a:ext cx="6675120" cy="731520"/>
          </a:xfrm>
          <a:prstGeom prst="rect">
            <a:avLst/>
          </a:prstGeom>
          <a:noFill/>
          <a:ln/>
        </p:spPr>
        <p:txBody>
          <a:bodyPr wrap="square" lIns="0" tIns="0" rIns="0" bIns="0" rtlCol="0" anchor="t"/>
          <a:lstStyle/>
          <a:p>
            <a:pPr indent="0" marL="0">
              <a:buNone/>
            </a:pPr>
            <a:r>
              <a:rPr lang="en-US" sz="1300" dirty="0">
                <a:solidFill>
                  <a:schemeClr val="accent5"/>
                </a:solidFill>
              </a:rPr>
              <a:t>Each layer is built from the one below it. Everything ships to the same Agent Server and is traced, evaluated and deployed in LangSmith.</a:t>
            </a:r>
            <a:endParaRPr lang="en-US" sz="1300" dirty="0"/>
          </a:p>
        </p:txBody>
      </p:sp>
      <p:sp>
        <p:nvSpPr>
          <p:cNvPr id="15" name="text-63"/>
          <p:cNvSpPr txBox="1"/>
          <p:nvPr/>
        </p:nvSpPr>
        <p:spPr>
          <a:xfrm>
            <a:off x="7635240" y="1600200"/>
            <a:ext cx="4023360" cy="1280160"/>
          </a:xfrm>
          <a:prstGeom prst="rect">
            <a:avLst/>
          </a:prstGeom>
          <a:noFill/>
          <a:ln/>
        </p:spPr>
        <p:txBody>
          <a:bodyPr wrap="square" lIns="0" tIns="0" rIns="0" bIns="0" rtlCol="0" anchor="t"/>
          <a:lstStyle/>
          <a:p>
            <a:pPr indent="0" marL="0">
              <a:buNone/>
            </a:pPr>
            <a:r>
              <a:rPr lang="en-US" sz="1600" b="1" dirty="0">
                <a:solidFill>
                  <a:schemeClr val="tx1"/>
                </a:solidFill>
              </a:rPr>
              <a:t>create_agent returns a LangGraph graph</a:t>
            </a:r>
            <a:endParaRPr lang="en-US" sz="1400" dirty="0"/>
          </a:p>
          <a:p>
            <a:pPr indent="0" marL="0">
              <a:buNone/>
            </a:pPr>
            <a:r>
              <a:rPr lang="en-US" sz="1400" dirty="0">
                <a:solidFill>
                  <a:schemeClr val="accent5"/>
                </a:solidFill>
              </a:rPr>
              <a:t>So a LangChain agent gets checkpoints, streaming, interrupts and Agent Server deployment for free.</a:t>
            </a:r>
            <a:endParaRPr lang="en-US" sz="1400" dirty="0"/>
          </a:p>
        </p:txBody>
      </p:sp>
      <p:sp>
        <p:nvSpPr>
          <p:cNvPr id="16" name="text-64"/>
          <p:cNvSpPr txBox="1"/>
          <p:nvPr/>
        </p:nvSpPr>
        <p:spPr>
          <a:xfrm>
            <a:off x="7635240" y="3017520"/>
            <a:ext cx="4023360" cy="1280160"/>
          </a:xfrm>
          <a:prstGeom prst="rect">
            <a:avLst/>
          </a:prstGeom>
          <a:noFill/>
          <a:ln/>
        </p:spPr>
        <p:txBody>
          <a:bodyPr wrap="square" lIns="0" tIns="0" rIns="0" bIns="0" rtlCol="0" anchor="t"/>
          <a:lstStyle/>
          <a:p>
            <a:pPr indent="0" marL="0">
              <a:buNone/>
            </a:pPr>
            <a:r>
              <a:rPr lang="en-US" sz="1600" b="1" dirty="0">
                <a:solidFill>
                  <a:schemeClr val="tx1"/>
                </a:solidFill>
              </a:rPr>
              <a:t>Middleware is the v1 customization story</a:t>
            </a:r>
            <a:endParaRPr lang="en-US" sz="1400" dirty="0"/>
          </a:p>
          <a:p>
            <a:pPr indent="0" marL="0">
              <a:buNone/>
            </a:pPr>
            <a:r>
              <a:rPr lang="en-US" sz="1400" dirty="0">
                <a:solidFill>
                  <a:schemeClr val="accent5"/>
                </a:solidFill>
              </a:rPr>
              <a:t>Summarization, PII redaction, retries, fallbacks and human approval are all middleware hooks.</a:t>
            </a:r>
            <a:endParaRPr lang="en-US" sz="1400" dirty="0"/>
          </a:p>
        </p:txBody>
      </p:sp>
      <p:sp>
        <p:nvSpPr>
          <p:cNvPr id="17" name="text-65"/>
          <p:cNvSpPr txBox="1"/>
          <p:nvPr/>
        </p:nvSpPr>
        <p:spPr>
          <a:xfrm>
            <a:off x="7635240" y="4434840"/>
            <a:ext cx="4023360" cy="1280160"/>
          </a:xfrm>
          <a:prstGeom prst="rect">
            <a:avLst/>
          </a:prstGeom>
          <a:noFill/>
          <a:ln/>
        </p:spPr>
        <p:txBody>
          <a:bodyPr wrap="square" lIns="0" tIns="0" rIns="0" bIns="0" rtlCol="0" anchor="t"/>
          <a:lstStyle/>
          <a:p>
            <a:pPr indent="0" marL="0">
              <a:buNone/>
            </a:pPr>
            <a:r>
              <a:rPr lang="en-US" sz="1600" b="1" dirty="0">
                <a:solidFill>
                  <a:schemeClr val="tx1"/>
                </a:solidFill>
              </a:rPr>
              <a:t>LangSmith is framework-agnostic</a:t>
            </a:r>
            <a:endParaRPr lang="en-US" sz="1400" dirty="0"/>
          </a:p>
          <a:p>
            <a:pPr indent="0" marL="0">
              <a:buNone/>
            </a:pPr>
            <a:r>
              <a:rPr lang="en-US" sz="1400" dirty="0">
                <a:solidFill>
                  <a:schemeClr val="accent5"/>
                </a:solidFill>
              </a:rPr>
              <a:t>It traces raw OpenAI or Anthropic SDK code too: not every customer is all-in on LangChain.</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lstStyle/>
          <a:p>
            <a:pPr indent="0" marL="0">
              <a:buNone/>
            </a:pPr>
            <a:r>
              <a:rPr lang="en-US" sz="1200" b="1" spc="200" kern="0" dirty="0">
                <a:solidFill>
                  <a:schemeClr val="accent3"/>
                </a:solidFill>
              </a:rPr>
              <a:t>THE BUILD</a:t>
            </a:r>
            <a:endParaRPr lang="en-US" sz="1200" dirty="0"/>
          </a:p>
        </p:txBody>
      </p:sp>
      <p:sp>
        <p:nvSpPr>
          <p:cNvPr id="3" name="Text 0"/>
          <p:cNvSpPr/>
          <p:nvPr>
            <p:ph idx="101" type="title" hasCustomPrompt="1"/>
          </p:nvPr>
        </p:nvSpPr>
        <p:spPr>
          <a:xfrm>
            <a:off x="548640" y="58521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Seven modules, each mapped to the role</a:t>
            </a:r>
            <a:endParaRPr lang="en-US" sz="3200" dirty="0"/>
          </a:p>
        </p:txBody>
      </p:sp>
      <p:sp>
        <p:nvSpPr>
          <p:cNvPr id="4" name="card-66"/>
          <p:cNvSpPr/>
          <p:nvPr/>
        </p:nvSpPr>
        <p:spPr>
          <a:xfrm>
            <a:off x="548640" y="1554480"/>
            <a:ext cx="2606040" cy="2148840"/>
          </a:xfrm>
          <a:prstGeom prst="roundRect">
            <a:avLst>
              <a:gd name="adj" fmla="val 5106"/>
            </a:avLst>
          </a:prstGeom>
          <a:solidFill>
            <a:schemeClr val="bg2"/>
          </a:solidFill>
          <a:ln w="12700">
            <a:solidFill>
              <a:schemeClr val="bg2"/>
            </a:solidFill>
            <a:prstDash val="solid"/>
          </a:ln>
        </p:spPr>
      </p:sp>
      <p:sp>
        <p:nvSpPr>
          <p:cNvPr id="5" name="badge-67"/>
          <p:cNvSpPr/>
          <p:nvPr/>
        </p:nvSpPr>
        <p:spPr>
          <a:xfrm>
            <a:off x="731520" y="1737360"/>
            <a:ext cx="438912" cy="438912"/>
          </a:xfrm>
          <a:prstGeom prst="roundRect">
            <a:avLst>
              <a:gd name="adj" fmla="val 20833"/>
            </a:avLst>
          </a:prstGeom>
          <a:solidFill>
            <a:schemeClr val="accent1"/>
          </a:solidFill>
          <a:ln w="12700">
            <a:solidFill>
              <a:schemeClr val="accent1"/>
            </a:solidFill>
            <a:prstDash val="solid"/>
          </a:ln>
        </p:spPr>
      </p:sp>
      <p:sp>
        <p:nvSpPr>
          <p:cNvPr id="6" name="badge-label-68"/>
          <p:cNvSpPr txBox="1"/>
          <p:nvPr/>
        </p:nvSpPr>
        <p:spPr>
          <a:xfrm>
            <a:off x="731520" y="173736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pic>
        <p:nvPicPr>
          <p:cNvPr id="7" name="icon-69" descr="preencoded.png">    </p:cNvPr>
          <p:cNvPicPr>
            <a:picLocks noChangeAspect="1"/>
          </p:cNvPicPr>
          <p:nvPr/>
        </p:nvPicPr>
        <p:blipFill>
          <a:blip r:embed="rId1"/>
          <a:stretch>
            <a:fillRect/>
          </a:stretch>
        </p:blipFill>
        <p:spPr>
          <a:xfrm>
            <a:off x="2587752" y="1792224"/>
            <a:ext cx="347472" cy="347472"/>
          </a:xfrm>
          <a:prstGeom prst="rect">
            <a:avLst/>
          </a:prstGeom>
        </p:spPr>
      </p:pic>
      <p:sp>
        <p:nvSpPr>
          <p:cNvPr id="8" name="text-70"/>
          <p:cNvSpPr txBox="1"/>
          <p:nvPr/>
        </p:nvSpPr>
        <p:spPr>
          <a:xfrm>
            <a:off x="731520" y="2331720"/>
            <a:ext cx="2240280" cy="1234440"/>
          </a:xfrm>
          <a:prstGeom prst="rect">
            <a:avLst/>
          </a:prstGeom>
          <a:noFill/>
          <a:ln/>
        </p:spPr>
        <p:txBody>
          <a:bodyPr wrap="square" lIns="0" tIns="0" rIns="0" bIns="0" rtlCol="0" anchor="t"/>
          <a:lstStyle/>
          <a:p>
            <a:pPr indent="0" marL="0">
              <a:buNone/>
            </a:pPr>
            <a:r>
              <a:rPr lang="en-US" sz="1600" b="1" dirty="0">
                <a:solidFill>
                  <a:schemeClr val="tx1"/>
                </a:solidFill>
              </a:rPr>
              <a:t>Triage agent</a:t>
            </a:r>
            <a:endParaRPr lang="en-US" sz="1400" dirty="0"/>
          </a:p>
          <a:p>
            <a:pPr indent="0" marL="0">
              <a:buNone/>
            </a:pPr>
            <a:r>
              <a:rPr lang="en-US" sz="1300" dirty="0">
                <a:solidFill>
                  <a:schemeClr val="accent5"/>
                </a:solidFill>
              </a:rPr>
              <a:t>create_agent, structured output, middleware</a:t>
            </a:r>
            <a:endParaRPr lang="en-US" sz="1400" dirty="0"/>
          </a:p>
          <a:p>
            <a:pPr indent="0" marL="0">
              <a:buNone/>
            </a:pPr>
            <a:r>
              <a:rPr lang="en-US" sz="600" dirty="0">
                <a:solidFill>
                  <a:schemeClr val="tx1"/>
                </a:solidFill>
              </a:rPr>
              <a:t> </a:t>
            </a:r>
            <a:endParaRPr lang="en-US" sz="1400" dirty="0"/>
          </a:p>
          <a:p>
            <a:pPr indent="0" marL="0">
              <a:buNone/>
            </a:pPr>
            <a:r>
              <a:rPr lang="en-US" sz="1300" b="1" dirty="0">
                <a:solidFill>
                  <a:schemeClr val="accent3"/>
                </a:solidFill>
              </a:rPr>
              <a:t>Tools, APIs, error handling</a:t>
            </a:r>
            <a:endParaRPr lang="en-US" sz="1400" dirty="0"/>
          </a:p>
        </p:txBody>
      </p:sp>
      <p:sp>
        <p:nvSpPr>
          <p:cNvPr id="9" name="card-71"/>
          <p:cNvSpPr/>
          <p:nvPr/>
        </p:nvSpPr>
        <p:spPr>
          <a:xfrm>
            <a:off x="3367735" y="1554480"/>
            <a:ext cx="2606040" cy="2148840"/>
          </a:xfrm>
          <a:prstGeom prst="roundRect">
            <a:avLst>
              <a:gd name="adj" fmla="val 5106"/>
            </a:avLst>
          </a:prstGeom>
          <a:solidFill>
            <a:schemeClr val="bg2"/>
          </a:solidFill>
          <a:ln w="12700">
            <a:solidFill>
              <a:schemeClr val="bg2"/>
            </a:solidFill>
            <a:prstDash val="solid"/>
          </a:ln>
        </p:spPr>
      </p:sp>
      <p:sp>
        <p:nvSpPr>
          <p:cNvPr id="10" name="badge-72"/>
          <p:cNvSpPr/>
          <p:nvPr/>
        </p:nvSpPr>
        <p:spPr>
          <a:xfrm>
            <a:off x="3550615" y="1737360"/>
            <a:ext cx="438912" cy="438912"/>
          </a:xfrm>
          <a:prstGeom prst="roundRect">
            <a:avLst>
              <a:gd name="adj" fmla="val 20833"/>
            </a:avLst>
          </a:prstGeom>
          <a:solidFill>
            <a:schemeClr val="accent1"/>
          </a:solidFill>
          <a:ln w="12700">
            <a:solidFill>
              <a:schemeClr val="accent1"/>
            </a:solidFill>
            <a:prstDash val="solid"/>
          </a:ln>
        </p:spPr>
      </p:sp>
      <p:sp>
        <p:nvSpPr>
          <p:cNvPr id="11" name="badge-label-73"/>
          <p:cNvSpPr txBox="1"/>
          <p:nvPr/>
        </p:nvSpPr>
        <p:spPr>
          <a:xfrm>
            <a:off x="3550615" y="173736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pic>
        <p:nvPicPr>
          <p:cNvPr id="12" name="icon-74" descr="preencoded.png">    </p:cNvPr>
          <p:cNvPicPr>
            <a:picLocks noChangeAspect="1"/>
          </p:cNvPicPr>
          <p:nvPr/>
        </p:nvPicPr>
        <p:blipFill>
          <a:blip r:embed="rId2"/>
          <a:stretch>
            <a:fillRect/>
          </a:stretch>
        </p:blipFill>
        <p:spPr>
          <a:xfrm>
            <a:off x="5406847" y="1792224"/>
            <a:ext cx="347472" cy="347472"/>
          </a:xfrm>
          <a:prstGeom prst="rect">
            <a:avLst/>
          </a:prstGeom>
        </p:spPr>
      </p:pic>
      <p:sp>
        <p:nvSpPr>
          <p:cNvPr id="13" name="text-75"/>
          <p:cNvSpPr txBox="1"/>
          <p:nvPr/>
        </p:nvSpPr>
        <p:spPr>
          <a:xfrm>
            <a:off x="3550615" y="2331720"/>
            <a:ext cx="2240280" cy="1234440"/>
          </a:xfrm>
          <a:prstGeom prst="rect">
            <a:avLst/>
          </a:prstGeom>
          <a:noFill/>
          <a:ln/>
        </p:spPr>
        <p:txBody>
          <a:bodyPr wrap="square" lIns="0" tIns="0" rIns="0" bIns="0" rtlCol="0" anchor="t"/>
          <a:lstStyle/>
          <a:p>
            <a:pPr indent="0" marL="0">
              <a:buNone/>
            </a:pPr>
            <a:r>
              <a:rPr lang="en-US" sz="1600" b="1" dirty="0">
                <a:solidFill>
                  <a:schemeClr val="tx1"/>
                </a:solidFill>
              </a:rPr>
              <a:t>Runbook RAG</a:t>
            </a:r>
            <a:endParaRPr lang="en-US" sz="1400" dirty="0"/>
          </a:p>
          <a:p>
            <a:pPr indent="0" marL="0">
              <a:buNone/>
            </a:pPr>
            <a:r>
              <a:rPr lang="en-US" sz="1300" dirty="0">
                <a:solidFill>
                  <a:schemeClr val="accent5"/>
                </a:solidFill>
              </a:rPr>
              <a:t>Embeddings, vector store, retriever tool</a:t>
            </a:r>
            <a:endParaRPr lang="en-US" sz="1400" dirty="0"/>
          </a:p>
          <a:p>
            <a:pPr indent="0" marL="0">
              <a:buNone/>
            </a:pPr>
            <a:r>
              <a:rPr lang="en-US" sz="600" dirty="0">
                <a:solidFill>
                  <a:schemeClr val="tx1"/>
                </a:solidFill>
              </a:rPr>
              <a:t> </a:t>
            </a:r>
            <a:endParaRPr lang="en-US" sz="1400" dirty="0"/>
          </a:p>
          <a:p>
            <a:pPr indent="0" marL="0">
              <a:buNone/>
            </a:pPr>
            <a:r>
              <a:rPr lang="en-US" sz="1300" b="1" dirty="0">
                <a:solidFill>
                  <a:schemeClr val="accent3"/>
                </a:solidFill>
              </a:rPr>
              <a:t>RAG, knowledge organization</a:t>
            </a:r>
            <a:endParaRPr lang="en-US" sz="1400" dirty="0"/>
          </a:p>
        </p:txBody>
      </p:sp>
      <p:sp>
        <p:nvSpPr>
          <p:cNvPr id="14" name="card-76"/>
          <p:cNvSpPr/>
          <p:nvPr/>
        </p:nvSpPr>
        <p:spPr>
          <a:xfrm>
            <a:off x="6186830" y="1554480"/>
            <a:ext cx="2606040" cy="2148840"/>
          </a:xfrm>
          <a:prstGeom prst="roundRect">
            <a:avLst>
              <a:gd name="adj" fmla="val 5106"/>
            </a:avLst>
          </a:prstGeom>
          <a:solidFill>
            <a:schemeClr val="bg2"/>
          </a:solidFill>
          <a:ln w="12700">
            <a:solidFill>
              <a:schemeClr val="bg2"/>
            </a:solidFill>
            <a:prstDash val="solid"/>
          </a:ln>
        </p:spPr>
      </p:sp>
      <p:sp>
        <p:nvSpPr>
          <p:cNvPr id="15" name="badge-77"/>
          <p:cNvSpPr/>
          <p:nvPr/>
        </p:nvSpPr>
        <p:spPr>
          <a:xfrm>
            <a:off x="6369710" y="1737360"/>
            <a:ext cx="438912" cy="438912"/>
          </a:xfrm>
          <a:prstGeom prst="roundRect">
            <a:avLst>
              <a:gd name="adj" fmla="val 20833"/>
            </a:avLst>
          </a:prstGeom>
          <a:solidFill>
            <a:schemeClr val="accent1"/>
          </a:solidFill>
          <a:ln w="12700">
            <a:solidFill>
              <a:schemeClr val="accent1"/>
            </a:solidFill>
            <a:prstDash val="solid"/>
          </a:ln>
        </p:spPr>
      </p:sp>
      <p:sp>
        <p:nvSpPr>
          <p:cNvPr id="16" name="badge-label-78"/>
          <p:cNvSpPr txBox="1"/>
          <p:nvPr/>
        </p:nvSpPr>
        <p:spPr>
          <a:xfrm>
            <a:off x="6369710" y="173736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pic>
        <p:nvPicPr>
          <p:cNvPr id="17" name="icon-79" descr="preencoded.png">    </p:cNvPr>
          <p:cNvPicPr>
            <a:picLocks noChangeAspect="1"/>
          </p:cNvPicPr>
          <p:nvPr/>
        </p:nvPicPr>
        <p:blipFill>
          <a:blip r:embed="rId3"/>
          <a:stretch>
            <a:fillRect/>
          </a:stretch>
        </p:blipFill>
        <p:spPr>
          <a:xfrm>
            <a:off x="8225942" y="1792224"/>
            <a:ext cx="347472" cy="347472"/>
          </a:xfrm>
          <a:prstGeom prst="rect">
            <a:avLst/>
          </a:prstGeom>
        </p:spPr>
      </p:pic>
      <p:sp>
        <p:nvSpPr>
          <p:cNvPr id="18" name="text-80"/>
          <p:cNvSpPr txBox="1"/>
          <p:nvPr/>
        </p:nvSpPr>
        <p:spPr>
          <a:xfrm>
            <a:off x="6369710" y="2331720"/>
            <a:ext cx="2240280" cy="1234440"/>
          </a:xfrm>
          <a:prstGeom prst="rect">
            <a:avLst/>
          </a:prstGeom>
          <a:noFill/>
          <a:ln/>
        </p:spPr>
        <p:txBody>
          <a:bodyPr wrap="square" lIns="0" tIns="0" rIns="0" bIns="0" rtlCol="0" anchor="t"/>
          <a:lstStyle/>
          <a:p>
            <a:pPr indent="0" marL="0">
              <a:buNone/>
            </a:pPr>
            <a:r>
              <a:rPr lang="en-US" sz="1600" b="1" dirty="0">
                <a:solidFill>
                  <a:schemeClr val="tx1"/>
                </a:solidFill>
              </a:rPr>
              <a:t>Approval workflow</a:t>
            </a:r>
            <a:endParaRPr lang="en-US" sz="1400" dirty="0"/>
          </a:p>
          <a:p>
            <a:pPr indent="0" marL="0">
              <a:buNone/>
            </a:pPr>
            <a:r>
              <a:rPr lang="en-US" sz="1300" dirty="0">
                <a:solidFill>
                  <a:schemeClr val="accent5"/>
                </a:solidFill>
              </a:rPr>
              <a:t>StateGraph, checkpointer, store, interrupt</a:t>
            </a:r>
            <a:endParaRPr lang="en-US" sz="1400" dirty="0"/>
          </a:p>
          <a:p>
            <a:pPr indent="0" marL="0">
              <a:buNone/>
            </a:pPr>
            <a:r>
              <a:rPr lang="en-US" sz="600" dirty="0">
                <a:solidFill>
                  <a:schemeClr val="tx1"/>
                </a:solidFill>
              </a:rPr>
              <a:t> </a:t>
            </a:r>
            <a:endParaRPr lang="en-US" sz="1400" dirty="0"/>
          </a:p>
          <a:p>
            <a:pPr indent="0" marL="0">
              <a:buNone/>
            </a:pPr>
            <a:r>
              <a:rPr lang="en-US" sz="1300" b="1" dirty="0">
                <a:solidFill>
                  <a:schemeClr val="accent3"/>
                </a:solidFill>
              </a:rPr>
              <a:t>Short- and long-term memory</a:t>
            </a:r>
            <a:endParaRPr lang="en-US" sz="1400" dirty="0"/>
          </a:p>
        </p:txBody>
      </p:sp>
      <p:sp>
        <p:nvSpPr>
          <p:cNvPr id="19" name="card-81"/>
          <p:cNvSpPr/>
          <p:nvPr/>
        </p:nvSpPr>
        <p:spPr>
          <a:xfrm>
            <a:off x="9005926" y="1554480"/>
            <a:ext cx="2606040" cy="2148840"/>
          </a:xfrm>
          <a:prstGeom prst="roundRect">
            <a:avLst>
              <a:gd name="adj" fmla="val 5106"/>
            </a:avLst>
          </a:prstGeom>
          <a:solidFill>
            <a:schemeClr val="bg2"/>
          </a:solidFill>
          <a:ln w="12700">
            <a:solidFill>
              <a:schemeClr val="bg2"/>
            </a:solidFill>
            <a:prstDash val="solid"/>
          </a:ln>
        </p:spPr>
      </p:sp>
      <p:sp>
        <p:nvSpPr>
          <p:cNvPr id="20" name="badge-82"/>
          <p:cNvSpPr/>
          <p:nvPr/>
        </p:nvSpPr>
        <p:spPr>
          <a:xfrm>
            <a:off x="9188806" y="1737360"/>
            <a:ext cx="438912" cy="438912"/>
          </a:xfrm>
          <a:prstGeom prst="roundRect">
            <a:avLst>
              <a:gd name="adj" fmla="val 20833"/>
            </a:avLst>
          </a:prstGeom>
          <a:solidFill>
            <a:schemeClr val="accent1"/>
          </a:solidFill>
          <a:ln w="12700">
            <a:solidFill>
              <a:schemeClr val="accent1"/>
            </a:solidFill>
            <a:prstDash val="solid"/>
          </a:ln>
        </p:spPr>
      </p:sp>
      <p:sp>
        <p:nvSpPr>
          <p:cNvPr id="21" name="badge-label-83"/>
          <p:cNvSpPr txBox="1"/>
          <p:nvPr/>
        </p:nvSpPr>
        <p:spPr>
          <a:xfrm>
            <a:off x="9188806" y="173736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pic>
        <p:nvPicPr>
          <p:cNvPr id="22" name="icon-84" descr="preencoded.png">    </p:cNvPr>
          <p:cNvPicPr>
            <a:picLocks noChangeAspect="1"/>
          </p:cNvPicPr>
          <p:nvPr/>
        </p:nvPicPr>
        <p:blipFill>
          <a:blip r:embed="rId4"/>
          <a:stretch>
            <a:fillRect/>
          </a:stretch>
        </p:blipFill>
        <p:spPr>
          <a:xfrm>
            <a:off x="11045038" y="1792224"/>
            <a:ext cx="347472" cy="347472"/>
          </a:xfrm>
          <a:prstGeom prst="rect">
            <a:avLst/>
          </a:prstGeom>
        </p:spPr>
      </p:pic>
      <p:sp>
        <p:nvSpPr>
          <p:cNvPr id="23" name="text-85"/>
          <p:cNvSpPr txBox="1"/>
          <p:nvPr/>
        </p:nvSpPr>
        <p:spPr>
          <a:xfrm>
            <a:off x="9188806" y="2331720"/>
            <a:ext cx="2240280" cy="1234440"/>
          </a:xfrm>
          <a:prstGeom prst="rect">
            <a:avLst/>
          </a:prstGeom>
          <a:noFill/>
          <a:ln/>
        </p:spPr>
        <p:txBody>
          <a:bodyPr wrap="square" lIns="0" tIns="0" rIns="0" bIns="0" rtlCol="0" anchor="t"/>
          <a:lstStyle/>
          <a:p>
            <a:pPr indent="0" marL="0">
              <a:buNone/>
            </a:pPr>
            <a:r>
              <a:rPr lang="en-US" sz="1600" b="1" dirty="0">
                <a:solidFill>
                  <a:schemeClr val="tx1"/>
                </a:solidFill>
              </a:rPr>
              <a:t>Supervisor + specialists</a:t>
            </a:r>
            <a:endParaRPr lang="en-US" sz="1400" dirty="0"/>
          </a:p>
          <a:p>
            <a:pPr indent="0" marL="0">
              <a:buNone/>
            </a:pPr>
            <a:r>
              <a:rPr lang="en-US" sz="1300" dirty="0">
                <a:solidFill>
                  <a:schemeClr val="accent5"/>
                </a:solidFill>
              </a:rPr>
              <a:t>Subagents as tools</a:t>
            </a:r>
            <a:endParaRPr lang="en-US" sz="1400" dirty="0"/>
          </a:p>
          <a:p>
            <a:pPr indent="0" marL="0">
              <a:buNone/>
            </a:pPr>
            <a:r>
              <a:rPr lang="en-US" sz="600" dirty="0">
                <a:solidFill>
                  <a:schemeClr val="tx1"/>
                </a:solidFill>
              </a:rPr>
              <a:t> </a:t>
            </a:r>
            <a:endParaRPr lang="en-US" sz="1400" dirty="0"/>
          </a:p>
          <a:p>
            <a:pPr indent="0" marL="0">
              <a:buNone/>
            </a:pPr>
            <a:r>
              <a:rPr lang="en-US" sz="1300" b="1" dirty="0">
                <a:solidFill>
                  <a:schemeClr val="accent3"/>
                </a:solidFill>
              </a:rPr>
              <a:t>Multi-agent patterns</a:t>
            </a:r>
            <a:endParaRPr lang="en-US" sz="1400" dirty="0"/>
          </a:p>
        </p:txBody>
      </p:sp>
      <p:sp>
        <p:nvSpPr>
          <p:cNvPr id="24" name="card-86"/>
          <p:cNvSpPr/>
          <p:nvPr/>
        </p:nvSpPr>
        <p:spPr>
          <a:xfrm>
            <a:off x="548640" y="3977640"/>
            <a:ext cx="2606040" cy="2148840"/>
          </a:xfrm>
          <a:prstGeom prst="roundRect">
            <a:avLst>
              <a:gd name="adj" fmla="val 5106"/>
            </a:avLst>
          </a:prstGeom>
          <a:solidFill>
            <a:schemeClr val="bg2"/>
          </a:solidFill>
          <a:ln w="12700">
            <a:solidFill>
              <a:schemeClr val="bg2"/>
            </a:solidFill>
            <a:prstDash val="solid"/>
          </a:ln>
        </p:spPr>
      </p:sp>
      <p:sp>
        <p:nvSpPr>
          <p:cNvPr id="25" name="badge-87"/>
          <p:cNvSpPr/>
          <p:nvPr/>
        </p:nvSpPr>
        <p:spPr>
          <a:xfrm>
            <a:off x="731520" y="4160520"/>
            <a:ext cx="438912" cy="438912"/>
          </a:xfrm>
          <a:prstGeom prst="roundRect">
            <a:avLst>
              <a:gd name="adj" fmla="val 20833"/>
            </a:avLst>
          </a:prstGeom>
          <a:solidFill>
            <a:schemeClr val="accent1"/>
          </a:solidFill>
          <a:ln w="12700">
            <a:solidFill>
              <a:schemeClr val="accent1"/>
            </a:solidFill>
            <a:prstDash val="solid"/>
          </a:ln>
        </p:spPr>
      </p:sp>
      <p:sp>
        <p:nvSpPr>
          <p:cNvPr id="26" name="badge-label-88"/>
          <p:cNvSpPr txBox="1"/>
          <p:nvPr/>
        </p:nvSpPr>
        <p:spPr>
          <a:xfrm>
            <a:off x="731520" y="416052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05</a:t>
            </a:r>
            <a:endParaRPr lang="en-US" sz="1300" dirty="0"/>
          </a:p>
        </p:txBody>
      </p:sp>
      <p:pic>
        <p:nvPicPr>
          <p:cNvPr id="27" name="icon-89" descr="preencoded.png">    </p:cNvPr>
          <p:cNvPicPr>
            <a:picLocks noChangeAspect="1"/>
          </p:cNvPicPr>
          <p:nvPr/>
        </p:nvPicPr>
        <p:blipFill>
          <a:blip r:embed="rId5"/>
          <a:stretch>
            <a:fillRect/>
          </a:stretch>
        </p:blipFill>
        <p:spPr>
          <a:xfrm>
            <a:off x="2587752" y="4215384"/>
            <a:ext cx="347472" cy="347472"/>
          </a:xfrm>
          <a:prstGeom prst="rect">
            <a:avLst/>
          </a:prstGeom>
        </p:spPr>
      </p:pic>
      <p:sp>
        <p:nvSpPr>
          <p:cNvPr id="28" name="text-90"/>
          <p:cNvSpPr txBox="1"/>
          <p:nvPr/>
        </p:nvSpPr>
        <p:spPr>
          <a:xfrm>
            <a:off x="731520" y="4754880"/>
            <a:ext cx="2240280" cy="1234440"/>
          </a:xfrm>
          <a:prstGeom prst="rect">
            <a:avLst/>
          </a:prstGeom>
          <a:noFill/>
          <a:ln/>
        </p:spPr>
        <p:txBody>
          <a:bodyPr wrap="square" lIns="0" tIns="0" rIns="0" bIns="0" rtlCol="0" anchor="t"/>
          <a:lstStyle/>
          <a:p>
            <a:pPr indent="0" marL="0">
              <a:buNone/>
            </a:pPr>
            <a:r>
              <a:rPr lang="en-US" sz="1600" b="1" dirty="0">
                <a:solidFill>
                  <a:schemeClr val="tx1"/>
                </a:solidFill>
              </a:rPr>
              <a:t>Deep audit agent</a:t>
            </a:r>
            <a:endParaRPr lang="en-US" sz="1400" dirty="0"/>
          </a:p>
          <a:p>
            <a:pPr indent="0" marL="0">
              <a:buNone/>
            </a:pPr>
            <a:r>
              <a:rPr lang="en-US" sz="1300" dirty="0">
                <a:solidFill>
                  <a:schemeClr val="accent5"/>
                </a:solidFill>
              </a:rPr>
              <a:t>create_deep_agent, skills, backends</a:t>
            </a:r>
            <a:endParaRPr lang="en-US" sz="1400" dirty="0"/>
          </a:p>
          <a:p>
            <a:pPr indent="0" marL="0">
              <a:buNone/>
            </a:pPr>
            <a:r>
              <a:rPr lang="en-US" sz="600" dirty="0">
                <a:solidFill>
                  <a:schemeClr val="tx1"/>
                </a:solidFill>
              </a:rPr>
              <a:t> </a:t>
            </a:r>
            <a:endParaRPr lang="en-US" sz="1400" dirty="0"/>
          </a:p>
          <a:p>
            <a:pPr indent="0" marL="0">
              <a:buNone/>
            </a:pPr>
            <a:r>
              <a:rPr lang="en-US" sz="1300" b="1" dirty="0">
                <a:solidFill>
                  <a:schemeClr val="accent3"/>
                </a:solidFill>
              </a:rPr>
              <a:t>Long-horizon agents</a:t>
            </a:r>
            <a:endParaRPr lang="en-US" sz="1400" dirty="0"/>
          </a:p>
        </p:txBody>
      </p:sp>
      <p:sp>
        <p:nvSpPr>
          <p:cNvPr id="29" name="card-91"/>
          <p:cNvSpPr/>
          <p:nvPr/>
        </p:nvSpPr>
        <p:spPr>
          <a:xfrm>
            <a:off x="3367735" y="3977640"/>
            <a:ext cx="2606040" cy="2148840"/>
          </a:xfrm>
          <a:prstGeom prst="roundRect">
            <a:avLst>
              <a:gd name="adj" fmla="val 5106"/>
            </a:avLst>
          </a:prstGeom>
          <a:solidFill>
            <a:schemeClr val="bg2"/>
          </a:solidFill>
          <a:ln w="12700">
            <a:solidFill>
              <a:schemeClr val="bg2"/>
            </a:solidFill>
            <a:prstDash val="solid"/>
          </a:ln>
        </p:spPr>
      </p:sp>
      <p:sp>
        <p:nvSpPr>
          <p:cNvPr id="30" name="badge-92"/>
          <p:cNvSpPr/>
          <p:nvPr/>
        </p:nvSpPr>
        <p:spPr>
          <a:xfrm>
            <a:off x="3550615" y="4160520"/>
            <a:ext cx="438912" cy="438912"/>
          </a:xfrm>
          <a:prstGeom prst="roundRect">
            <a:avLst>
              <a:gd name="adj" fmla="val 20833"/>
            </a:avLst>
          </a:prstGeom>
          <a:solidFill>
            <a:schemeClr val="accent1"/>
          </a:solidFill>
          <a:ln w="12700">
            <a:solidFill>
              <a:schemeClr val="accent1"/>
            </a:solidFill>
            <a:prstDash val="solid"/>
          </a:ln>
        </p:spPr>
      </p:sp>
      <p:sp>
        <p:nvSpPr>
          <p:cNvPr id="31" name="badge-label-93"/>
          <p:cNvSpPr txBox="1"/>
          <p:nvPr/>
        </p:nvSpPr>
        <p:spPr>
          <a:xfrm>
            <a:off x="3550615" y="416052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06</a:t>
            </a:r>
            <a:endParaRPr lang="en-US" sz="1300" dirty="0"/>
          </a:p>
        </p:txBody>
      </p:sp>
      <p:pic>
        <p:nvPicPr>
          <p:cNvPr id="32" name="icon-94" descr="preencoded.png">    </p:cNvPr>
          <p:cNvPicPr>
            <a:picLocks noChangeAspect="1"/>
          </p:cNvPicPr>
          <p:nvPr/>
        </p:nvPicPr>
        <p:blipFill>
          <a:blip r:embed="rId6"/>
          <a:stretch>
            <a:fillRect/>
          </a:stretch>
        </p:blipFill>
        <p:spPr>
          <a:xfrm>
            <a:off x="5406847" y="4215384"/>
            <a:ext cx="347472" cy="347472"/>
          </a:xfrm>
          <a:prstGeom prst="rect">
            <a:avLst/>
          </a:prstGeom>
        </p:spPr>
      </p:pic>
      <p:sp>
        <p:nvSpPr>
          <p:cNvPr id="33" name="text-95"/>
          <p:cNvSpPr txBox="1"/>
          <p:nvPr/>
        </p:nvSpPr>
        <p:spPr>
          <a:xfrm>
            <a:off x="3550615" y="4754880"/>
            <a:ext cx="2240280" cy="1234440"/>
          </a:xfrm>
          <a:prstGeom prst="rect">
            <a:avLst/>
          </a:prstGeom>
          <a:noFill/>
          <a:ln/>
        </p:spPr>
        <p:txBody>
          <a:bodyPr wrap="square" lIns="0" tIns="0" rIns="0" bIns="0" rtlCol="0" anchor="t"/>
          <a:lstStyle/>
          <a:p>
            <a:pPr indent="0" marL="0">
              <a:buNone/>
            </a:pPr>
            <a:r>
              <a:rPr lang="en-US" sz="1600" b="1" dirty="0">
                <a:solidFill>
                  <a:schemeClr val="tx1"/>
                </a:solidFill>
              </a:rPr>
              <a:t>Evals + A/B test</a:t>
            </a:r>
            <a:endParaRPr lang="en-US" sz="1400" dirty="0"/>
          </a:p>
          <a:p>
            <a:pPr indent="0" marL="0">
              <a:buNone/>
            </a:pPr>
            <a:r>
              <a:rPr lang="en-US" sz="1300" dirty="0">
                <a:solidFill>
                  <a:schemeClr val="accent5"/>
                </a:solidFill>
              </a:rPr>
              <a:t>Datasets, evaluators, experiments</a:t>
            </a:r>
            <a:endParaRPr lang="en-US" sz="1400" dirty="0"/>
          </a:p>
          <a:p>
            <a:pPr indent="0" marL="0">
              <a:buNone/>
            </a:pPr>
            <a:r>
              <a:rPr lang="en-US" sz="600" dirty="0">
                <a:solidFill>
                  <a:schemeClr val="tx1"/>
                </a:solidFill>
              </a:rPr>
              <a:t> </a:t>
            </a:r>
            <a:endParaRPr lang="en-US" sz="1400" dirty="0"/>
          </a:p>
          <a:p>
            <a:pPr indent="0" marL="0">
              <a:buNone/>
            </a:pPr>
            <a:r>
              <a:rPr lang="en-US" sz="1300" b="1" dirty="0">
                <a:solidFill>
                  <a:schemeClr val="accent3"/>
                </a:solidFill>
              </a:rPr>
              <a:t>Eval frameworks, prompt A/B</a:t>
            </a:r>
            <a:endParaRPr lang="en-US" sz="1400" dirty="0"/>
          </a:p>
        </p:txBody>
      </p:sp>
      <p:sp>
        <p:nvSpPr>
          <p:cNvPr id="34" name="card-96"/>
          <p:cNvSpPr/>
          <p:nvPr/>
        </p:nvSpPr>
        <p:spPr>
          <a:xfrm>
            <a:off x="6186830" y="3977640"/>
            <a:ext cx="2606040" cy="2148840"/>
          </a:xfrm>
          <a:prstGeom prst="roundRect">
            <a:avLst>
              <a:gd name="adj" fmla="val 5106"/>
            </a:avLst>
          </a:prstGeom>
          <a:solidFill>
            <a:schemeClr val="bg2"/>
          </a:solidFill>
          <a:ln w="12700">
            <a:solidFill>
              <a:schemeClr val="bg2"/>
            </a:solidFill>
            <a:prstDash val="solid"/>
          </a:ln>
        </p:spPr>
      </p:sp>
      <p:sp>
        <p:nvSpPr>
          <p:cNvPr id="35" name="badge-97"/>
          <p:cNvSpPr/>
          <p:nvPr/>
        </p:nvSpPr>
        <p:spPr>
          <a:xfrm>
            <a:off x="6369710" y="4160520"/>
            <a:ext cx="438912" cy="438912"/>
          </a:xfrm>
          <a:prstGeom prst="roundRect">
            <a:avLst>
              <a:gd name="adj" fmla="val 20833"/>
            </a:avLst>
          </a:prstGeom>
          <a:solidFill>
            <a:schemeClr val="accent1"/>
          </a:solidFill>
          <a:ln w="12700">
            <a:solidFill>
              <a:schemeClr val="accent1"/>
            </a:solidFill>
            <a:prstDash val="solid"/>
          </a:ln>
        </p:spPr>
      </p:sp>
      <p:sp>
        <p:nvSpPr>
          <p:cNvPr id="36" name="badge-label-98"/>
          <p:cNvSpPr txBox="1"/>
          <p:nvPr/>
        </p:nvSpPr>
        <p:spPr>
          <a:xfrm>
            <a:off x="6369710" y="416052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07</a:t>
            </a:r>
            <a:endParaRPr lang="en-US" sz="1300" dirty="0"/>
          </a:p>
        </p:txBody>
      </p:sp>
      <p:pic>
        <p:nvPicPr>
          <p:cNvPr id="37" name="icon-99" descr="preencoded.png">    </p:cNvPr>
          <p:cNvPicPr>
            <a:picLocks noChangeAspect="1"/>
          </p:cNvPicPr>
          <p:nvPr/>
        </p:nvPicPr>
        <p:blipFill>
          <a:blip r:embed="rId7"/>
          <a:stretch>
            <a:fillRect/>
          </a:stretch>
        </p:blipFill>
        <p:spPr>
          <a:xfrm>
            <a:off x="8225942" y="4215384"/>
            <a:ext cx="347472" cy="347472"/>
          </a:xfrm>
          <a:prstGeom prst="rect">
            <a:avLst/>
          </a:prstGeom>
        </p:spPr>
      </p:pic>
      <p:sp>
        <p:nvSpPr>
          <p:cNvPr id="38" name="text-100"/>
          <p:cNvSpPr txBox="1"/>
          <p:nvPr/>
        </p:nvSpPr>
        <p:spPr>
          <a:xfrm>
            <a:off x="6369710" y="4754880"/>
            <a:ext cx="2240280" cy="1234440"/>
          </a:xfrm>
          <a:prstGeom prst="rect">
            <a:avLst/>
          </a:prstGeom>
          <a:noFill/>
          <a:ln/>
        </p:spPr>
        <p:txBody>
          <a:bodyPr wrap="square" lIns="0" tIns="0" rIns="0" bIns="0" rtlCol="0" anchor="t"/>
          <a:lstStyle/>
          <a:p>
            <a:pPr indent="0" marL="0">
              <a:buNone/>
            </a:pPr>
            <a:r>
              <a:rPr lang="en-US" sz="1600" b="1" dirty="0">
                <a:solidFill>
                  <a:schemeClr val="tx1"/>
                </a:solidFill>
              </a:rPr>
              <a:t>Agent Server on K8s</a:t>
            </a:r>
            <a:endParaRPr lang="en-US" sz="1400" dirty="0"/>
          </a:p>
          <a:p>
            <a:pPr indent="0" marL="0">
              <a:buNone/>
            </a:pPr>
            <a:r>
              <a:rPr lang="en-US" sz="1300" dirty="0">
                <a:solidFill>
                  <a:schemeClr val="accent5"/>
                </a:solidFill>
              </a:rPr>
              <a:t>langgraph.json, Helm, deployment options</a:t>
            </a:r>
            <a:endParaRPr lang="en-US" sz="1400" dirty="0"/>
          </a:p>
          <a:p>
            <a:pPr indent="0" marL="0">
              <a:buNone/>
            </a:pPr>
            <a:r>
              <a:rPr lang="en-US" sz="600" dirty="0">
                <a:solidFill>
                  <a:schemeClr val="tx1"/>
                </a:solidFill>
              </a:rPr>
              <a:t> </a:t>
            </a:r>
            <a:endParaRPr lang="en-US" sz="1400" dirty="0"/>
          </a:p>
          <a:p>
            <a:pPr indent="0" marL="0">
              <a:buNone/>
            </a:pPr>
            <a:r>
              <a:rPr lang="en-US" sz="1300" b="1" dirty="0">
                <a:solidFill>
                  <a:schemeClr val="accent3"/>
                </a:solidFill>
              </a:rPr>
              <a:t>Kubernetes, IaC, HA/DR</a:t>
            </a:r>
            <a:endParaRPr lang="en-US" sz="1400" dirty="0"/>
          </a:p>
        </p:txBody>
      </p:sp>
      <p:sp>
        <p:nvSpPr>
          <p:cNvPr id="39" name="card-101"/>
          <p:cNvSpPr/>
          <p:nvPr/>
        </p:nvSpPr>
        <p:spPr>
          <a:xfrm>
            <a:off x="9005926" y="3977640"/>
            <a:ext cx="2606040" cy="2148840"/>
          </a:xfrm>
          <a:prstGeom prst="roundRect">
            <a:avLst>
              <a:gd name="adj" fmla="val 5106"/>
            </a:avLst>
          </a:prstGeom>
          <a:solidFill>
            <a:schemeClr val="tx2"/>
          </a:solidFill>
          <a:ln w="12700">
            <a:solidFill>
              <a:schemeClr val="tx2"/>
            </a:solidFill>
            <a:prstDash val="solid"/>
          </a:ln>
        </p:spPr>
      </p:sp>
      <p:sp>
        <p:nvSpPr>
          <p:cNvPr id="40" name="text-102"/>
          <p:cNvSpPr txBox="1"/>
          <p:nvPr/>
        </p:nvSpPr>
        <p:spPr>
          <a:xfrm>
            <a:off x="9234526" y="4251960"/>
            <a:ext cx="2148840" cy="1691640"/>
          </a:xfrm>
          <a:prstGeom prst="rect">
            <a:avLst/>
          </a:prstGeom>
          <a:noFill/>
          <a:ln/>
        </p:spPr>
        <p:txBody>
          <a:bodyPr wrap="square" lIns="0" tIns="0" rIns="0" bIns="0" rtlCol="0" anchor="t"/>
          <a:lstStyle/>
          <a:p>
            <a:pPr indent="0" marL="0">
              <a:buNone/>
            </a:pPr>
            <a:r>
              <a:rPr lang="en-US" sz="2200" b="1" dirty="0">
                <a:solidFill>
                  <a:schemeClr val="bg1"/>
                </a:solidFill>
              </a:rPr>
              <a:t>One repo</a:t>
            </a:r>
            <a:endParaRPr lang="en-US" sz="1400" dirty="0"/>
          </a:p>
          <a:p>
            <a:pPr indent="0" marL="0">
              <a:buNone/>
            </a:pPr>
            <a:r>
              <a:rPr lang="en-US" sz="1300" dirty="0">
                <a:solidFill>
                  <a:schemeClr val="accent4"/>
                </a:solidFill>
              </a:rPr>
              <a:t>~10 hours of build, every module runnable on its own, all four graphs served from one Agent Server.</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lstStyle/>
          <a:p>
            <a:pPr indent="0" marL="0">
              <a:buNone/>
            </a:pPr>
            <a:r>
              <a:rPr lang="en-US" sz="1200" b="1" spc="200" kern="0" dirty="0">
                <a:solidFill>
                  <a:schemeClr val="accent3"/>
                </a:solidFill>
              </a:rPr>
              <a:t>MODULE 1 · LANGCHAIN</a:t>
            </a:r>
            <a:endParaRPr lang="en-US" sz="1200" dirty="0"/>
          </a:p>
        </p:txBody>
      </p:sp>
      <p:sp>
        <p:nvSpPr>
          <p:cNvPr id="3" name="Text 0"/>
          <p:cNvSpPr/>
          <p:nvPr>
            <p:ph idx="101" type="title" hasCustomPrompt="1"/>
          </p:nvPr>
        </p:nvSpPr>
        <p:spPr>
          <a:xfrm>
            <a:off x="548640" y="58521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A triage agent with a typed contract</a:t>
            </a:r>
            <a:endParaRPr lang="en-US" sz="3200" dirty="0"/>
          </a:p>
        </p:txBody>
      </p:sp>
      <p:sp>
        <p:nvSpPr>
          <p:cNvPr id="4" name="icon-bg-103"/>
          <p:cNvSpPr/>
          <p:nvPr/>
        </p:nvSpPr>
        <p:spPr>
          <a:xfrm>
            <a:off x="548640" y="1600200"/>
            <a:ext cx="548640" cy="548640"/>
          </a:xfrm>
          <a:prstGeom prst="ellipse">
            <a:avLst/>
          </a:prstGeom>
          <a:solidFill>
            <a:schemeClr val="accent4"/>
          </a:solidFill>
          <a:ln w="12700">
            <a:solidFill>
              <a:schemeClr val="accent4"/>
            </a:solidFill>
            <a:prstDash val="solid"/>
          </a:ln>
        </p:spPr>
      </p:sp>
      <p:pic>
        <p:nvPicPr>
          <p:cNvPr id="5" name="icon-104" descr="preencoded.png">    </p:cNvPr>
          <p:cNvPicPr>
            <a:picLocks noChangeAspect="1"/>
          </p:cNvPicPr>
          <p:nvPr/>
        </p:nvPicPr>
        <p:blipFill>
          <a:blip r:embed="rId1"/>
          <a:stretch>
            <a:fillRect/>
          </a:stretch>
        </p:blipFill>
        <p:spPr>
          <a:xfrm>
            <a:off x="680314" y="1731874"/>
            <a:ext cx="285293" cy="285293"/>
          </a:xfrm>
          <a:prstGeom prst="rect">
            <a:avLst/>
          </a:prstGeom>
        </p:spPr>
      </p:pic>
      <p:sp>
        <p:nvSpPr>
          <p:cNvPr id="6" name="text-105"/>
          <p:cNvSpPr txBox="1"/>
          <p:nvPr/>
        </p:nvSpPr>
        <p:spPr>
          <a:xfrm>
            <a:off x="1325880" y="1581912"/>
            <a:ext cx="4572000" cy="1280160"/>
          </a:xfrm>
          <a:prstGeom prst="rect">
            <a:avLst/>
          </a:prstGeom>
          <a:noFill/>
          <a:ln/>
        </p:spPr>
        <p:txBody>
          <a:bodyPr wrap="square" lIns="0" tIns="0" rIns="0" bIns="0" rtlCol="0" anchor="t"/>
          <a:lstStyle/>
          <a:p>
            <a:pPr indent="0" marL="0">
              <a:buNone/>
            </a:pPr>
            <a:r>
              <a:rPr lang="en-US" sz="1700" b="1" dirty="0">
                <a:solidFill>
                  <a:schemeClr val="tx1"/>
                </a:solidFill>
              </a:rPr>
              <a:t>Tools return errors as data</a:t>
            </a:r>
            <a:endParaRPr lang="en-US" sz="1400" dirty="0"/>
          </a:p>
          <a:p>
            <a:pPr indent="0" marL="0">
              <a:buNone/>
            </a:pPr>
            <a:r>
              <a:rPr lang="en-US" sz="1400" dirty="0">
                <a:solidFill>
                  <a:schemeClr val="accent5"/>
                </a:solidFill>
              </a:rPr>
              <a:t>NVD timeouts and bad YAML come back as payloads the model can recover from, instead of exceptions that kill the run.</a:t>
            </a:r>
            <a:endParaRPr lang="en-US" sz="1400" dirty="0"/>
          </a:p>
        </p:txBody>
      </p:sp>
      <p:sp>
        <p:nvSpPr>
          <p:cNvPr id="7" name="icon-bg-106"/>
          <p:cNvSpPr/>
          <p:nvPr/>
        </p:nvSpPr>
        <p:spPr>
          <a:xfrm>
            <a:off x="548640" y="3063240"/>
            <a:ext cx="548640" cy="548640"/>
          </a:xfrm>
          <a:prstGeom prst="ellipse">
            <a:avLst/>
          </a:prstGeom>
          <a:solidFill>
            <a:schemeClr val="accent4"/>
          </a:solidFill>
          <a:ln w="12700">
            <a:solidFill>
              <a:schemeClr val="accent4"/>
            </a:solidFill>
            <a:prstDash val="solid"/>
          </a:ln>
        </p:spPr>
      </p:sp>
      <p:pic>
        <p:nvPicPr>
          <p:cNvPr id="8" name="icon-107" descr="preencoded.png">    </p:cNvPr>
          <p:cNvPicPr>
            <a:picLocks noChangeAspect="1"/>
          </p:cNvPicPr>
          <p:nvPr/>
        </p:nvPicPr>
        <p:blipFill>
          <a:blip r:embed="rId2"/>
          <a:stretch>
            <a:fillRect/>
          </a:stretch>
        </p:blipFill>
        <p:spPr>
          <a:xfrm>
            <a:off x="680314" y="3194914"/>
            <a:ext cx="285293" cy="285293"/>
          </a:xfrm>
          <a:prstGeom prst="rect">
            <a:avLst/>
          </a:prstGeom>
        </p:spPr>
      </p:pic>
      <p:sp>
        <p:nvSpPr>
          <p:cNvPr id="9" name="text-108"/>
          <p:cNvSpPr txBox="1"/>
          <p:nvPr/>
        </p:nvSpPr>
        <p:spPr>
          <a:xfrm>
            <a:off x="1325880" y="3044952"/>
            <a:ext cx="4572000" cy="1280160"/>
          </a:xfrm>
          <a:prstGeom prst="rect">
            <a:avLst/>
          </a:prstGeom>
          <a:noFill/>
          <a:ln/>
        </p:spPr>
        <p:txBody>
          <a:bodyPr wrap="square" lIns="0" tIns="0" rIns="0" bIns="0" rtlCol="0" anchor="t"/>
          <a:lstStyle/>
          <a:p>
            <a:pPr indent="0" marL="0">
              <a:buNone/>
            </a:pPr>
            <a:r>
              <a:rPr lang="en-US" sz="1700" b="1" dirty="0">
                <a:solidFill>
                  <a:schemeClr val="tx1"/>
                </a:solidFill>
              </a:rPr>
              <a:t>Structured output, not prose</a:t>
            </a:r>
            <a:endParaRPr lang="en-US" sz="1400" dirty="0"/>
          </a:p>
          <a:p>
            <a:pPr indent="0" marL="0">
              <a:buNone/>
            </a:pPr>
            <a:r>
              <a:rPr lang="en-US" sz="1400" dirty="0">
                <a:solidFill>
                  <a:schemeClr val="accent5"/>
                </a:solidFill>
              </a:rPr>
              <a:t>response_format=TriageReport yields a validated Pydantic object that tickets and dashboards consume directly.</a:t>
            </a:r>
            <a:endParaRPr lang="en-US" sz="1400" dirty="0"/>
          </a:p>
        </p:txBody>
      </p:sp>
      <p:sp>
        <p:nvSpPr>
          <p:cNvPr id="10" name="icon-bg-109"/>
          <p:cNvSpPr/>
          <p:nvPr/>
        </p:nvSpPr>
        <p:spPr>
          <a:xfrm>
            <a:off x="548640" y="4526280"/>
            <a:ext cx="548640" cy="548640"/>
          </a:xfrm>
          <a:prstGeom prst="ellipse">
            <a:avLst/>
          </a:prstGeom>
          <a:solidFill>
            <a:schemeClr val="accent4"/>
          </a:solidFill>
          <a:ln w="12700">
            <a:solidFill>
              <a:schemeClr val="accent4"/>
            </a:solidFill>
            <a:prstDash val="solid"/>
          </a:ln>
        </p:spPr>
      </p:sp>
      <p:pic>
        <p:nvPicPr>
          <p:cNvPr id="11" name="icon-110" descr="preencoded.png">    </p:cNvPr>
          <p:cNvPicPr>
            <a:picLocks noChangeAspect="1"/>
          </p:cNvPicPr>
          <p:nvPr/>
        </p:nvPicPr>
        <p:blipFill>
          <a:blip r:embed="rId3"/>
          <a:stretch>
            <a:fillRect/>
          </a:stretch>
        </p:blipFill>
        <p:spPr>
          <a:xfrm>
            <a:off x="680314" y="4657954"/>
            <a:ext cx="285293" cy="285293"/>
          </a:xfrm>
          <a:prstGeom prst="rect">
            <a:avLst/>
          </a:prstGeom>
        </p:spPr>
      </p:pic>
      <p:sp>
        <p:nvSpPr>
          <p:cNvPr id="12" name="text-111"/>
          <p:cNvSpPr txBox="1"/>
          <p:nvPr/>
        </p:nvSpPr>
        <p:spPr>
          <a:xfrm>
            <a:off x="1325880" y="4507992"/>
            <a:ext cx="4572000" cy="1280160"/>
          </a:xfrm>
          <a:prstGeom prst="rect">
            <a:avLst/>
          </a:prstGeom>
          <a:noFill/>
          <a:ln/>
        </p:spPr>
        <p:txBody>
          <a:bodyPr wrap="square" lIns="0" tIns="0" rIns="0" bIns="0" rtlCol="0" anchor="t"/>
          <a:lstStyle/>
          <a:p>
            <a:pPr indent="0" marL="0">
              <a:buNone/>
            </a:pPr>
            <a:r>
              <a:rPr lang="en-US" sz="1700" b="1" dirty="0">
                <a:solidFill>
                  <a:schemeClr val="tx1"/>
                </a:solidFill>
              </a:rPr>
              <a:t>Middleware for production behavior</a:t>
            </a:r>
            <a:endParaRPr lang="en-US" sz="1400" dirty="0"/>
          </a:p>
          <a:p>
            <a:pPr indent="0" marL="0">
              <a:buNone/>
            </a:pPr>
            <a:r>
              <a:rPr lang="en-US" sz="1400" dirty="0">
                <a:solidFill>
                  <a:schemeClr val="accent5"/>
                </a:solidFill>
              </a:rPr>
              <a:t>Model-call limit as a loop breaker, retries only on the network tool, and a custom wrap_tool_call guardrail.</a:t>
            </a:r>
            <a:endParaRPr lang="en-US" sz="1400" dirty="0"/>
          </a:p>
        </p:txBody>
      </p:sp>
      <p:sp>
        <p:nvSpPr>
          <p:cNvPr id="13" name="card-112"/>
          <p:cNvSpPr/>
          <p:nvPr/>
        </p:nvSpPr>
        <p:spPr>
          <a:xfrm>
            <a:off x="6400800" y="1600200"/>
            <a:ext cx="5239512" cy="4069080"/>
          </a:xfrm>
          <a:prstGeom prst="roundRect">
            <a:avLst>
              <a:gd name="adj" fmla="val 2697"/>
            </a:avLst>
          </a:prstGeom>
          <a:solidFill>
            <a:schemeClr val="tx2"/>
          </a:solidFill>
          <a:ln w="12700">
            <a:solidFill>
              <a:schemeClr val="tx2"/>
            </a:solidFill>
            <a:prstDash val="solid"/>
          </a:ln>
        </p:spPr>
      </p:sp>
      <p:sp>
        <p:nvSpPr>
          <p:cNvPr id="14" name="code-113"/>
          <p:cNvSpPr txBox="1"/>
          <p:nvPr/>
        </p:nvSpPr>
        <p:spPr>
          <a:xfrm>
            <a:off x="6675120" y="1828800"/>
            <a:ext cx="4846320" cy="3657600"/>
          </a:xfrm>
          <a:prstGeom prst="rect">
            <a:avLst/>
          </a:prstGeom>
          <a:noFill/>
          <a:ln/>
        </p:spPr>
        <p:txBody>
          <a:bodyPr wrap="square" lIns="0" tIns="0" rIns="0" bIns="0" rtlCol="0" anchor="t"/>
          <a:lstStyle/>
          <a:p>
            <a:pPr indent="0" marL="0">
              <a:buNone/>
            </a:pPr>
            <a:r>
              <a:rPr lang="en-US" sz="1200" dirty="0">
                <a:solidFill>
                  <a:schemeClr val="accent4"/>
                </a:solidFill>
                <a:latin typeface="Courier New" pitchFamily="34" charset="0"/>
                <a:ea typeface="Courier New" pitchFamily="34" charset="-122"/>
                <a:cs typeface="Courier New" pitchFamily="34" charset="-120"/>
              </a:rPr>
              <a:t>agent = create_agent(</a:t>
            </a:r>
            <a:endParaRPr lang="en-US" sz="1200" dirty="0"/>
          </a:p>
          <a:p>
            <a:pPr indent="0" marL="0">
              <a:buNone/>
            </a:pPr>
            <a:r>
              <a:rPr lang="en-US" sz="1200" dirty="0">
                <a:solidFill>
                  <a:schemeClr val="accent4"/>
                </a:solidFill>
                <a:latin typeface="Courier New" pitchFamily="34" charset="0"/>
                <a:ea typeface="Courier New" pitchFamily="34" charset="-122"/>
                <a:cs typeface="Courier New" pitchFamily="34" charset="-120"/>
              </a:rPr>
              <a:t>    model=MODEL,</a:t>
            </a:r>
            <a:endParaRPr lang="en-US" sz="1200" dirty="0"/>
          </a:p>
          <a:p>
            <a:pPr indent="0" marL="0">
              <a:buNone/>
            </a:pPr>
            <a:r>
              <a:rPr lang="en-US" sz="1200" dirty="0">
                <a:solidFill>
                  <a:schemeClr val="accent4"/>
                </a:solidFill>
                <a:latin typeface="Courier New" pitchFamily="34" charset="0"/>
                <a:ea typeface="Courier New" pitchFamily="34" charset="-122"/>
                <a:cs typeface="Courier New" pitchFamily="34" charset="-120"/>
              </a:rPr>
              <a:t>    tools=[lookup_cve, scan_k8s_manifest,</a:t>
            </a:r>
            <a:endParaRPr lang="en-US" sz="1200" dirty="0"/>
          </a:p>
          <a:p>
            <a:pPr indent="0" marL="0">
              <a:buNone/>
            </a:pPr>
            <a:r>
              <a:rPr lang="en-US" sz="1200" dirty="0">
                <a:solidFill>
                  <a:schemeClr val="accent4"/>
                </a:solidFill>
                <a:latin typeface="Courier New" pitchFamily="34" charset="0"/>
                <a:ea typeface="Courier New" pitchFamily="34" charset="-122"/>
                <a:cs typeface="Courier New" pitchFamily="34" charset="-120"/>
              </a:rPr>
              <a:t>           list_manifests, search_runbooks],</a:t>
            </a:r>
            <a:endParaRPr lang="en-US" sz="1200" dirty="0"/>
          </a:p>
          <a:p>
            <a:pPr indent="0" marL="0">
              <a:buNone/>
            </a:pPr>
            <a:r>
              <a:rPr lang="en-US" sz="1200" dirty="0">
                <a:solidFill>
                  <a:schemeClr val="accent4"/>
                </a:solidFill>
                <a:latin typeface="Courier New" pitchFamily="34" charset="0"/>
                <a:ea typeface="Courier New" pitchFamily="34" charset="-122"/>
                <a:cs typeface="Courier New" pitchFamily="34" charset="-120"/>
              </a:rPr>
              <a:t>    system_prompt=SYSTEM_PROMPT,</a:t>
            </a:r>
            <a:endParaRPr lang="en-US" sz="1200" dirty="0"/>
          </a:p>
          <a:p>
            <a:pPr indent="0" marL="0">
              <a:buNone/>
            </a:pPr>
            <a:r>
              <a:rPr lang="en-US" sz="1200" dirty="0">
                <a:solidFill>
                  <a:schemeClr val="accent4"/>
                </a:solidFill>
                <a:latin typeface="Courier New" pitchFamily="34" charset="0"/>
                <a:ea typeface="Courier New" pitchFamily="34" charset="-122"/>
                <a:cs typeface="Courier New" pitchFamily="34" charset="-120"/>
              </a:rPr>
              <a:t>    response_format=TriageReport,</a:t>
            </a:r>
            <a:endParaRPr lang="en-US" sz="1200" dirty="0"/>
          </a:p>
          <a:p>
            <a:pPr indent="0" marL="0">
              <a:buNone/>
            </a:pPr>
            <a:r>
              <a:rPr lang="en-US" sz="1200" dirty="0">
                <a:solidFill>
                  <a:schemeClr val="accent4"/>
                </a:solidFill>
                <a:latin typeface="Courier New" pitchFamily="34" charset="0"/>
                <a:ea typeface="Courier New" pitchFamily="34" charset="-122"/>
                <a:cs typeface="Courier New" pitchFamily="34" charset="-120"/>
              </a:rPr>
              <a:t>    middleware=[</a:t>
            </a:r>
            <a:endParaRPr lang="en-US" sz="1200" dirty="0"/>
          </a:p>
          <a:p>
            <a:pPr indent="0" marL="0">
              <a:buNone/>
            </a:pPr>
            <a:r>
              <a:rPr lang="en-US" sz="1200" dirty="0">
                <a:solidFill>
                  <a:schemeClr val="accent4"/>
                </a:solidFill>
                <a:latin typeface="Courier New" pitchFamily="34" charset="0"/>
                <a:ea typeface="Courier New" pitchFamily="34" charset="-122"/>
                <a:cs typeface="Courier New" pitchFamily="34" charset="-120"/>
              </a:rPr>
              <a:t>        ModelCallLimitMiddleware(run_limit=15),</a:t>
            </a:r>
            <a:endParaRPr lang="en-US" sz="1200" dirty="0"/>
          </a:p>
          <a:p>
            <a:pPr indent="0" marL="0">
              <a:buNone/>
            </a:pPr>
            <a:r>
              <a:rPr lang="en-US" sz="1200" dirty="0">
                <a:solidFill>
                  <a:schemeClr val="accent4"/>
                </a:solidFill>
                <a:latin typeface="Courier New" pitchFamily="34" charset="0"/>
                <a:ea typeface="Courier New" pitchFamily="34" charset="-122"/>
                <a:cs typeface="Courier New" pitchFamily="34" charset="-120"/>
              </a:rPr>
              <a:t>        ToolRetryMiddleware(max_retries=2,</a:t>
            </a:r>
            <a:endParaRPr lang="en-US" sz="1200" dirty="0"/>
          </a:p>
          <a:p>
            <a:pPr indent="0" marL="0">
              <a:buNone/>
            </a:pPr>
            <a:r>
              <a:rPr lang="en-US" sz="1200" dirty="0">
                <a:solidFill>
                  <a:schemeClr val="accent4"/>
                </a:solidFill>
                <a:latin typeface="Courier New" pitchFamily="34" charset="0"/>
                <a:ea typeface="Courier New" pitchFamily="34" charset="-122"/>
                <a:cs typeface="Courier New" pitchFamily="34" charset="-120"/>
              </a:rPr>
              <a:t>                            tools=["lookup_cve"]),</a:t>
            </a:r>
            <a:endParaRPr lang="en-US" sz="1200" dirty="0"/>
          </a:p>
          <a:p>
            <a:pPr indent="0" marL="0">
              <a:buNone/>
            </a:pPr>
            <a:r>
              <a:rPr lang="en-US" sz="1200" dirty="0">
                <a:solidFill>
                  <a:schemeClr val="accent4"/>
                </a:solidFill>
                <a:latin typeface="Courier New" pitchFamily="34" charset="0"/>
                <a:ea typeface="Courier New" pitchFamily="34" charset="-122"/>
                <a:cs typeface="Courier New" pitchFamily="34" charset="-120"/>
              </a:rPr>
              <a:t>        tool_guardrail,  # @wrap_tool_call</a:t>
            </a:r>
            <a:endParaRPr lang="en-US" sz="1200" dirty="0"/>
          </a:p>
          <a:p>
            <a:pPr indent="0" marL="0">
              <a:buNone/>
            </a:pPr>
            <a:r>
              <a:rPr lang="en-US" sz="1200" dirty="0">
                <a:solidFill>
                  <a:schemeClr val="accent4"/>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accent4"/>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chemeClr val="accent4"/>
                </a:solidFill>
                <a:latin typeface="Courier New" pitchFamily="34" charset="0"/>
                <a:ea typeface="Courier New" pitchFamily="34" charset="-122"/>
                <a:cs typeface="Courier New" pitchFamily="34" charset="-120"/>
              </a:rPr>
              <a:t>report = agent.invoke(q)["structured_response"]</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lstStyle/>
          <a:p>
            <a:pPr indent="0" marL="0">
              <a:buNone/>
            </a:pPr>
            <a:r>
              <a:rPr lang="en-US" sz="1200" b="1" spc="200" kern="0" dirty="0">
                <a:solidFill>
                  <a:schemeClr val="accent3"/>
                </a:solidFill>
              </a:rPr>
              <a:t>MODULE 2 · RAG</a:t>
            </a:r>
            <a:endParaRPr lang="en-US" sz="1200" dirty="0"/>
          </a:p>
        </p:txBody>
      </p:sp>
      <p:sp>
        <p:nvSpPr>
          <p:cNvPr id="3" name="Text 0"/>
          <p:cNvSpPr/>
          <p:nvPr>
            <p:ph idx="101" type="title" hasCustomPrompt="1"/>
          </p:nvPr>
        </p:nvSpPr>
        <p:spPr>
          <a:xfrm>
            <a:off x="548640" y="58521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Fixes cite our runbooks, not the internet</a:t>
            </a:r>
            <a:endParaRPr lang="en-US" sz="3200" dirty="0"/>
          </a:p>
        </p:txBody>
      </p:sp>
      <p:sp>
        <p:nvSpPr>
          <p:cNvPr id="4" name="card-114"/>
          <p:cNvSpPr/>
          <p:nvPr/>
        </p:nvSpPr>
        <p:spPr>
          <a:xfrm>
            <a:off x="548640" y="1554480"/>
            <a:ext cx="3840480" cy="713232"/>
          </a:xfrm>
          <a:prstGeom prst="roundRect">
            <a:avLst>
              <a:gd name="adj" fmla="val 15385"/>
            </a:avLst>
          </a:prstGeom>
          <a:solidFill>
            <a:schemeClr val="bg2"/>
          </a:solidFill>
          <a:ln w="12700">
            <a:solidFill>
              <a:schemeClr val="bg2"/>
            </a:solidFill>
            <a:prstDash val="solid"/>
          </a:ln>
        </p:spPr>
      </p:sp>
      <p:sp>
        <p:nvSpPr>
          <p:cNvPr id="5" name="box-label-115"/>
          <p:cNvSpPr txBox="1"/>
          <p:nvPr/>
        </p:nvSpPr>
        <p:spPr>
          <a:xfrm>
            <a:off x="640080" y="1554480"/>
            <a:ext cx="3657600" cy="713232"/>
          </a:xfrm>
          <a:prstGeom prst="rect">
            <a:avLst/>
          </a:prstGeom>
          <a:noFill/>
          <a:ln/>
        </p:spPr>
        <p:txBody>
          <a:bodyPr wrap="square" lIns="0" tIns="0" rIns="0" bIns="0" rtlCol="0" anchor="ctr"/>
          <a:lstStyle/>
          <a:p>
            <a:pPr algn="ctr" indent="0" marL="0">
              <a:buNone/>
            </a:pPr>
            <a:r>
              <a:rPr lang="en-US" sz="1400" b="1" dirty="0">
                <a:solidFill>
                  <a:schemeClr val="tx1"/>
                </a:solidFill>
              </a:rPr>
              <a:t>Runbooks (.md)</a:t>
            </a:r>
            <a:endParaRPr lang="en-US" sz="1400" dirty="0"/>
          </a:p>
          <a:p>
            <a:pPr algn="ctr" indent="0" marL="0">
              <a:buNone/>
            </a:pPr>
            <a:r>
              <a:rPr lang="en-US" sz="1100" dirty="0">
                <a:solidFill>
                  <a:schemeClr val="accent5"/>
                </a:solidFill>
              </a:rPr>
              <a:t>pod-security, supply-chain, SLAs</a:t>
            </a:r>
            <a:endParaRPr lang="en-US" sz="1400" dirty="0"/>
          </a:p>
        </p:txBody>
      </p:sp>
      <p:sp>
        <p:nvSpPr>
          <p:cNvPr id="6" name="arrow-116"/>
          <p:cNvSpPr/>
          <p:nvPr/>
        </p:nvSpPr>
        <p:spPr>
          <a:xfrm>
            <a:off x="2468880" y="2267712"/>
            <a:ext cx="914" cy="201168"/>
          </a:xfrm>
          <a:prstGeom prst="line">
            <a:avLst/>
          </a:prstGeom>
          <a:noFill/>
          <a:ln w="19050">
            <a:solidFill>
              <a:srgbClr val="5B6B66"/>
            </a:solidFill>
            <a:prstDash val="solid"/>
            <a:tailEnd type="triangle"/>
          </a:ln>
        </p:spPr>
      </p:sp>
      <p:sp>
        <p:nvSpPr>
          <p:cNvPr id="7" name="card-117"/>
          <p:cNvSpPr/>
          <p:nvPr/>
        </p:nvSpPr>
        <p:spPr>
          <a:xfrm>
            <a:off x="548640" y="2468880"/>
            <a:ext cx="3840480" cy="713232"/>
          </a:xfrm>
          <a:prstGeom prst="roundRect">
            <a:avLst>
              <a:gd name="adj" fmla="val 15385"/>
            </a:avLst>
          </a:prstGeom>
          <a:solidFill>
            <a:schemeClr val="bg2"/>
          </a:solidFill>
          <a:ln w="12700">
            <a:solidFill>
              <a:schemeClr val="bg2"/>
            </a:solidFill>
            <a:prstDash val="solid"/>
          </a:ln>
        </p:spPr>
      </p:sp>
      <p:sp>
        <p:nvSpPr>
          <p:cNvPr id="8" name="box-label-118"/>
          <p:cNvSpPr txBox="1"/>
          <p:nvPr/>
        </p:nvSpPr>
        <p:spPr>
          <a:xfrm>
            <a:off x="640080" y="2468880"/>
            <a:ext cx="3657600" cy="713232"/>
          </a:xfrm>
          <a:prstGeom prst="rect">
            <a:avLst/>
          </a:prstGeom>
          <a:noFill/>
          <a:ln/>
        </p:spPr>
        <p:txBody>
          <a:bodyPr wrap="square" lIns="0" tIns="0" rIns="0" bIns="0" rtlCol="0" anchor="ctr"/>
          <a:lstStyle/>
          <a:p>
            <a:pPr algn="ctr" indent="0" marL="0">
              <a:buNone/>
            </a:pPr>
            <a:r>
              <a:rPr lang="en-US" sz="1400" b="1" dirty="0">
                <a:solidFill>
                  <a:schemeClr val="tx1"/>
                </a:solidFill>
              </a:rPr>
              <a:t>Header splitter</a:t>
            </a:r>
            <a:endParaRPr lang="en-US" sz="1400" dirty="0"/>
          </a:p>
          <a:p>
            <a:pPr algn="ctr" indent="0" marL="0">
              <a:buNone/>
            </a:pPr>
            <a:r>
              <a:rPr lang="en-US" sz="1100" dirty="0">
                <a:solidFill>
                  <a:schemeClr val="accent5"/>
                </a:solidFill>
              </a:rPr>
              <a:t>One chunk = one procedure</a:t>
            </a:r>
            <a:endParaRPr lang="en-US" sz="1400" dirty="0"/>
          </a:p>
        </p:txBody>
      </p:sp>
      <p:sp>
        <p:nvSpPr>
          <p:cNvPr id="9" name="arrow-119"/>
          <p:cNvSpPr/>
          <p:nvPr/>
        </p:nvSpPr>
        <p:spPr>
          <a:xfrm>
            <a:off x="2468880" y="3182112"/>
            <a:ext cx="914" cy="201168"/>
          </a:xfrm>
          <a:prstGeom prst="line">
            <a:avLst/>
          </a:prstGeom>
          <a:noFill/>
          <a:ln w="19050">
            <a:solidFill>
              <a:srgbClr val="5B6B66"/>
            </a:solidFill>
            <a:prstDash val="solid"/>
            <a:tailEnd type="triangle"/>
          </a:ln>
        </p:spPr>
      </p:sp>
      <p:sp>
        <p:nvSpPr>
          <p:cNvPr id="10" name="card-120"/>
          <p:cNvSpPr/>
          <p:nvPr/>
        </p:nvSpPr>
        <p:spPr>
          <a:xfrm>
            <a:off x="548640" y="3383280"/>
            <a:ext cx="3840480" cy="713232"/>
          </a:xfrm>
          <a:prstGeom prst="roundRect">
            <a:avLst>
              <a:gd name="adj" fmla="val 15385"/>
            </a:avLst>
          </a:prstGeom>
          <a:solidFill>
            <a:schemeClr val="bg2"/>
          </a:solidFill>
          <a:ln w="12700">
            <a:solidFill>
              <a:schemeClr val="bg2"/>
            </a:solidFill>
            <a:prstDash val="solid"/>
          </a:ln>
        </p:spPr>
      </p:sp>
      <p:sp>
        <p:nvSpPr>
          <p:cNvPr id="11" name="box-label-121"/>
          <p:cNvSpPr txBox="1"/>
          <p:nvPr/>
        </p:nvSpPr>
        <p:spPr>
          <a:xfrm>
            <a:off x="640080" y="3383280"/>
            <a:ext cx="3657600" cy="713232"/>
          </a:xfrm>
          <a:prstGeom prst="rect">
            <a:avLst/>
          </a:prstGeom>
          <a:noFill/>
          <a:ln/>
        </p:spPr>
        <p:txBody>
          <a:bodyPr wrap="square" lIns="0" tIns="0" rIns="0" bIns="0" rtlCol="0" anchor="ctr"/>
          <a:lstStyle/>
          <a:p>
            <a:pPr algn="ctr" indent="0" marL="0">
              <a:buNone/>
            </a:pPr>
            <a:r>
              <a:rPr lang="en-US" sz="1400" b="1" dirty="0">
                <a:solidFill>
                  <a:schemeClr val="tx1"/>
                </a:solidFill>
              </a:rPr>
              <a:t>Local ONNX embeddings</a:t>
            </a:r>
            <a:endParaRPr lang="en-US" sz="1400" dirty="0"/>
          </a:p>
          <a:p>
            <a:pPr algn="ctr" indent="0" marL="0">
              <a:buNone/>
            </a:pPr>
            <a:r>
              <a:rPr lang="en-US" sz="1100" dirty="0">
                <a:solidFill>
                  <a:schemeClr val="accent5"/>
                </a:solidFill>
              </a:rPr>
              <a:t>bge-small, no API key</a:t>
            </a:r>
            <a:endParaRPr lang="en-US" sz="1400" dirty="0"/>
          </a:p>
        </p:txBody>
      </p:sp>
      <p:sp>
        <p:nvSpPr>
          <p:cNvPr id="12" name="arrow-122"/>
          <p:cNvSpPr/>
          <p:nvPr/>
        </p:nvSpPr>
        <p:spPr>
          <a:xfrm>
            <a:off x="2468880" y="4096512"/>
            <a:ext cx="914" cy="201168"/>
          </a:xfrm>
          <a:prstGeom prst="line">
            <a:avLst/>
          </a:prstGeom>
          <a:noFill/>
          <a:ln w="19050">
            <a:solidFill>
              <a:srgbClr val="5B6B66"/>
            </a:solidFill>
            <a:prstDash val="solid"/>
            <a:tailEnd type="triangle"/>
          </a:ln>
        </p:spPr>
      </p:sp>
      <p:sp>
        <p:nvSpPr>
          <p:cNvPr id="13" name="card-123"/>
          <p:cNvSpPr/>
          <p:nvPr/>
        </p:nvSpPr>
        <p:spPr>
          <a:xfrm>
            <a:off x="548640" y="4297680"/>
            <a:ext cx="3840480" cy="713232"/>
          </a:xfrm>
          <a:prstGeom prst="roundRect">
            <a:avLst>
              <a:gd name="adj" fmla="val 15385"/>
            </a:avLst>
          </a:prstGeom>
          <a:solidFill>
            <a:schemeClr val="bg2"/>
          </a:solidFill>
          <a:ln w="12700">
            <a:solidFill>
              <a:schemeClr val="bg2"/>
            </a:solidFill>
            <a:prstDash val="solid"/>
          </a:ln>
        </p:spPr>
      </p:sp>
      <p:sp>
        <p:nvSpPr>
          <p:cNvPr id="14" name="box-label-124"/>
          <p:cNvSpPr txBox="1"/>
          <p:nvPr/>
        </p:nvSpPr>
        <p:spPr>
          <a:xfrm>
            <a:off x="640080" y="4297680"/>
            <a:ext cx="3657600" cy="713232"/>
          </a:xfrm>
          <a:prstGeom prst="rect">
            <a:avLst/>
          </a:prstGeom>
          <a:noFill/>
          <a:ln/>
        </p:spPr>
        <p:txBody>
          <a:bodyPr wrap="square" lIns="0" tIns="0" rIns="0" bIns="0" rtlCol="0" anchor="ctr"/>
          <a:lstStyle/>
          <a:p>
            <a:pPr algn="ctr" indent="0" marL="0">
              <a:buNone/>
            </a:pPr>
            <a:r>
              <a:rPr lang="en-US" sz="1400" b="1" dirty="0">
                <a:solidFill>
                  <a:schemeClr val="tx1"/>
                </a:solidFill>
              </a:rPr>
              <a:t>Vector store</a:t>
            </a:r>
            <a:endParaRPr lang="en-US" sz="1400" dirty="0"/>
          </a:p>
          <a:p>
            <a:pPr algn="ctr" indent="0" marL="0">
              <a:buNone/>
            </a:pPr>
            <a:r>
              <a:rPr lang="en-US" sz="1100" dirty="0">
                <a:solidFill>
                  <a:schemeClr val="accent5"/>
                </a:solidFill>
              </a:rPr>
              <a:t>In-memory → pgvector</a:t>
            </a:r>
            <a:endParaRPr lang="en-US" sz="1400" dirty="0"/>
          </a:p>
        </p:txBody>
      </p:sp>
      <p:sp>
        <p:nvSpPr>
          <p:cNvPr id="15" name="arrow-125"/>
          <p:cNvSpPr/>
          <p:nvPr/>
        </p:nvSpPr>
        <p:spPr>
          <a:xfrm>
            <a:off x="2468880" y="5010912"/>
            <a:ext cx="914" cy="201168"/>
          </a:xfrm>
          <a:prstGeom prst="line">
            <a:avLst/>
          </a:prstGeom>
          <a:noFill/>
          <a:ln w="19050">
            <a:solidFill>
              <a:srgbClr val="5B6B66"/>
            </a:solidFill>
            <a:prstDash val="solid"/>
            <a:tailEnd type="triangle"/>
          </a:ln>
        </p:spPr>
      </p:sp>
      <p:sp>
        <p:nvSpPr>
          <p:cNvPr id="16" name="card-126"/>
          <p:cNvSpPr/>
          <p:nvPr/>
        </p:nvSpPr>
        <p:spPr>
          <a:xfrm>
            <a:off x="548640" y="5212080"/>
            <a:ext cx="3840480" cy="713232"/>
          </a:xfrm>
          <a:prstGeom prst="roundRect">
            <a:avLst>
              <a:gd name="adj" fmla="val 15385"/>
            </a:avLst>
          </a:prstGeom>
          <a:solidFill>
            <a:schemeClr val="accent1"/>
          </a:solidFill>
          <a:ln w="12700">
            <a:solidFill>
              <a:schemeClr val="accent1"/>
            </a:solidFill>
            <a:prstDash val="solid"/>
          </a:ln>
        </p:spPr>
      </p:sp>
      <p:sp>
        <p:nvSpPr>
          <p:cNvPr id="17" name="box-label-127"/>
          <p:cNvSpPr txBox="1"/>
          <p:nvPr/>
        </p:nvSpPr>
        <p:spPr>
          <a:xfrm>
            <a:off x="640080" y="5212080"/>
            <a:ext cx="3657600" cy="713232"/>
          </a:xfrm>
          <a:prstGeom prst="rect">
            <a:avLst/>
          </a:prstGeom>
          <a:noFill/>
          <a:ln/>
        </p:spPr>
        <p:txBody>
          <a:bodyPr wrap="square" lIns="0" tIns="0" rIns="0" bIns="0" rtlCol="0" anchor="ctr"/>
          <a:lstStyle/>
          <a:p>
            <a:pPr algn="ctr" indent="0" marL="0">
              <a:buNone/>
            </a:pPr>
            <a:r>
              <a:rPr lang="en-US" sz="1400" b="1" dirty="0">
                <a:solidFill>
                  <a:schemeClr val="bg1"/>
                </a:solidFill>
              </a:rPr>
              <a:t>search_runbooks tool</a:t>
            </a:r>
            <a:endParaRPr lang="en-US" sz="1400" dirty="0"/>
          </a:p>
          <a:p>
            <a:pPr algn="ctr" indent="0" marL="0">
              <a:buNone/>
            </a:pPr>
            <a:r>
              <a:rPr lang="en-US" sz="1100" dirty="0">
                <a:solidFill>
                  <a:schemeClr val="bg1"/>
                </a:solidFill>
              </a:rPr>
              <a:t>Agent decides when to retrieve</a:t>
            </a:r>
            <a:endParaRPr lang="en-US" sz="1400" dirty="0"/>
          </a:p>
        </p:txBody>
      </p:sp>
      <p:sp>
        <p:nvSpPr>
          <p:cNvPr id="18" name="text-128"/>
          <p:cNvSpPr txBox="1"/>
          <p:nvPr/>
        </p:nvSpPr>
        <p:spPr>
          <a:xfrm>
            <a:off x="5029200" y="1554480"/>
            <a:ext cx="6583680" cy="1051560"/>
          </a:xfrm>
          <a:prstGeom prst="rect">
            <a:avLst/>
          </a:prstGeom>
          <a:noFill/>
          <a:ln/>
        </p:spPr>
        <p:txBody>
          <a:bodyPr wrap="square" lIns="0" tIns="0" rIns="0" bIns="0" rtlCol="0" anchor="t"/>
          <a:lstStyle/>
          <a:p>
            <a:pPr indent="0" marL="0">
              <a:buNone/>
            </a:pPr>
            <a:r>
              <a:rPr lang="en-US" sz="1600" b="1" dirty="0">
                <a:solidFill>
                  <a:schemeClr val="tx1"/>
                </a:solidFill>
              </a:rPr>
              <a:t>Chunk on structure, not character count</a:t>
            </a:r>
            <a:endParaRPr lang="en-US" sz="1400" dirty="0"/>
          </a:p>
          <a:p>
            <a:pPr indent="0" marL="0">
              <a:buNone/>
            </a:pPr>
            <a:r>
              <a:rPr lang="en-US" sz="1400" dirty="0">
                <a:solidFill>
                  <a:schemeClr val="accent5"/>
                </a:solidFill>
              </a:rPr>
              <a:t>Markdown headers become metadata, so every answer is citable: pod-security.md &gt; Privileged containers.</a:t>
            </a:r>
            <a:endParaRPr lang="en-US" sz="1400" dirty="0"/>
          </a:p>
        </p:txBody>
      </p:sp>
      <p:sp>
        <p:nvSpPr>
          <p:cNvPr id="19" name="text-129"/>
          <p:cNvSpPr txBox="1"/>
          <p:nvPr/>
        </p:nvSpPr>
        <p:spPr>
          <a:xfrm>
            <a:off x="5029200" y="2697480"/>
            <a:ext cx="6583680" cy="1051560"/>
          </a:xfrm>
          <a:prstGeom prst="rect">
            <a:avLst/>
          </a:prstGeom>
          <a:noFill/>
          <a:ln/>
        </p:spPr>
        <p:txBody>
          <a:bodyPr wrap="square" lIns="0" tIns="0" rIns="0" bIns="0" rtlCol="0" anchor="t"/>
          <a:lstStyle/>
          <a:p>
            <a:pPr indent="0" marL="0">
              <a:buNone/>
            </a:pPr>
            <a:r>
              <a:rPr lang="en-US" sz="1600" b="1" dirty="0">
                <a:solidFill>
                  <a:schemeClr val="tx1"/>
                </a:solidFill>
              </a:rPr>
              <a:t>Embeddings are a two-method interface</a:t>
            </a:r>
            <a:endParaRPr lang="en-US" sz="1400" dirty="0"/>
          </a:p>
          <a:p>
            <a:pPr indent="0" marL="0">
              <a:buNone/>
            </a:pPr>
            <a:r>
              <a:rPr lang="en-US" sz="1400" dirty="0">
                <a:solidFill>
                  <a:schemeClr val="accent5"/>
                </a:solidFill>
              </a:rPr>
              <a:t>embed_documents and embed_query. The local model keeps data in the boundary, which is the answer for air-gapped and regulated customers.</a:t>
            </a:r>
            <a:endParaRPr lang="en-US" sz="1400" dirty="0"/>
          </a:p>
        </p:txBody>
      </p:sp>
      <p:sp>
        <p:nvSpPr>
          <p:cNvPr id="20" name="text-130"/>
          <p:cNvSpPr txBox="1"/>
          <p:nvPr/>
        </p:nvSpPr>
        <p:spPr>
          <a:xfrm>
            <a:off x="5029200" y="3840480"/>
            <a:ext cx="6583680" cy="1051560"/>
          </a:xfrm>
          <a:prstGeom prst="rect">
            <a:avLst/>
          </a:prstGeom>
          <a:noFill/>
          <a:ln/>
        </p:spPr>
        <p:txBody>
          <a:bodyPr wrap="square" lIns="0" tIns="0" rIns="0" bIns="0" rtlCol="0" anchor="t"/>
          <a:lstStyle/>
          <a:p>
            <a:pPr indent="0" marL="0">
              <a:buNone/>
            </a:pPr>
            <a:r>
              <a:rPr lang="en-US" sz="1600" b="1" dirty="0">
                <a:solidFill>
                  <a:schemeClr val="tx1"/>
                </a:solidFill>
              </a:rPr>
              <a:t>The store is swappable</a:t>
            </a:r>
            <a:endParaRPr lang="en-US" sz="1400" dirty="0"/>
          </a:p>
          <a:p>
            <a:pPr indent="0" marL="0">
              <a:buNone/>
            </a:pPr>
            <a:r>
              <a:rPr lang="en-US" sz="1400" dirty="0">
                <a:solidFill>
                  <a:schemeClr val="accent5"/>
                </a:solidFill>
              </a:rPr>
              <a:t>InMemoryVectorStore for the build; pgvector, OpenSearch or Pinecone in production behind the same API.</a:t>
            </a:r>
            <a:endParaRPr lang="en-US" sz="1400" dirty="0"/>
          </a:p>
        </p:txBody>
      </p:sp>
      <p:sp>
        <p:nvSpPr>
          <p:cNvPr id="21" name="text-131"/>
          <p:cNvSpPr txBox="1"/>
          <p:nvPr/>
        </p:nvSpPr>
        <p:spPr>
          <a:xfrm>
            <a:off x="5029200" y="4983480"/>
            <a:ext cx="6583680" cy="1051560"/>
          </a:xfrm>
          <a:prstGeom prst="rect">
            <a:avLst/>
          </a:prstGeom>
          <a:noFill/>
          <a:ln/>
        </p:spPr>
        <p:txBody>
          <a:bodyPr wrap="square" lIns="0" tIns="0" rIns="0" bIns="0" rtlCol="0" anchor="t"/>
          <a:lstStyle/>
          <a:p>
            <a:pPr indent="0" marL="0">
              <a:buNone/>
            </a:pPr>
            <a:r>
              <a:rPr lang="en-US" sz="1600" b="1" dirty="0">
                <a:solidFill>
                  <a:schemeClr val="tx1"/>
                </a:solidFill>
              </a:rPr>
              <a:t>Retrieval is a tool, not a pre-step</a:t>
            </a:r>
            <a:endParaRPr lang="en-US" sz="1400" dirty="0"/>
          </a:p>
          <a:p>
            <a:pPr indent="0" marL="0">
              <a:buNone/>
            </a:pPr>
            <a:r>
              <a:rPr lang="en-US" sz="1400" dirty="0">
                <a:solidFill>
                  <a:schemeClr val="accent5"/>
                </a:solidFill>
              </a:rPr>
              <a:t>Agentic RAG: the model retrieves only when it needs policy or an SLA.</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lstStyle/>
          <a:p>
            <a:pPr indent="0" marL="0">
              <a:buNone/>
            </a:pPr>
            <a:r>
              <a:rPr lang="en-US" sz="1200" b="1" spc="200" kern="0" dirty="0">
                <a:solidFill>
                  <a:schemeClr val="accent3"/>
                </a:solidFill>
              </a:rPr>
              <a:t>MODULE 3 · LANGGRAPH</a:t>
            </a:r>
            <a:endParaRPr lang="en-US" sz="1200" dirty="0"/>
          </a:p>
        </p:txBody>
      </p:sp>
      <p:sp>
        <p:nvSpPr>
          <p:cNvPr id="3" name="Text 0"/>
          <p:cNvSpPr/>
          <p:nvPr>
            <p:ph idx="101" type="title" hasCustomPrompt="1"/>
          </p:nvPr>
        </p:nvSpPr>
        <p:spPr>
          <a:xfrm>
            <a:off x="548640" y="58521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Deterministic flow with a human approval gate</a:t>
            </a:r>
            <a:endParaRPr lang="en-US" sz="3200" dirty="0"/>
          </a:p>
        </p:txBody>
      </p:sp>
      <p:sp>
        <p:nvSpPr>
          <p:cNvPr id="4" name="card-132"/>
          <p:cNvSpPr/>
          <p:nvPr/>
        </p:nvSpPr>
        <p:spPr>
          <a:xfrm>
            <a:off x="548640" y="1691640"/>
            <a:ext cx="914400" cy="731520"/>
          </a:xfrm>
          <a:prstGeom prst="roundRect">
            <a:avLst>
              <a:gd name="adj" fmla="val 15000"/>
            </a:avLst>
          </a:prstGeom>
          <a:solidFill>
            <a:schemeClr val="tx2"/>
          </a:solidFill>
          <a:ln w="12700">
            <a:solidFill>
              <a:schemeClr val="tx2"/>
            </a:solidFill>
            <a:prstDash val="solid"/>
          </a:ln>
        </p:spPr>
      </p:sp>
      <p:sp>
        <p:nvSpPr>
          <p:cNvPr id="5" name="box-label-133"/>
          <p:cNvSpPr txBox="1"/>
          <p:nvPr/>
        </p:nvSpPr>
        <p:spPr>
          <a:xfrm>
            <a:off x="640080" y="1691640"/>
            <a:ext cx="731520" cy="731520"/>
          </a:xfrm>
          <a:prstGeom prst="rect">
            <a:avLst/>
          </a:prstGeom>
          <a:noFill/>
          <a:ln/>
        </p:spPr>
        <p:txBody>
          <a:bodyPr wrap="square" lIns="0" tIns="0" rIns="0" bIns="0" rtlCol="0" anchor="ctr"/>
          <a:lstStyle/>
          <a:p>
            <a:pPr algn="ctr" indent="0" marL="0">
              <a:buNone/>
            </a:pPr>
            <a:r>
              <a:rPr lang="en-US" sz="1200" b="1" dirty="0">
                <a:solidFill>
                  <a:schemeClr val="bg1"/>
                </a:solidFill>
              </a:rPr>
              <a:t>START</a:t>
            </a:r>
            <a:endParaRPr lang="en-US" sz="1200" dirty="0"/>
          </a:p>
        </p:txBody>
      </p:sp>
      <p:sp>
        <p:nvSpPr>
          <p:cNvPr id="6" name="card-134"/>
          <p:cNvSpPr/>
          <p:nvPr/>
        </p:nvSpPr>
        <p:spPr>
          <a:xfrm>
            <a:off x="1737360" y="1691640"/>
            <a:ext cx="1828800" cy="731520"/>
          </a:xfrm>
          <a:prstGeom prst="roundRect">
            <a:avLst>
              <a:gd name="adj" fmla="val 15000"/>
            </a:avLst>
          </a:prstGeom>
          <a:solidFill>
            <a:schemeClr val="bg2"/>
          </a:solidFill>
          <a:ln w="12700">
            <a:solidFill>
              <a:schemeClr val="bg2"/>
            </a:solidFill>
            <a:prstDash val="solid"/>
          </a:ln>
        </p:spPr>
      </p:sp>
      <p:sp>
        <p:nvSpPr>
          <p:cNvPr id="7" name="box-label-135"/>
          <p:cNvSpPr txBox="1"/>
          <p:nvPr/>
        </p:nvSpPr>
        <p:spPr>
          <a:xfrm>
            <a:off x="1828800" y="1691640"/>
            <a:ext cx="1645920" cy="731520"/>
          </a:xfrm>
          <a:prstGeom prst="rect">
            <a:avLst/>
          </a:prstGeom>
          <a:noFill/>
          <a:ln/>
        </p:spPr>
        <p:txBody>
          <a:bodyPr wrap="square" lIns="0" tIns="0" rIns="0" bIns="0" rtlCol="0" anchor="ctr"/>
          <a:lstStyle/>
          <a:p>
            <a:pPr algn="ctr" indent="0" marL="0">
              <a:buNone/>
            </a:pPr>
            <a:r>
              <a:rPr lang="en-US" sz="1500" b="1" dirty="0">
                <a:solidFill>
                  <a:schemeClr val="tx1"/>
                </a:solidFill>
              </a:rPr>
              <a:t>scan</a:t>
            </a:r>
            <a:endParaRPr lang="en-US" sz="1500" dirty="0"/>
          </a:p>
          <a:p>
            <a:pPr algn="ctr" indent="0" marL="0">
              <a:buNone/>
            </a:pPr>
            <a:r>
              <a:rPr lang="en-US" sz="1100" dirty="0">
                <a:solidFill>
                  <a:schemeClr val="accent5"/>
                </a:solidFill>
              </a:rPr>
              <a:t>deterministic + store</a:t>
            </a:r>
            <a:endParaRPr lang="en-US" sz="1500" dirty="0"/>
          </a:p>
        </p:txBody>
      </p:sp>
      <p:sp>
        <p:nvSpPr>
          <p:cNvPr id="8" name="card-136"/>
          <p:cNvSpPr/>
          <p:nvPr/>
        </p:nvSpPr>
        <p:spPr>
          <a:xfrm>
            <a:off x="3840480" y="1691640"/>
            <a:ext cx="1828800" cy="731520"/>
          </a:xfrm>
          <a:prstGeom prst="roundRect">
            <a:avLst>
              <a:gd name="adj" fmla="val 15000"/>
            </a:avLst>
          </a:prstGeom>
          <a:solidFill>
            <a:schemeClr val="bg2"/>
          </a:solidFill>
          <a:ln w="12700">
            <a:solidFill>
              <a:schemeClr val="bg2"/>
            </a:solidFill>
            <a:prstDash val="solid"/>
          </a:ln>
        </p:spPr>
      </p:sp>
      <p:sp>
        <p:nvSpPr>
          <p:cNvPr id="9" name="box-label-137"/>
          <p:cNvSpPr txBox="1"/>
          <p:nvPr/>
        </p:nvSpPr>
        <p:spPr>
          <a:xfrm>
            <a:off x="3931920" y="1691640"/>
            <a:ext cx="1645920" cy="731520"/>
          </a:xfrm>
          <a:prstGeom prst="rect">
            <a:avLst/>
          </a:prstGeom>
          <a:noFill/>
          <a:ln/>
        </p:spPr>
        <p:txBody>
          <a:bodyPr wrap="square" lIns="0" tIns="0" rIns="0" bIns="0" rtlCol="0" anchor="ctr"/>
          <a:lstStyle/>
          <a:p>
            <a:pPr algn="ctr" indent="0" marL="0">
              <a:buNone/>
            </a:pPr>
            <a:r>
              <a:rPr lang="en-US" sz="1500" b="1" dirty="0">
                <a:solidFill>
                  <a:schemeClr val="tx1"/>
                </a:solidFill>
              </a:rPr>
              <a:t>plan</a:t>
            </a:r>
            <a:endParaRPr lang="en-US" sz="1500" dirty="0"/>
          </a:p>
          <a:p>
            <a:pPr algn="ctr" indent="0" marL="0">
              <a:buNone/>
            </a:pPr>
            <a:r>
              <a:rPr lang="en-US" sz="1100" dirty="0">
                <a:solidFill>
                  <a:schemeClr val="accent5"/>
                </a:solidFill>
              </a:rPr>
              <a:t>LLM + runbook RAG</a:t>
            </a:r>
            <a:endParaRPr lang="en-US" sz="1500" dirty="0"/>
          </a:p>
        </p:txBody>
      </p:sp>
      <p:sp>
        <p:nvSpPr>
          <p:cNvPr id="10" name="decision-138"/>
          <p:cNvSpPr/>
          <p:nvPr/>
        </p:nvSpPr>
        <p:spPr>
          <a:xfrm>
            <a:off x="5989320" y="1600200"/>
            <a:ext cx="1188720" cy="914400"/>
          </a:xfrm>
          <a:prstGeom prst="diamond">
            <a:avLst/>
          </a:prstGeom>
          <a:solidFill>
            <a:srgbClr val="EEF5F1"/>
          </a:solidFill>
          <a:ln w="15875">
            <a:solidFill>
              <a:srgbClr val="2F6F5E"/>
            </a:solidFill>
            <a:prstDash val="solid"/>
          </a:ln>
        </p:spPr>
      </p:sp>
      <p:sp>
        <p:nvSpPr>
          <p:cNvPr id="11" name="text-139"/>
          <p:cNvSpPr txBox="1"/>
          <p:nvPr/>
        </p:nvSpPr>
        <p:spPr>
          <a:xfrm>
            <a:off x="5989320" y="1600200"/>
            <a:ext cx="1188720" cy="914400"/>
          </a:xfrm>
          <a:prstGeom prst="rect">
            <a:avLst/>
          </a:prstGeom>
          <a:noFill/>
          <a:ln/>
        </p:spPr>
        <p:txBody>
          <a:bodyPr wrap="square" lIns="0" tIns="0" rIns="0" bIns="0" rtlCol="0" anchor="ctr"/>
          <a:lstStyle/>
          <a:p>
            <a:pPr algn="ctr" indent="0" marL="0">
              <a:buNone/>
            </a:pPr>
            <a:r>
              <a:rPr lang="en-US" sz="1200" b="1" dirty="0">
                <a:solidFill>
                  <a:schemeClr val="tx1"/>
                </a:solidFill>
              </a:rPr>
              <a:t>HIGH+?</a:t>
            </a:r>
            <a:endParaRPr lang="en-US" sz="1200" dirty="0"/>
          </a:p>
        </p:txBody>
      </p:sp>
      <p:sp>
        <p:nvSpPr>
          <p:cNvPr id="12" name="card-140"/>
          <p:cNvSpPr/>
          <p:nvPr/>
        </p:nvSpPr>
        <p:spPr>
          <a:xfrm>
            <a:off x="7543800" y="1691640"/>
            <a:ext cx="2011680" cy="731520"/>
          </a:xfrm>
          <a:prstGeom prst="roundRect">
            <a:avLst>
              <a:gd name="adj" fmla="val 15000"/>
            </a:avLst>
          </a:prstGeom>
          <a:solidFill>
            <a:srgbClr val="FBEBD3"/>
          </a:solidFill>
          <a:ln w="12700">
            <a:solidFill>
              <a:srgbClr val="FBEBD3"/>
            </a:solidFill>
            <a:prstDash val="solid"/>
          </a:ln>
        </p:spPr>
      </p:sp>
      <p:sp>
        <p:nvSpPr>
          <p:cNvPr id="13" name="box-label-141"/>
          <p:cNvSpPr txBox="1"/>
          <p:nvPr/>
        </p:nvSpPr>
        <p:spPr>
          <a:xfrm>
            <a:off x="7635240" y="1691640"/>
            <a:ext cx="1828800" cy="731520"/>
          </a:xfrm>
          <a:prstGeom prst="rect">
            <a:avLst/>
          </a:prstGeom>
          <a:noFill/>
          <a:ln/>
        </p:spPr>
        <p:txBody>
          <a:bodyPr wrap="square" lIns="0" tIns="0" rIns="0" bIns="0" rtlCol="0" anchor="ctr"/>
          <a:lstStyle/>
          <a:p>
            <a:pPr algn="ctr" indent="0" marL="0">
              <a:buNone/>
            </a:pPr>
            <a:r>
              <a:rPr lang="en-US" sz="1500" b="1" dirty="0">
                <a:solidFill>
                  <a:schemeClr val="tx1"/>
                </a:solidFill>
              </a:rPr>
              <a:t>human_review</a:t>
            </a:r>
            <a:endParaRPr lang="en-US" sz="1500" dirty="0"/>
          </a:p>
          <a:p>
            <a:pPr algn="ctr" indent="0" marL="0">
              <a:buNone/>
            </a:pPr>
            <a:r>
              <a:rPr lang="en-US" sz="1100" dirty="0">
                <a:solidFill>
                  <a:schemeClr val="accent5"/>
                </a:solidFill>
              </a:rPr>
              <a:t>interrupt()</a:t>
            </a:r>
            <a:endParaRPr lang="en-US" sz="1500" dirty="0"/>
          </a:p>
        </p:txBody>
      </p:sp>
      <p:sp>
        <p:nvSpPr>
          <p:cNvPr id="14" name="card-142"/>
          <p:cNvSpPr/>
          <p:nvPr/>
        </p:nvSpPr>
        <p:spPr>
          <a:xfrm>
            <a:off x="9811512" y="2971800"/>
            <a:ext cx="1828800" cy="731520"/>
          </a:xfrm>
          <a:prstGeom prst="roundRect">
            <a:avLst>
              <a:gd name="adj" fmla="val 15000"/>
            </a:avLst>
          </a:prstGeom>
          <a:solidFill>
            <a:schemeClr val="bg2"/>
          </a:solidFill>
          <a:ln w="12700">
            <a:solidFill>
              <a:schemeClr val="bg2"/>
            </a:solidFill>
            <a:prstDash val="solid"/>
          </a:ln>
        </p:spPr>
      </p:sp>
      <p:sp>
        <p:nvSpPr>
          <p:cNvPr id="15" name="box-label-143"/>
          <p:cNvSpPr txBox="1"/>
          <p:nvPr/>
        </p:nvSpPr>
        <p:spPr>
          <a:xfrm>
            <a:off x="9902952" y="2971800"/>
            <a:ext cx="1645920" cy="731520"/>
          </a:xfrm>
          <a:prstGeom prst="rect">
            <a:avLst/>
          </a:prstGeom>
          <a:noFill/>
          <a:ln/>
        </p:spPr>
        <p:txBody>
          <a:bodyPr wrap="square" lIns="0" tIns="0" rIns="0" bIns="0" rtlCol="0" anchor="ctr"/>
          <a:lstStyle/>
          <a:p>
            <a:pPr algn="ctr" indent="0" marL="0">
              <a:buNone/>
            </a:pPr>
            <a:r>
              <a:rPr lang="en-US" sz="1500" b="1" dirty="0">
                <a:solidFill>
                  <a:schemeClr val="tx1"/>
                </a:solidFill>
              </a:rPr>
              <a:t>finalize</a:t>
            </a:r>
            <a:endParaRPr lang="en-US" sz="1500" dirty="0"/>
          </a:p>
          <a:p>
            <a:pPr algn="ctr" indent="0" marL="0">
              <a:buNone/>
            </a:pPr>
            <a:r>
              <a:rPr lang="en-US" sz="1100" dirty="0">
                <a:solidFill>
                  <a:schemeClr val="accent5"/>
                </a:solidFill>
              </a:rPr>
              <a:t>report</a:t>
            </a:r>
            <a:endParaRPr lang="en-US" sz="1500" dirty="0"/>
          </a:p>
        </p:txBody>
      </p:sp>
      <p:sp>
        <p:nvSpPr>
          <p:cNvPr id="16" name="card-144"/>
          <p:cNvSpPr/>
          <p:nvPr/>
        </p:nvSpPr>
        <p:spPr>
          <a:xfrm>
            <a:off x="9811512" y="1691640"/>
            <a:ext cx="1828800" cy="731520"/>
          </a:xfrm>
          <a:prstGeom prst="roundRect">
            <a:avLst>
              <a:gd name="adj" fmla="val 15000"/>
            </a:avLst>
          </a:prstGeom>
          <a:solidFill>
            <a:schemeClr val="tx2"/>
          </a:solidFill>
          <a:ln w="12700">
            <a:solidFill>
              <a:schemeClr val="tx2"/>
            </a:solidFill>
            <a:prstDash val="solid"/>
          </a:ln>
        </p:spPr>
      </p:sp>
      <p:sp>
        <p:nvSpPr>
          <p:cNvPr id="17" name="box-label-145"/>
          <p:cNvSpPr txBox="1"/>
          <p:nvPr/>
        </p:nvSpPr>
        <p:spPr>
          <a:xfrm>
            <a:off x="9902952" y="1691640"/>
            <a:ext cx="1645920" cy="731520"/>
          </a:xfrm>
          <a:prstGeom prst="rect">
            <a:avLst/>
          </a:prstGeom>
          <a:noFill/>
          <a:ln/>
        </p:spPr>
        <p:txBody>
          <a:bodyPr wrap="square" lIns="0" tIns="0" rIns="0" bIns="0" rtlCol="0" anchor="ctr"/>
          <a:lstStyle/>
          <a:p>
            <a:pPr algn="ctr" indent="0" marL="0">
              <a:buNone/>
            </a:pPr>
            <a:r>
              <a:rPr lang="en-US" sz="1200" b="1" dirty="0">
                <a:solidFill>
                  <a:schemeClr val="bg1"/>
                </a:solidFill>
              </a:rPr>
              <a:t>END</a:t>
            </a:r>
            <a:endParaRPr lang="en-US" sz="1200" dirty="0"/>
          </a:p>
        </p:txBody>
      </p:sp>
      <p:sp>
        <p:nvSpPr>
          <p:cNvPr id="18" name="arrow-146"/>
          <p:cNvSpPr/>
          <p:nvPr/>
        </p:nvSpPr>
        <p:spPr>
          <a:xfrm>
            <a:off x="1463040" y="2057400"/>
            <a:ext cx="274320" cy="914"/>
          </a:xfrm>
          <a:prstGeom prst="line">
            <a:avLst/>
          </a:prstGeom>
          <a:noFill/>
          <a:ln w="19050">
            <a:solidFill>
              <a:srgbClr val="5B6B66"/>
            </a:solidFill>
            <a:prstDash val="solid"/>
            <a:tailEnd type="triangle"/>
          </a:ln>
        </p:spPr>
      </p:sp>
      <p:sp>
        <p:nvSpPr>
          <p:cNvPr id="19" name="arrow-147"/>
          <p:cNvSpPr/>
          <p:nvPr/>
        </p:nvSpPr>
        <p:spPr>
          <a:xfrm>
            <a:off x="3566160" y="2057400"/>
            <a:ext cx="274320" cy="914"/>
          </a:xfrm>
          <a:prstGeom prst="line">
            <a:avLst/>
          </a:prstGeom>
          <a:noFill/>
          <a:ln w="19050">
            <a:solidFill>
              <a:srgbClr val="5B6B66"/>
            </a:solidFill>
            <a:prstDash val="solid"/>
            <a:tailEnd type="triangle"/>
          </a:ln>
        </p:spPr>
      </p:sp>
      <p:sp>
        <p:nvSpPr>
          <p:cNvPr id="20" name="arrow-148"/>
          <p:cNvSpPr/>
          <p:nvPr/>
        </p:nvSpPr>
        <p:spPr>
          <a:xfrm>
            <a:off x="5669280" y="2057400"/>
            <a:ext cx="320040" cy="914"/>
          </a:xfrm>
          <a:prstGeom prst="line">
            <a:avLst/>
          </a:prstGeom>
          <a:noFill/>
          <a:ln w="19050">
            <a:solidFill>
              <a:srgbClr val="5B6B66"/>
            </a:solidFill>
            <a:prstDash val="solid"/>
            <a:tailEnd type="triangle"/>
          </a:ln>
        </p:spPr>
      </p:sp>
      <p:sp>
        <p:nvSpPr>
          <p:cNvPr id="21" name="arrow-149"/>
          <p:cNvSpPr/>
          <p:nvPr/>
        </p:nvSpPr>
        <p:spPr>
          <a:xfrm>
            <a:off x="7178040" y="2057400"/>
            <a:ext cx="365760" cy="914"/>
          </a:xfrm>
          <a:prstGeom prst="line">
            <a:avLst/>
          </a:prstGeom>
          <a:noFill/>
          <a:ln w="19050">
            <a:solidFill>
              <a:srgbClr val="5B6B66"/>
            </a:solidFill>
            <a:prstDash val="solid"/>
            <a:tailEnd type="triangle"/>
          </a:ln>
        </p:spPr>
      </p:sp>
      <p:sp>
        <p:nvSpPr>
          <p:cNvPr id="22" name="arrow-150"/>
          <p:cNvSpPr/>
          <p:nvPr/>
        </p:nvSpPr>
        <p:spPr>
          <a:xfrm>
            <a:off x="6583680" y="2514600"/>
            <a:ext cx="914" cy="822960"/>
          </a:xfrm>
          <a:prstGeom prst="line">
            <a:avLst/>
          </a:prstGeom>
          <a:noFill/>
          <a:ln w="19050">
            <a:solidFill>
              <a:srgbClr val="5B6B66"/>
            </a:solidFill>
            <a:prstDash val="solid"/>
            <a:tailEnd type="triangle"/>
          </a:ln>
        </p:spPr>
      </p:sp>
      <p:sp>
        <p:nvSpPr>
          <p:cNvPr id="23" name="arrow-151"/>
          <p:cNvSpPr/>
          <p:nvPr/>
        </p:nvSpPr>
        <p:spPr>
          <a:xfrm>
            <a:off x="6583680" y="3337560"/>
            <a:ext cx="3227832" cy="914"/>
          </a:xfrm>
          <a:prstGeom prst="line">
            <a:avLst/>
          </a:prstGeom>
          <a:noFill/>
          <a:ln w="19050">
            <a:solidFill>
              <a:srgbClr val="5B6B66"/>
            </a:solidFill>
            <a:prstDash val="solid"/>
            <a:tailEnd type="triangle"/>
          </a:ln>
        </p:spPr>
      </p:sp>
      <p:sp>
        <p:nvSpPr>
          <p:cNvPr id="24" name="arrow-152"/>
          <p:cNvSpPr/>
          <p:nvPr/>
        </p:nvSpPr>
        <p:spPr>
          <a:xfrm>
            <a:off x="8549640" y="2423160"/>
            <a:ext cx="1261872" cy="731520"/>
          </a:xfrm>
          <a:prstGeom prst="line">
            <a:avLst/>
          </a:prstGeom>
          <a:noFill/>
          <a:ln w="19050">
            <a:solidFill>
              <a:srgbClr val="5B6B66"/>
            </a:solidFill>
            <a:prstDash val="solid"/>
            <a:tailEnd type="triangle"/>
          </a:ln>
        </p:spPr>
      </p:sp>
      <p:sp>
        <p:nvSpPr>
          <p:cNvPr id="25" name="arrow-153"/>
          <p:cNvSpPr/>
          <p:nvPr/>
        </p:nvSpPr>
        <p:spPr>
          <a:xfrm flipV="1">
            <a:off x="10725912" y="2423160"/>
            <a:ext cx="914" cy="548640"/>
          </a:xfrm>
          <a:prstGeom prst="line">
            <a:avLst/>
          </a:prstGeom>
          <a:noFill/>
          <a:ln w="19050">
            <a:solidFill>
              <a:srgbClr val="5B6B66"/>
            </a:solidFill>
            <a:prstDash val="solid"/>
            <a:tailEnd type="triangle"/>
          </a:ln>
        </p:spPr>
      </p:sp>
      <p:sp>
        <p:nvSpPr>
          <p:cNvPr id="26" name="text-154"/>
          <p:cNvSpPr txBox="1"/>
          <p:nvPr/>
        </p:nvSpPr>
        <p:spPr>
          <a:xfrm>
            <a:off x="6720840" y="3383280"/>
            <a:ext cx="2926080" cy="274320"/>
          </a:xfrm>
          <a:prstGeom prst="rect">
            <a:avLst/>
          </a:prstGeom>
          <a:noFill/>
          <a:ln/>
        </p:spPr>
        <p:txBody>
          <a:bodyPr wrap="square" lIns="0" tIns="0" rIns="0" bIns="0" rtlCol="0" anchor="t"/>
          <a:lstStyle/>
          <a:p>
            <a:pPr indent="0" marL="0">
              <a:buNone/>
            </a:pPr>
            <a:r>
              <a:rPr lang="en-US" sz="1100" dirty="0">
                <a:solidFill>
                  <a:schemeClr val="accent5"/>
                </a:solidFill>
              </a:rPr>
              <a:t>MEDIUM or below: auto-approve</a:t>
            </a:r>
            <a:endParaRPr lang="en-US" sz="1100" dirty="0"/>
          </a:p>
        </p:txBody>
      </p:sp>
      <p:sp>
        <p:nvSpPr>
          <p:cNvPr id="27" name="card-155"/>
          <p:cNvSpPr/>
          <p:nvPr/>
        </p:nvSpPr>
        <p:spPr>
          <a:xfrm>
            <a:off x="548640" y="4023360"/>
            <a:ext cx="2615184" cy="1737360"/>
          </a:xfrm>
          <a:prstGeom prst="roundRect">
            <a:avLst>
              <a:gd name="adj" fmla="val 6316"/>
            </a:avLst>
          </a:prstGeom>
          <a:solidFill>
            <a:schemeClr val="bg2"/>
          </a:solidFill>
          <a:ln w="12700">
            <a:solidFill>
              <a:schemeClr val="bg2"/>
            </a:solidFill>
            <a:prstDash val="solid"/>
          </a:ln>
        </p:spPr>
      </p:sp>
      <p:sp>
        <p:nvSpPr>
          <p:cNvPr id="28" name="text-156"/>
          <p:cNvSpPr txBox="1"/>
          <p:nvPr/>
        </p:nvSpPr>
        <p:spPr>
          <a:xfrm>
            <a:off x="749808" y="4206240"/>
            <a:ext cx="2212848" cy="1417320"/>
          </a:xfrm>
          <a:prstGeom prst="rect">
            <a:avLst/>
          </a:prstGeom>
          <a:noFill/>
          <a:ln/>
        </p:spPr>
        <p:txBody>
          <a:bodyPr wrap="square" lIns="0" tIns="0" rIns="0" bIns="0" rtlCol="0" anchor="t"/>
          <a:lstStyle/>
          <a:p>
            <a:pPr indent="0" marL="0">
              <a:buNone/>
            </a:pPr>
            <a:r>
              <a:rPr lang="en-US" sz="1100" b="1" spc="100" kern="0" dirty="0">
                <a:solidFill>
                  <a:schemeClr val="accent3"/>
                </a:solidFill>
              </a:rPr>
              <a:t>ONE RUN</a:t>
            </a:r>
            <a:endParaRPr lang="en-US" sz="1400" dirty="0"/>
          </a:p>
          <a:p>
            <a:pPr indent="0" marL="0">
              <a:buNone/>
            </a:pPr>
            <a:r>
              <a:rPr lang="en-US" sz="1700" b="1" dirty="0">
                <a:solidFill>
                  <a:schemeClr val="tx1"/>
                </a:solidFill>
              </a:rPr>
              <a:t>State</a:t>
            </a:r>
            <a:endParaRPr lang="en-US" sz="1400" dirty="0"/>
          </a:p>
          <a:p>
            <a:pPr indent="0" marL="0">
              <a:buNone/>
            </a:pPr>
            <a:r>
              <a:rPr lang="en-US" sz="1400" dirty="0">
                <a:solidFill>
                  <a:schemeClr val="accent5"/>
                </a:solidFill>
              </a:rPr>
              <a:t>Findings, plan and decision flowing between nodes</a:t>
            </a:r>
            <a:endParaRPr lang="en-US" sz="1400" dirty="0"/>
          </a:p>
        </p:txBody>
      </p:sp>
      <p:sp>
        <p:nvSpPr>
          <p:cNvPr id="29" name="card-157"/>
          <p:cNvSpPr/>
          <p:nvPr/>
        </p:nvSpPr>
        <p:spPr>
          <a:xfrm>
            <a:off x="3364992" y="4023360"/>
            <a:ext cx="2615184" cy="1737360"/>
          </a:xfrm>
          <a:prstGeom prst="roundRect">
            <a:avLst>
              <a:gd name="adj" fmla="val 6316"/>
            </a:avLst>
          </a:prstGeom>
          <a:solidFill>
            <a:schemeClr val="bg2"/>
          </a:solidFill>
          <a:ln w="12700">
            <a:solidFill>
              <a:schemeClr val="bg2"/>
            </a:solidFill>
            <a:prstDash val="solid"/>
          </a:ln>
        </p:spPr>
      </p:sp>
      <p:sp>
        <p:nvSpPr>
          <p:cNvPr id="30" name="text-158"/>
          <p:cNvSpPr txBox="1"/>
          <p:nvPr/>
        </p:nvSpPr>
        <p:spPr>
          <a:xfrm>
            <a:off x="3566160" y="4206240"/>
            <a:ext cx="2212848" cy="1417320"/>
          </a:xfrm>
          <a:prstGeom prst="rect">
            <a:avLst/>
          </a:prstGeom>
          <a:noFill/>
          <a:ln/>
        </p:spPr>
        <p:txBody>
          <a:bodyPr wrap="square" lIns="0" tIns="0" rIns="0" bIns="0" rtlCol="0" anchor="t"/>
          <a:lstStyle/>
          <a:p>
            <a:pPr indent="0" marL="0">
              <a:buNone/>
            </a:pPr>
            <a:r>
              <a:rPr lang="en-US" sz="1100" b="1" spc="100" kern="0" dirty="0">
                <a:solidFill>
                  <a:schemeClr val="accent3"/>
                </a:solidFill>
              </a:rPr>
              <a:t>ONE THREAD</a:t>
            </a:r>
            <a:endParaRPr lang="en-US" sz="1400" dirty="0"/>
          </a:p>
          <a:p>
            <a:pPr indent="0" marL="0">
              <a:buNone/>
            </a:pPr>
            <a:r>
              <a:rPr lang="en-US" sz="1700" b="1" dirty="0">
                <a:solidFill>
                  <a:schemeClr val="tx1"/>
                </a:solidFill>
              </a:rPr>
              <a:t>Checkpointer</a:t>
            </a:r>
            <a:endParaRPr lang="en-US" sz="1400" dirty="0"/>
          </a:p>
          <a:p>
            <a:pPr indent="0" marL="0">
              <a:buNone/>
            </a:pPr>
            <a:r>
              <a:rPr lang="en-US" sz="1400" dirty="0">
                <a:solidFill>
                  <a:schemeClr val="accent5"/>
                </a:solidFill>
              </a:rPr>
              <a:t>Pause for days, resume from any process, time-travel</a:t>
            </a:r>
            <a:endParaRPr lang="en-US" sz="1400" dirty="0"/>
          </a:p>
        </p:txBody>
      </p:sp>
      <p:sp>
        <p:nvSpPr>
          <p:cNvPr id="31" name="card-159"/>
          <p:cNvSpPr/>
          <p:nvPr/>
        </p:nvSpPr>
        <p:spPr>
          <a:xfrm>
            <a:off x="6181344" y="4023360"/>
            <a:ext cx="2615184" cy="1737360"/>
          </a:xfrm>
          <a:prstGeom prst="roundRect">
            <a:avLst>
              <a:gd name="adj" fmla="val 6316"/>
            </a:avLst>
          </a:prstGeom>
          <a:solidFill>
            <a:schemeClr val="bg2"/>
          </a:solidFill>
          <a:ln w="12700">
            <a:solidFill>
              <a:schemeClr val="bg2"/>
            </a:solidFill>
            <a:prstDash val="solid"/>
          </a:ln>
        </p:spPr>
      </p:sp>
      <p:sp>
        <p:nvSpPr>
          <p:cNvPr id="32" name="text-160"/>
          <p:cNvSpPr txBox="1"/>
          <p:nvPr/>
        </p:nvSpPr>
        <p:spPr>
          <a:xfrm>
            <a:off x="6382512" y="4206240"/>
            <a:ext cx="2212848" cy="1417320"/>
          </a:xfrm>
          <a:prstGeom prst="rect">
            <a:avLst/>
          </a:prstGeom>
          <a:noFill/>
          <a:ln/>
        </p:spPr>
        <p:txBody>
          <a:bodyPr wrap="square" lIns="0" tIns="0" rIns="0" bIns="0" rtlCol="0" anchor="t"/>
          <a:lstStyle/>
          <a:p>
            <a:pPr indent="0" marL="0">
              <a:buNone/>
            </a:pPr>
            <a:r>
              <a:rPr lang="en-US" sz="1100" b="1" spc="100" kern="0" dirty="0">
                <a:solidFill>
                  <a:schemeClr val="accent3"/>
                </a:solidFill>
              </a:rPr>
              <a:t>ACROSS THREADS</a:t>
            </a:r>
            <a:endParaRPr lang="en-US" sz="1400" dirty="0"/>
          </a:p>
          <a:p>
            <a:pPr indent="0" marL="0">
              <a:buNone/>
            </a:pPr>
            <a:r>
              <a:rPr lang="en-US" sz="1700" b="1" dirty="0">
                <a:solidFill>
                  <a:schemeClr val="tx1"/>
                </a:solidFill>
              </a:rPr>
              <a:t>Store</a:t>
            </a:r>
            <a:endParaRPr lang="en-US" sz="1400" dirty="0"/>
          </a:p>
          <a:p>
            <a:pPr indent="0" marL="0">
              <a:buNone/>
            </a:pPr>
            <a:r>
              <a:rPr lang="en-US" sz="1400" dirty="0">
                <a:solidFill>
                  <a:schemeClr val="accent5"/>
                </a:solidFill>
              </a:rPr>
              <a:t>Risk acceptances per team: next run suppresses the rule</a:t>
            </a:r>
            <a:endParaRPr lang="en-US" sz="1400" dirty="0"/>
          </a:p>
        </p:txBody>
      </p:sp>
      <p:sp>
        <p:nvSpPr>
          <p:cNvPr id="33" name="card-161"/>
          <p:cNvSpPr/>
          <p:nvPr/>
        </p:nvSpPr>
        <p:spPr>
          <a:xfrm>
            <a:off x="8997696" y="4023360"/>
            <a:ext cx="2615184" cy="1737360"/>
          </a:xfrm>
          <a:prstGeom prst="roundRect">
            <a:avLst>
              <a:gd name="adj" fmla="val 6316"/>
            </a:avLst>
          </a:prstGeom>
          <a:solidFill>
            <a:schemeClr val="bg2"/>
          </a:solidFill>
          <a:ln w="12700">
            <a:solidFill>
              <a:schemeClr val="bg2"/>
            </a:solidFill>
            <a:prstDash val="solid"/>
          </a:ln>
        </p:spPr>
      </p:sp>
      <p:sp>
        <p:nvSpPr>
          <p:cNvPr id="34" name="text-162"/>
          <p:cNvSpPr txBox="1"/>
          <p:nvPr/>
        </p:nvSpPr>
        <p:spPr>
          <a:xfrm>
            <a:off x="9198864" y="4206240"/>
            <a:ext cx="2212848" cy="1417320"/>
          </a:xfrm>
          <a:prstGeom prst="rect">
            <a:avLst/>
          </a:prstGeom>
          <a:noFill/>
          <a:ln/>
        </p:spPr>
        <p:txBody>
          <a:bodyPr wrap="square" lIns="0" tIns="0" rIns="0" bIns="0" rtlCol="0" anchor="t"/>
          <a:lstStyle/>
          <a:p>
            <a:pPr indent="0" marL="0">
              <a:buNone/>
            </a:pPr>
            <a:r>
              <a:rPr lang="en-US" sz="1100" b="1" spc="100" kern="0" dirty="0">
                <a:solidFill>
                  <a:schemeClr val="accent3"/>
                </a:solidFill>
              </a:rPr>
              <a:t>ONE CALL</a:t>
            </a:r>
            <a:endParaRPr lang="en-US" sz="1400" dirty="0"/>
          </a:p>
          <a:p>
            <a:pPr indent="0" marL="0">
              <a:buNone/>
            </a:pPr>
            <a:r>
              <a:rPr lang="en-US" sz="1700" b="1" dirty="0">
                <a:solidFill>
                  <a:schemeClr val="tx1"/>
                </a:solidFill>
              </a:rPr>
              <a:t>Runtime context</a:t>
            </a:r>
            <a:endParaRPr lang="en-US" sz="1400" dirty="0"/>
          </a:p>
          <a:p>
            <a:pPr indent="0" marL="0">
              <a:buNone/>
            </a:pPr>
            <a:r>
              <a:rPr lang="en-US" sz="1400" dirty="0">
                <a:solidFill>
                  <a:schemeClr val="accent5"/>
                </a:solidFill>
              </a:rPr>
              <a:t>Who is asking (team, reviewer): read-only, not state</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lstStyle/>
          <a:p>
            <a:pPr indent="0" marL="0">
              <a:buNone/>
            </a:pPr>
            <a:r>
              <a:rPr lang="en-US" sz="1200" b="1" spc="200" kern="0" dirty="0">
                <a:solidFill>
                  <a:schemeClr val="accent3"/>
                </a:solidFill>
              </a:rPr>
              <a:t>MODULE 4 · MULTI-AGENT</a:t>
            </a:r>
            <a:endParaRPr lang="en-US" sz="1200" dirty="0"/>
          </a:p>
        </p:txBody>
      </p:sp>
      <p:sp>
        <p:nvSpPr>
          <p:cNvPr id="3" name="Text 0"/>
          <p:cNvSpPr/>
          <p:nvPr>
            <p:ph idx="101" type="title" hasCustomPrompt="1"/>
          </p:nvPr>
        </p:nvSpPr>
        <p:spPr>
          <a:xfrm>
            <a:off x="548640" y="58521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A supervisor delegates to narrow specialists</a:t>
            </a:r>
            <a:endParaRPr lang="en-US" sz="3200" dirty="0"/>
          </a:p>
        </p:txBody>
      </p:sp>
      <p:sp>
        <p:nvSpPr>
          <p:cNvPr id="4" name="card-163"/>
          <p:cNvSpPr/>
          <p:nvPr/>
        </p:nvSpPr>
        <p:spPr>
          <a:xfrm>
            <a:off x="1691640" y="1600200"/>
            <a:ext cx="3291840" cy="868680"/>
          </a:xfrm>
          <a:prstGeom prst="roundRect">
            <a:avLst>
              <a:gd name="adj" fmla="val 12632"/>
            </a:avLst>
          </a:prstGeom>
          <a:solidFill>
            <a:schemeClr val="tx2"/>
          </a:solidFill>
          <a:ln w="12700">
            <a:solidFill>
              <a:schemeClr val="tx2"/>
            </a:solidFill>
            <a:prstDash val="solid"/>
          </a:ln>
        </p:spPr>
      </p:sp>
      <p:sp>
        <p:nvSpPr>
          <p:cNvPr id="5" name="box-label-164"/>
          <p:cNvSpPr txBox="1"/>
          <p:nvPr/>
        </p:nvSpPr>
        <p:spPr>
          <a:xfrm>
            <a:off x="1783080" y="1600200"/>
            <a:ext cx="3108960" cy="868680"/>
          </a:xfrm>
          <a:prstGeom prst="rect">
            <a:avLst/>
          </a:prstGeom>
          <a:noFill/>
          <a:ln/>
        </p:spPr>
        <p:txBody>
          <a:bodyPr wrap="square" lIns="0" tIns="0" rIns="0" bIns="0" rtlCol="0" anchor="ctr"/>
          <a:lstStyle/>
          <a:p>
            <a:pPr algn="ctr" indent="0" marL="0">
              <a:buNone/>
            </a:pPr>
            <a:r>
              <a:rPr lang="en-US" sz="1600" b="1" dirty="0">
                <a:solidFill>
                  <a:schemeClr val="bg1"/>
                </a:solidFill>
              </a:rPr>
              <a:t>psc_supervisor</a:t>
            </a:r>
            <a:endParaRPr lang="en-US" sz="1600" dirty="0"/>
          </a:p>
          <a:p>
            <a:pPr algn="ctr" indent="0" marL="0">
              <a:buNone/>
            </a:pPr>
            <a:r>
              <a:rPr lang="en-US" sz="1100" dirty="0">
                <a:solidFill>
                  <a:schemeClr val="accent4"/>
                </a:solidFill>
              </a:rPr>
              <a:t>Sonnet · plans, delegates, synthesizes</a:t>
            </a:r>
            <a:endParaRPr lang="en-US" sz="1600" dirty="0"/>
          </a:p>
        </p:txBody>
      </p:sp>
      <p:sp>
        <p:nvSpPr>
          <p:cNvPr id="6" name="card-165"/>
          <p:cNvSpPr/>
          <p:nvPr/>
        </p:nvSpPr>
        <p:spPr>
          <a:xfrm>
            <a:off x="548640" y="3246120"/>
            <a:ext cx="1764792" cy="914400"/>
          </a:xfrm>
          <a:prstGeom prst="roundRect">
            <a:avLst>
              <a:gd name="adj" fmla="val 12000"/>
            </a:avLst>
          </a:prstGeom>
          <a:solidFill>
            <a:schemeClr val="bg2"/>
          </a:solidFill>
          <a:ln w="12700">
            <a:solidFill>
              <a:schemeClr val="bg2"/>
            </a:solidFill>
            <a:prstDash val="solid"/>
          </a:ln>
        </p:spPr>
      </p:sp>
      <p:sp>
        <p:nvSpPr>
          <p:cNvPr id="7" name="box-label-166"/>
          <p:cNvSpPr txBox="1"/>
          <p:nvPr/>
        </p:nvSpPr>
        <p:spPr>
          <a:xfrm>
            <a:off x="640080" y="3246120"/>
            <a:ext cx="1581912" cy="914400"/>
          </a:xfrm>
          <a:prstGeom prst="rect">
            <a:avLst/>
          </a:prstGeom>
          <a:noFill/>
          <a:ln/>
        </p:spPr>
        <p:txBody>
          <a:bodyPr wrap="square" lIns="0" tIns="0" rIns="0" bIns="0" rtlCol="0" anchor="ctr"/>
          <a:lstStyle/>
          <a:p>
            <a:pPr algn="ctr" indent="0" marL="0">
              <a:buNone/>
            </a:pPr>
            <a:r>
              <a:rPr lang="en-US" sz="1300" b="1" dirty="0">
                <a:solidFill>
                  <a:schemeClr val="tx1"/>
                </a:solidFill>
              </a:rPr>
              <a:t>vuln_analyst</a:t>
            </a:r>
            <a:endParaRPr lang="en-US" sz="1300" dirty="0"/>
          </a:p>
          <a:p>
            <a:pPr algn="ctr" indent="0" marL="0">
              <a:buNone/>
            </a:pPr>
            <a:r>
              <a:rPr lang="en-US" sz="1100" dirty="0">
                <a:solidFill>
                  <a:schemeClr val="accent5"/>
                </a:solidFill>
              </a:rPr>
              <a:t>Haiku · lookup_cve</a:t>
            </a:r>
            <a:endParaRPr lang="en-US" sz="1300" dirty="0"/>
          </a:p>
        </p:txBody>
      </p:sp>
      <p:sp>
        <p:nvSpPr>
          <p:cNvPr id="8" name="arrow-167"/>
          <p:cNvSpPr/>
          <p:nvPr/>
        </p:nvSpPr>
        <p:spPr>
          <a:xfrm flipH="1">
            <a:off x="1431036" y="2468880"/>
            <a:ext cx="1906524" cy="777240"/>
          </a:xfrm>
          <a:prstGeom prst="line">
            <a:avLst/>
          </a:prstGeom>
          <a:noFill/>
          <a:ln w="19050">
            <a:solidFill>
              <a:srgbClr val="5B6B66"/>
            </a:solidFill>
            <a:prstDash val="solid"/>
            <a:tailEnd type="triangle"/>
          </a:ln>
        </p:spPr>
      </p:sp>
      <p:sp>
        <p:nvSpPr>
          <p:cNvPr id="9" name="card-168"/>
          <p:cNvSpPr/>
          <p:nvPr/>
        </p:nvSpPr>
        <p:spPr>
          <a:xfrm>
            <a:off x="2441448" y="3246120"/>
            <a:ext cx="1764792" cy="914400"/>
          </a:xfrm>
          <a:prstGeom prst="roundRect">
            <a:avLst>
              <a:gd name="adj" fmla="val 12000"/>
            </a:avLst>
          </a:prstGeom>
          <a:solidFill>
            <a:schemeClr val="bg2"/>
          </a:solidFill>
          <a:ln w="12700">
            <a:solidFill>
              <a:schemeClr val="bg2"/>
            </a:solidFill>
            <a:prstDash val="solid"/>
          </a:ln>
        </p:spPr>
      </p:sp>
      <p:sp>
        <p:nvSpPr>
          <p:cNvPr id="10" name="box-label-169"/>
          <p:cNvSpPr txBox="1"/>
          <p:nvPr/>
        </p:nvSpPr>
        <p:spPr>
          <a:xfrm>
            <a:off x="2532888" y="3246120"/>
            <a:ext cx="1581912" cy="914400"/>
          </a:xfrm>
          <a:prstGeom prst="rect">
            <a:avLst/>
          </a:prstGeom>
          <a:noFill/>
          <a:ln/>
        </p:spPr>
        <p:txBody>
          <a:bodyPr wrap="square" lIns="0" tIns="0" rIns="0" bIns="0" rtlCol="0" anchor="ctr"/>
          <a:lstStyle/>
          <a:p>
            <a:pPr algn="ctr" indent="0" marL="0">
              <a:buNone/>
            </a:pPr>
            <a:r>
              <a:rPr lang="en-US" sz="1300" b="1" dirty="0">
                <a:solidFill>
                  <a:schemeClr val="tx1"/>
                </a:solidFill>
              </a:rPr>
              <a:t>k8s_auditor</a:t>
            </a:r>
            <a:endParaRPr lang="en-US" sz="1300" dirty="0"/>
          </a:p>
          <a:p>
            <a:pPr algn="ctr" indent="0" marL="0">
              <a:buNone/>
            </a:pPr>
            <a:r>
              <a:rPr lang="en-US" sz="1100" dirty="0">
                <a:solidFill>
                  <a:schemeClr val="accent5"/>
                </a:solidFill>
              </a:rPr>
              <a:t>Haiku · scanner</a:t>
            </a:r>
            <a:endParaRPr lang="en-US" sz="1300" dirty="0"/>
          </a:p>
        </p:txBody>
      </p:sp>
      <p:sp>
        <p:nvSpPr>
          <p:cNvPr id="11" name="arrow-170"/>
          <p:cNvSpPr/>
          <p:nvPr/>
        </p:nvSpPr>
        <p:spPr>
          <a:xfrm flipH="1">
            <a:off x="3323844" y="2468880"/>
            <a:ext cx="13716" cy="777240"/>
          </a:xfrm>
          <a:prstGeom prst="line">
            <a:avLst/>
          </a:prstGeom>
          <a:noFill/>
          <a:ln w="19050">
            <a:solidFill>
              <a:srgbClr val="5B6B66"/>
            </a:solidFill>
            <a:prstDash val="solid"/>
            <a:tailEnd type="triangle"/>
          </a:ln>
        </p:spPr>
      </p:sp>
      <p:sp>
        <p:nvSpPr>
          <p:cNvPr id="12" name="card-171"/>
          <p:cNvSpPr/>
          <p:nvPr/>
        </p:nvSpPr>
        <p:spPr>
          <a:xfrm>
            <a:off x="4334256" y="3246120"/>
            <a:ext cx="1764792" cy="914400"/>
          </a:xfrm>
          <a:prstGeom prst="roundRect">
            <a:avLst>
              <a:gd name="adj" fmla="val 12000"/>
            </a:avLst>
          </a:prstGeom>
          <a:solidFill>
            <a:schemeClr val="bg2"/>
          </a:solidFill>
          <a:ln w="12700">
            <a:solidFill>
              <a:schemeClr val="bg2"/>
            </a:solidFill>
            <a:prstDash val="solid"/>
          </a:ln>
        </p:spPr>
      </p:sp>
      <p:sp>
        <p:nvSpPr>
          <p:cNvPr id="13" name="box-label-172"/>
          <p:cNvSpPr txBox="1"/>
          <p:nvPr/>
        </p:nvSpPr>
        <p:spPr>
          <a:xfrm>
            <a:off x="4425696" y="3246120"/>
            <a:ext cx="1581912" cy="914400"/>
          </a:xfrm>
          <a:prstGeom prst="rect">
            <a:avLst/>
          </a:prstGeom>
          <a:noFill/>
          <a:ln/>
        </p:spPr>
        <p:txBody>
          <a:bodyPr wrap="square" lIns="0" tIns="0" rIns="0" bIns="0" rtlCol="0" anchor="ctr"/>
          <a:lstStyle/>
          <a:p>
            <a:pPr algn="ctr" indent="0" marL="0">
              <a:buNone/>
            </a:pPr>
            <a:r>
              <a:rPr lang="en-US" sz="1300" b="1" dirty="0">
                <a:solidFill>
                  <a:schemeClr val="tx1"/>
                </a:solidFill>
              </a:rPr>
              <a:t>remediation_writer</a:t>
            </a:r>
            <a:endParaRPr lang="en-US" sz="1300" dirty="0"/>
          </a:p>
          <a:p>
            <a:pPr algn="ctr" indent="0" marL="0">
              <a:buNone/>
            </a:pPr>
            <a:r>
              <a:rPr lang="en-US" sz="1100" dirty="0">
                <a:solidFill>
                  <a:schemeClr val="accent5"/>
                </a:solidFill>
              </a:rPr>
              <a:t>Sonnet · runbooks</a:t>
            </a:r>
            <a:endParaRPr lang="en-US" sz="1300" dirty="0"/>
          </a:p>
        </p:txBody>
      </p:sp>
      <p:sp>
        <p:nvSpPr>
          <p:cNvPr id="14" name="arrow-173"/>
          <p:cNvSpPr/>
          <p:nvPr/>
        </p:nvSpPr>
        <p:spPr>
          <a:xfrm>
            <a:off x="3337560" y="2468880"/>
            <a:ext cx="1879092" cy="777240"/>
          </a:xfrm>
          <a:prstGeom prst="line">
            <a:avLst/>
          </a:prstGeom>
          <a:noFill/>
          <a:ln w="19050">
            <a:solidFill>
              <a:srgbClr val="5B6B66"/>
            </a:solidFill>
            <a:prstDash val="solid"/>
            <a:tailEnd type="triangle"/>
          </a:ln>
        </p:spPr>
      </p:sp>
      <p:sp>
        <p:nvSpPr>
          <p:cNvPr id="15" name="text-174"/>
          <p:cNvSpPr txBox="1"/>
          <p:nvPr/>
        </p:nvSpPr>
        <p:spPr>
          <a:xfrm>
            <a:off x="548640" y="4434840"/>
            <a:ext cx="5577840" cy="1097280"/>
          </a:xfrm>
          <a:prstGeom prst="rect">
            <a:avLst/>
          </a:prstGeom>
          <a:noFill/>
          <a:ln/>
        </p:spPr>
        <p:txBody>
          <a:bodyPr wrap="square" lIns="0" tIns="0" rIns="0" bIns="0" rtlCol="0" anchor="t"/>
          <a:lstStyle/>
          <a:p>
            <a:pPr indent="0" marL="0">
              <a:buNone/>
            </a:pPr>
            <a:r>
              <a:rPr lang="en-US" sz="1400" b="1" dirty="0">
                <a:solidFill>
                  <a:schemeClr val="tx1"/>
                </a:solidFill>
              </a:rPr>
              <a:t>Subagents are stateless: </a:t>
            </a:r>
            <a:pPr indent="0" marL="0">
              <a:buNone/>
            </a:pPr>
            <a:r>
              <a:rPr lang="en-US" sz="1400" dirty="0">
                <a:solidFill>
                  <a:schemeClr val="tx1"/>
                </a:solidFill>
              </a:rPr>
              <a:t>they get only the task and return only their final message, which keeps the supervisor's context small and lets mechanical work run on a cheaper model.</a:t>
            </a:r>
            <a:endParaRPr lang="en-US" sz="1400" dirty="0"/>
          </a:p>
        </p:txBody>
      </p:sp>
      <p:sp>
        <p:nvSpPr>
          <p:cNvPr id="16" name="text-175"/>
          <p:cNvSpPr txBox="1"/>
          <p:nvPr/>
        </p:nvSpPr>
        <p:spPr>
          <a:xfrm>
            <a:off x="548640" y="5577840"/>
            <a:ext cx="5577840" cy="457200"/>
          </a:xfrm>
          <a:prstGeom prst="rect">
            <a:avLst/>
          </a:prstGeom>
          <a:noFill/>
          <a:ln/>
        </p:spPr>
        <p:txBody>
          <a:bodyPr wrap="square" lIns="0" tIns="0" rIns="0" bIns="0" rtlCol="0" anchor="t"/>
          <a:lstStyle/>
          <a:p>
            <a:pPr indent="0" marL="0">
              <a:buNone/>
            </a:pPr>
            <a:r>
              <a:rPr lang="en-US" sz="1300" i="1" dirty="0">
                <a:solidFill>
                  <a:schemeClr val="accent3"/>
                </a:solidFill>
              </a:rPr>
              <a:t>Delegation runs in parallel; each specialist is a nested trace in LangSmith.</a:t>
            </a:r>
            <a:endParaRPr lang="en-US" sz="1300" dirty="0"/>
          </a:p>
        </p:txBody>
      </p:sp>
      <p:graphicFrame>
        <p:nvGraphicFramePr>
          <p:cNvPr id="9" name="patterns-176"/>
          <p:cNvGraphicFramePr>
            <a:graphicFrameLocks noGrp="1"/>
          </p:cNvGraphicFramePr>
          <p:nvPr>
            <p:extLst>
              <p:ext uri="{D42A27DB-BD31-4B8C-83A1-F6EECF244321}">
                <p14:modId xmlns:p14="http://schemas.microsoft.com/office/powerpoint/2010/main" val="1579011935"/>
              </p:ext>
            </p:extLst>
          </p:nvPr>
        </p:nvGraphicFramePr>
        <p:xfrm>
          <a:off x="6400800" y="1600200"/>
          <a:ext cx="5239512" cy="914400"/>
        </p:xfrm>
        <a:graphic>
          <a:graphicData uri="http://schemas.openxmlformats.org/drawingml/2006/table">
            <a:tbl>
              <a:tblPr/>
              <a:tblGrid>
                <a:gridCol w="1600200"/>
                <a:gridCol w="3639312"/>
              </a:tblGrid>
              <a:tr h="566928">
                <a:tc>
                  <a:txBody>
                    <a:bodyPr/>
                    <a:lstStyle/>
                    <a:p>
                      <a:pPr indent="0" marL="0">
                        <a:buNone/>
                      </a:pPr>
                      <a:r>
                        <a:rPr lang="en-US" sz="1300" b="1" dirty="0">
                          <a:solidFill>
                            <a:schemeClr val="bg1"/>
                          </a:solidFill>
                        </a:rPr>
                        <a:t>Pattern</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accent3"/>
                    </a:solidFill>
                  </a:tcPr>
                </a:tc>
                <a:tc>
                  <a:txBody>
                    <a:bodyPr/>
                    <a:lstStyle/>
                    <a:p>
                      <a:pPr indent="0" marL="0">
                        <a:buNone/>
                      </a:pPr>
                      <a:r>
                        <a:rPr lang="en-US" sz="1300" b="1" dirty="0">
                          <a:solidFill>
                            <a:schemeClr val="bg1"/>
                          </a:solidFill>
                        </a:rPr>
                        <a:t>Pick it when</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accent3"/>
                    </a:solidFill>
                  </a:tcPr>
                </a:tc>
              </a:tr>
              <a:tr h="566928">
                <a:tc>
                  <a:txBody>
                    <a:bodyPr/>
                    <a:lstStyle/>
                    <a:p>
                      <a:pPr indent="0" marL="0">
                        <a:buNone/>
                      </a:pPr>
                      <a:r>
                        <a:rPr lang="en-US" sz="1300" b="1" dirty="0">
                          <a:solidFill>
                            <a:schemeClr val="tx1"/>
                          </a:solidFill>
                        </a:rPr>
                        <a:t>Subagents</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Parallel, multi-domain work; teams own separate agents</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300" b="1" dirty="0">
                          <a:solidFill>
                            <a:schemeClr val="tx1"/>
                          </a:solidFill>
                        </a:rPr>
                        <a:t>Handoffs</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The user talks directly to the specialist</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300" b="1" dirty="0">
                          <a:solidFill>
                            <a:schemeClr val="tx1"/>
                          </a:solidFill>
                        </a:rPr>
                        <a:t>Skills</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Many narrow capabilities, one agent in control</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300" b="1" dirty="0">
                          <a:solidFill>
                            <a:schemeClr val="tx1"/>
                          </a:solidFill>
                        </a:rPr>
                        <a:t>Router</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Clear input categories, parallel fan-out</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300" b="1" dirty="0">
                          <a:solidFill>
                            <a:schemeClr val="tx1"/>
                          </a:solidFill>
                        </a:rPr>
                        <a:t>Custom workflow</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Compliance-bound process (Module 3)</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18" name="text-177"/>
          <p:cNvSpPr txBox="1"/>
          <p:nvPr/>
        </p:nvSpPr>
        <p:spPr>
          <a:xfrm>
            <a:off x="6400800" y="5257800"/>
            <a:ext cx="5239512" cy="731520"/>
          </a:xfrm>
          <a:prstGeom prst="rect">
            <a:avLst/>
          </a:prstGeom>
          <a:noFill/>
          <a:ln/>
        </p:spPr>
        <p:txBody>
          <a:bodyPr wrap="square" lIns="0" tIns="0" rIns="0" bIns="0" rtlCol="0" anchor="t"/>
          <a:lstStyle/>
          <a:p>
            <a:pPr indent="0" marL="0">
              <a:buNone/>
            </a:pPr>
            <a:r>
              <a:rPr lang="en-US" sz="1300" dirty="0">
                <a:solidFill>
                  <a:schemeClr val="accent5"/>
                </a:solidFill>
              </a:rPr>
              <a:t>Always benchmark against the single agent from Module 1 before recommending multi-agent.</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lstStyle/>
          <a:p>
            <a:pPr indent="0" marL="0">
              <a:buNone/>
            </a:pPr>
            <a:r>
              <a:rPr lang="en-US" sz="1200" b="1" spc="200" kern="0" dirty="0">
                <a:solidFill>
                  <a:schemeClr val="accent3"/>
                </a:solidFill>
              </a:rPr>
              <a:t>MODULE 5 · DEEP AGENTS</a:t>
            </a:r>
            <a:endParaRPr lang="en-US" sz="1200" dirty="0"/>
          </a:p>
        </p:txBody>
      </p:sp>
      <p:sp>
        <p:nvSpPr>
          <p:cNvPr id="3" name="Text 0"/>
          <p:cNvSpPr/>
          <p:nvPr>
            <p:ph idx="101" type="title" hasCustomPrompt="1"/>
          </p:nvPr>
        </p:nvSpPr>
        <p:spPr>
          <a:xfrm>
            <a:off x="548640" y="58521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A long-horizon audit agent with a harness</a:t>
            </a:r>
            <a:endParaRPr lang="en-US" sz="3200" dirty="0"/>
          </a:p>
        </p:txBody>
      </p:sp>
      <p:sp>
        <p:nvSpPr>
          <p:cNvPr id="4" name="card-178"/>
          <p:cNvSpPr/>
          <p:nvPr/>
        </p:nvSpPr>
        <p:spPr>
          <a:xfrm>
            <a:off x="548640" y="1600200"/>
            <a:ext cx="2377440" cy="1783080"/>
          </a:xfrm>
          <a:prstGeom prst="roundRect">
            <a:avLst>
              <a:gd name="adj" fmla="val 6154"/>
            </a:avLst>
          </a:prstGeom>
          <a:solidFill>
            <a:schemeClr val="bg2"/>
          </a:solidFill>
          <a:ln w="12700">
            <a:solidFill>
              <a:schemeClr val="bg2"/>
            </a:solidFill>
            <a:prstDash val="solid"/>
          </a:ln>
        </p:spPr>
      </p:sp>
      <p:sp>
        <p:nvSpPr>
          <p:cNvPr id="5" name="icon-bg-179"/>
          <p:cNvSpPr/>
          <p:nvPr/>
        </p:nvSpPr>
        <p:spPr>
          <a:xfrm>
            <a:off x="731520" y="1783080"/>
            <a:ext cx="502920" cy="502920"/>
          </a:xfrm>
          <a:prstGeom prst="ellipse">
            <a:avLst/>
          </a:prstGeom>
          <a:solidFill>
            <a:schemeClr val="accent1"/>
          </a:solidFill>
          <a:ln w="12700">
            <a:solidFill>
              <a:schemeClr val="accent1"/>
            </a:solidFill>
            <a:prstDash val="solid"/>
          </a:ln>
        </p:spPr>
      </p:sp>
      <p:pic>
        <p:nvPicPr>
          <p:cNvPr id="6" name="icon-180" descr="preencoded.png">    </p:cNvPr>
          <p:cNvPicPr>
            <a:picLocks noChangeAspect="1"/>
          </p:cNvPicPr>
          <p:nvPr/>
        </p:nvPicPr>
        <p:blipFill>
          <a:blip r:embed="rId1"/>
          <a:stretch>
            <a:fillRect/>
          </a:stretch>
        </p:blipFill>
        <p:spPr>
          <a:xfrm>
            <a:off x="852221" y="1903781"/>
            <a:ext cx="261518" cy="261518"/>
          </a:xfrm>
          <a:prstGeom prst="rect">
            <a:avLst/>
          </a:prstGeom>
        </p:spPr>
      </p:pic>
      <p:sp>
        <p:nvSpPr>
          <p:cNvPr id="7" name="text-181"/>
          <p:cNvSpPr txBox="1"/>
          <p:nvPr/>
        </p:nvSpPr>
        <p:spPr>
          <a:xfrm>
            <a:off x="731520" y="2423160"/>
            <a:ext cx="2011680" cy="868680"/>
          </a:xfrm>
          <a:prstGeom prst="rect">
            <a:avLst/>
          </a:prstGeom>
          <a:noFill/>
          <a:ln/>
        </p:spPr>
        <p:txBody>
          <a:bodyPr wrap="square" lIns="0" tIns="0" rIns="0" bIns="0" rtlCol="0" anchor="t"/>
          <a:lstStyle/>
          <a:p>
            <a:pPr indent="0" marL="0">
              <a:buNone/>
            </a:pPr>
            <a:r>
              <a:rPr lang="en-US" sz="1500" b="1" dirty="0">
                <a:solidFill>
                  <a:schemeClr val="tx1"/>
                </a:solidFill>
              </a:rPr>
              <a:t>Planning</a:t>
            </a:r>
            <a:endParaRPr lang="en-US" sz="1400" dirty="0"/>
          </a:p>
          <a:p>
            <a:pPr indent="0" marL="0">
              <a:buNone/>
            </a:pPr>
            <a:r>
              <a:rPr lang="en-US" sz="1300" dirty="0">
                <a:solidFill>
                  <a:schemeClr val="accent5"/>
                </a:solidFill>
              </a:rPr>
              <a:t>write_todos keeps dozens of steps on track</a:t>
            </a:r>
            <a:endParaRPr lang="en-US" sz="1400" dirty="0"/>
          </a:p>
        </p:txBody>
      </p:sp>
      <p:sp>
        <p:nvSpPr>
          <p:cNvPr id="8" name="card-182"/>
          <p:cNvSpPr/>
          <p:nvPr/>
        </p:nvSpPr>
        <p:spPr>
          <a:xfrm>
            <a:off x="3154680" y="1600200"/>
            <a:ext cx="2377440" cy="1783080"/>
          </a:xfrm>
          <a:prstGeom prst="roundRect">
            <a:avLst>
              <a:gd name="adj" fmla="val 6154"/>
            </a:avLst>
          </a:prstGeom>
          <a:solidFill>
            <a:schemeClr val="bg2"/>
          </a:solidFill>
          <a:ln w="12700">
            <a:solidFill>
              <a:schemeClr val="bg2"/>
            </a:solidFill>
            <a:prstDash val="solid"/>
          </a:ln>
        </p:spPr>
      </p:sp>
      <p:sp>
        <p:nvSpPr>
          <p:cNvPr id="9" name="icon-bg-183"/>
          <p:cNvSpPr/>
          <p:nvPr/>
        </p:nvSpPr>
        <p:spPr>
          <a:xfrm>
            <a:off x="3337560" y="1783080"/>
            <a:ext cx="502920" cy="502920"/>
          </a:xfrm>
          <a:prstGeom prst="ellipse">
            <a:avLst/>
          </a:prstGeom>
          <a:solidFill>
            <a:schemeClr val="accent1"/>
          </a:solidFill>
          <a:ln w="12700">
            <a:solidFill>
              <a:schemeClr val="accent1"/>
            </a:solidFill>
            <a:prstDash val="solid"/>
          </a:ln>
        </p:spPr>
      </p:sp>
      <p:pic>
        <p:nvPicPr>
          <p:cNvPr id="10" name="icon-184" descr="preencoded.png">    </p:cNvPr>
          <p:cNvPicPr>
            <a:picLocks noChangeAspect="1"/>
          </p:cNvPicPr>
          <p:nvPr/>
        </p:nvPicPr>
        <p:blipFill>
          <a:blip r:embed="rId2"/>
          <a:stretch>
            <a:fillRect/>
          </a:stretch>
        </p:blipFill>
        <p:spPr>
          <a:xfrm>
            <a:off x="3458261" y="1903781"/>
            <a:ext cx="261518" cy="261518"/>
          </a:xfrm>
          <a:prstGeom prst="rect">
            <a:avLst/>
          </a:prstGeom>
        </p:spPr>
      </p:pic>
      <p:sp>
        <p:nvSpPr>
          <p:cNvPr id="11" name="text-185"/>
          <p:cNvSpPr txBox="1"/>
          <p:nvPr/>
        </p:nvSpPr>
        <p:spPr>
          <a:xfrm>
            <a:off x="3337560" y="2423160"/>
            <a:ext cx="2011680" cy="868680"/>
          </a:xfrm>
          <a:prstGeom prst="rect">
            <a:avLst/>
          </a:prstGeom>
          <a:noFill/>
          <a:ln/>
        </p:spPr>
        <p:txBody>
          <a:bodyPr wrap="square" lIns="0" tIns="0" rIns="0" bIns="0" rtlCol="0" anchor="t"/>
          <a:lstStyle/>
          <a:p>
            <a:pPr indent="0" marL="0">
              <a:buNone/>
            </a:pPr>
            <a:r>
              <a:rPr lang="en-US" sz="1500" b="1" dirty="0">
                <a:solidFill>
                  <a:schemeClr val="tx1"/>
                </a:solidFill>
              </a:rPr>
              <a:t>Virtual filesystem</a:t>
            </a:r>
            <a:endParaRPr lang="en-US" sz="1400" dirty="0"/>
          </a:p>
          <a:p>
            <a:pPr indent="0" marL="0">
              <a:buNone/>
            </a:pPr>
            <a:r>
              <a:rPr lang="en-US" sz="1300" dirty="0">
                <a:solidFill>
                  <a:schemeClr val="accent5"/>
                </a:solidFill>
              </a:rPr>
              <a:t>Offloads big tool output from context</a:t>
            </a:r>
            <a:endParaRPr lang="en-US" sz="1400" dirty="0"/>
          </a:p>
        </p:txBody>
      </p:sp>
      <p:sp>
        <p:nvSpPr>
          <p:cNvPr id="12" name="card-186"/>
          <p:cNvSpPr/>
          <p:nvPr/>
        </p:nvSpPr>
        <p:spPr>
          <a:xfrm>
            <a:off x="5760720" y="1600200"/>
            <a:ext cx="2377440" cy="1783080"/>
          </a:xfrm>
          <a:prstGeom prst="roundRect">
            <a:avLst>
              <a:gd name="adj" fmla="val 6154"/>
            </a:avLst>
          </a:prstGeom>
          <a:solidFill>
            <a:schemeClr val="bg2"/>
          </a:solidFill>
          <a:ln w="12700">
            <a:solidFill>
              <a:schemeClr val="bg2"/>
            </a:solidFill>
            <a:prstDash val="solid"/>
          </a:ln>
        </p:spPr>
      </p:sp>
      <p:sp>
        <p:nvSpPr>
          <p:cNvPr id="13" name="icon-bg-187"/>
          <p:cNvSpPr/>
          <p:nvPr/>
        </p:nvSpPr>
        <p:spPr>
          <a:xfrm>
            <a:off x="5943600" y="1783080"/>
            <a:ext cx="502920" cy="502920"/>
          </a:xfrm>
          <a:prstGeom prst="ellipse">
            <a:avLst/>
          </a:prstGeom>
          <a:solidFill>
            <a:schemeClr val="accent1"/>
          </a:solidFill>
          <a:ln w="12700">
            <a:solidFill>
              <a:schemeClr val="accent1"/>
            </a:solidFill>
            <a:prstDash val="solid"/>
          </a:ln>
        </p:spPr>
      </p:sp>
      <p:pic>
        <p:nvPicPr>
          <p:cNvPr id="14" name="icon-188" descr="preencoded.png">    </p:cNvPr>
          <p:cNvPicPr>
            <a:picLocks noChangeAspect="1"/>
          </p:cNvPicPr>
          <p:nvPr/>
        </p:nvPicPr>
        <p:blipFill>
          <a:blip r:embed="rId3"/>
          <a:stretch>
            <a:fillRect/>
          </a:stretch>
        </p:blipFill>
        <p:spPr>
          <a:xfrm>
            <a:off x="6064301" y="1903781"/>
            <a:ext cx="261518" cy="261518"/>
          </a:xfrm>
          <a:prstGeom prst="rect">
            <a:avLst/>
          </a:prstGeom>
        </p:spPr>
      </p:pic>
      <p:sp>
        <p:nvSpPr>
          <p:cNvPr id="15" name="text-189"/>
          <p:cNvSpPr txBox="1"/>
          <p:nvPr/>
        </p:nvSpPr>
        <p:spPr>
          <a:xfrm>
            <a:off x="5943600" y="2423160"/>
            <a:ext cx="2011680" cy="868680"/>
          </a:xfrm>
          <a:prstGeom prst="rect">
            <a:avLst/>
          </a:prstGeom>
          <a:noFill/>
          <a:ln/>
        </p:spPr>
        <p:txBody>
          <a:bodyPr wrap="square" lIns="0" tIns="0" rIns="0" bIns="0" rtlCol="0" anchor="t"/>
          <a:lstStyle/>
          <a:p>
            <a:pPr indent="0" marL="0">
              <a:buNone/>
            </a:pPr>
            <a:r>
              <a:rPr lang="en-US" sz="1500" b="1" dirty="0">
                <a:solidFill>
                  <a:schemeClr val="tx1"/>
                </a:solidFill>
              </a:rPr>
              <a:t>Pluggable backends</a:t>
            </a:r>
            <a:endParaRPr lang="en-US" sz="1400" dirty="0"/>
          </a:p>
          <a:p>
            <a:pPr indent="0" marL="0">
              <a:buNone/>
            </a:pPr>
            <a:r>
              <a:rPr lang="en-US" sz="1300" dirty="0">
                <a:solidFill>
                  <a:schemeClr val="accent5"/>
                </a:solidFill>
              </a:rPr>
              <a:t>State, disk, store or sandbox</a:t>
            </a:r>
            <a:endParaRPr lang="en-US" sz="1400" dirty="0"/>
          </a:p>
        </p:txBody>
      </p:sp>
      <p:sp>
        <p:nvSpPr>
          <p:cNvPr id="16" name="card-190"/>
          <p:cNvSpPr/>
          <p:nvPr/>
        </p:nvSpPr>
        <p:spPr>
          <a:xfrm>
            <a:off x="548640" y="3611880"/>
            <a:ext cx="2377440" cy="1783080"/>
          </a:xfrm>
          <a:prstGeom prst="roundRect">
            <a:avLst>
              <a:gd name="adj" fmla="val 6154"/>
            </a:avLst>
          </a:prstGeom>
          <a:solidFill>
            <a:schemeClr val="bg2"/>
          </a:solidFill>
          <a:ln w="12700">
            <a:solidFill>
              <a:schemeClr val="bg2"/>
            </a:solidFill>
            <a:prstDash val="solid"/>
          </a:ln>
        </p:spPr>
      </p:sp>
      <p:sp>
        <p:nvSpPr>
          <p:cNvPr id="17" name="icon-bg-191"/>
          <p:cNvSpPr/>
          <p:nvPr/>
        </p:nvSpPr>
        <p:spPr>
          <a:xfrm>
            <a:off x="731520" y="3794760"/>
            <a:ext cx="502920" cy="502920"/>
          </a:xfrm>
          <a:prstGeom prst="ellipse">
            <a:avLst/>
          </a:prstGeom>
          <a:solidFill>
            <a:schemeClr val="accent1"/>
          </a:solidFill>
          <a:ln w="12700">
            <a:solidFill>
              <a:schemeClr val="accent1"/>
            </a:solidFill>
            <a:prstDash val="solid"/>
          </a:ln>
        </p:spPr>
      </p:sp>
      <p:pic>
        <p:nvPicPr>
          <p:cNvPr id="18" name="icon-192" descr="preencoded.png">    </p:cNvPr>
          <p:cNvPicPr>
            <a:picLocks noChangeAspect="1"/>
          </p:cNvPicPr>
          <p:nvPr/>
        </p:nvPicPr>
        <p:blipFill>
          <a:blip r:embed="rId4"/>
          <a:stretch>
            <a:fillRect/>
          </a:stretch>
        </p:blipFill>
        <p:spPr>
          <a:xfrm>
            <a:off x="852221" y="3915461"/>
            <a:ext cx="261518" cy="261518"/>
          </a:xfrm>
          <a:prstGeom prst="rect">
            <a:avLst/>
          </a:prstGeom>
        </p:spPr>
      </p:pic>
      <p:sp>
        <p:nvSpPr>
          <p:cNvPr id="19" name="text-193"/>
          <p:cNvSpPr txBox="1"/>
          <p:nvPr/>
        </p:nvSpPr>
        <p:spPr>
          <a:xfrm>
            <a:off x="731520" y="4434840"/>
            <a:ext cx="2011680" cy="868680"/>
          </a:xfrm>
          <a:prstGeom prst="rect">
            <a:avLst/>
          </a:prstGeom>
          <a:noFill/>
          <a:ln/>
        </p:spPr>
        <p:txBody>
          <a:bodyPr wrap="square" lIns="0" tIns="0" rIns="0" bIns="0" rtlCol="0" anchor="t"/>
          <a:lstStyle/>
          <a:p>
            <a:pPr indent="0" marL="0">
              <a:buNone/>
            </a:pPr>
            <a:r>
              <a:rPr lang="en-US" sz="1500" b="1" dirty="0">
                <a:solidFill>
                  <a:schemeClr val="tx1"/>
                </a:solidFill>
              </a:rPr>
              <a:t>Subagents</a:t>
            </a:r>
            <a:endParaRPr lang="en-US" sz="1400" dirty="0"/>
          </a:p>
          <a:p>
            <a:pPr indent="0" marL="0">
              <a:buNone/>
            </a:pPr>
            <a:r>
              <a:rPr lang="en-US" sz="1300" dirty="0">
                <a:solidFill>
                  <a:schemeClr val="accent5"/>
                </a:solidFill>
              </a:rPr>
              <a:t>Fresh context per manifest audit</a:t>
            </a:r>
            <a:endParaRPr lang="en-US" sz="1400" dirty="0"/>
          </a:p>
        </p:txBody>
      </p:sp>
      <p:sp>
        <p:nvSpPr>
          <p:cNvPr id="20" name="card-194"/>
          <p:cNvSpPr/>
          <p:nvPr/>
        </p:nvSpPr>
        <p:spPr>
          <a:xfrm>
            <a:off x="3154680" y="3611880"/>
            <a:ext cx="2377440" cy="1783080"/>
          </a:xfrm>
          <a:prstGeom prst="roundRect">
            <a:avLst>
              <a:gd name="adj" fmla="val 6154"/>
            </a:avLst>
          </a:prstGeom>
          <a:solidFill>
            <a:schemeClr val="bg2"/>
          </a:solidFill>
          <a:ln w="12700">
            <a:solidFill>
              <a:schemeClr val="bg2"/>
            </a:solidFill>
            <a:prstDash val="solid"/>
          </a:ln>
        </p:spPr>
      </p:sp>
      <p:sp>
        <p:nvSpPr>
          <p:cNvPr id="21" name="icon-bg-195"/>
          <p:cNvSpPr/>
          <p:nvPr/>
        </p:nvSpPr>
        <p:spPr>
          <a:xfrm>
            <a:off x="3337560" y="3794760"/>
            <a:ext cx="502920" cy="502920"/>
          </a:xfrm>
          <a:prstGeom prst="ellipse">
            <a:avLst/>
          </a:prstGeom>
          <a:solidFill>
            <a:schemeClr val="accent1"/>
          </a:solidFill>
          <a:ln w="12700">
            <a:solidFill>
              <a:schemeClr val="accent1"/>
            </a:solidFill>
            <a:prstDash val="solid"/>
          </a:ln>
        </p:spPr>
      </p:sp>
      <p:pic>
        <p:nvPicPr>
          <p:cNvPr id="22" name="icon-196" descr="preencoded.png">    </p:cNvPr>
          <p:cNvPicPr>
            <a:picLocks noChangeAspect="1"/>
          </p:cNvPicPr>
          <p:nvPr/>
        </p:nvPicPr>
        <p:blipFill>
          <a:blip r:embed="rId5"/>
          <a:stretch>
            <a:fillRect/>
          </a:stretch>
        </p:blipFill>
        <p:spPr>
          <a:xfrm>
            <a:off x="3458261" y="3915461"/>
            <a:ext cx="261518" cy="261518"/>
          </a:xfrm>
          <a:prstGeom prst="rect">
            <a:avLst/>
          </a:prstGeom>
        </p:spPr>
      </p:pic>
      <p:sp>
        <p:nvSpPr>
          <p:cNvPr id="23" name="text-197"/>
          <p:cNvSpPr txBox="1"/>
          <p:nvPr/>
        </p:nvSpPr>
        <p:spPr>
          <a:xfrm>
            <a:off x="3337560" y="4434840"/>
            <a:ext cx="2011680" cy="868680"/>
          </a:xfrm>
          <a:prstGeom prst="rect">
            <a:avLst/>
          </a:prstGeom>
          <a:noFill/>
          <a:ln/>
        </p:spPr>
        <p:txBody>
          <a:bodyPr wrap="square" lIns="0" tIns="0" rIns="0" bIns="0" rtlCol="0" anchor="t"/>
          <a:lstStyle/>
          <a:p>
            <a:pPr indent="0" marL="0">
              <a:buNone/>
            </a:pPr>
            <a:r>
              <a:rPr lang="en-US" sz="1500" b="1" dirty="0">
                <a:solidFill>
                  <a:schemeClr val="tx1"/>
                </a:solidFill>
              </a:rPr>
              <a:t>Memory</a:t>
            </a:r>
            <a:endParaRPr lang="en-US" sz="1400" dirty="0"/>
          </a:p>
          <a:p>
            <a:pPr indent="0" marL="0">
              <a:buNone/>
            </a:pPr>
            <a:r>
              <a:rPr lang="en-US" sz="1300" dirty="0">
                <a:solidFill>
                  <a:schemeClr val="accent5"/>
                </a:solidFill>
              </a:rPr>
              <a:t>AGENTS.md conventions, always loaded</a:t>
            </a:r>
            <a:endParaRPr lang="en-US" sz="1400" dirty="0"/>
          </a:p>
        </p:txBody>
      </p:sp>
      <p:sp>
        <p:nvSpPr>
          <p:cNvPr id="24" name="card-198"/>
          <p:cNvSpPr/>
          <p:nvPr/>
        </p:nvSpPr>
        <p:spPr>
          <a:xfrm>
            <a:off x="5760720" y="3611880"/>
            <a:ext cx="2377440" cy="1783080"/>
          </a:xfrm>
          <a:prstGeom prst="roundRect">
            <a:avLst>
              <a:gd name="adj" fmla="val 6154"/>
            </a:avLst>
          </a:prstGeom>
          <a:solidFill>
            <a:schemeClr val="bg2"/>
          </a:solidFill>
          <a:ln w="12700">
            <a:solidFill>
              <a:schemeClr val="bg2"/>
            </a:solidFill>
            <a:prstDash val="solid"/>
          </a:ln>
        </p:spPr>
      </p:sp>
      <p:sp>
        <p:nvSpPr>
          <p:cNvPr id="25" name="icon-bg-199"/>
          <p:cNvSpPr/>
          <p:nvPr/>
        </p:nvSpPr>
        <p:spPr>
          <a:xfrm>
            <a:off x="5943600" y="3794760"/>
            <a:ext cx="502920" cy="502920"/>
          </a:xfrm>
          <a:prstGeom prst="ellipse">
            <a:avLst/>
          </a:prstGeom>
          <a:solidFill>
            <a:schemeClr val="accent1"/>
          </a:solidFill>
          <a:ln w="12700">
            <a:solidFill>
              <a:schemeClr val="accent1"/>
            </a:solidFill>
            <a:prstDash val="solid"/>
          </a:ln>
        </p:spPr>
      </p:sp>
      <p:pic>
        <p:nvPicPr>
          <p:cNvPr id="26" name="icon-200" descr="preencoded.png">    </p:cNvPr>
          <p:cNvPicPr>
            <a:picLocks noChangeAspect="1"/>
          </p:cNvPicPr>
          <p:nvPr/>
        </p:nvPicPr>
        <p:blipFill>
          <a:blip r:embed="rId6"/>
          <a:stretch>
            <a:fillRect/>
          </a:stretch>
        </p:blipFill>
        <p:spPr>
          <a:xfrm>
            <a:off x="6064301" y="3915461"/>
            <a:ext cx="261518" cy="261518"/>
          </a:xfrm>
          <a:prstGeom prst="rect">
            <a:avLst/>
          </a:prstGeom>
        </p:spPr>
      </p:pic>
      <p:sp>
        <p:nvSpPr>
          <p:cNvPr id="27" name="text-201"/>
          <p:cNvSpPr txBox="1"/>
          <p:nvPr/>
        </p:nvSpPr>
        <p:spPr>
          <a:xfrm>
            <a:off x="5943600" y="4434840"/>
            <a:ext cx="2011680" cy="868680"/>
          </a:xfrm>
          <a:prstGeom prst="rect">
            <a:avLst/>
          </a:prstGeom>
          <a:noFill/>
          <a:ln/>
        </p:spPr>
        <p:txBody>
          <a:bodyPr wrap="square" lIns="0" tIns="0" rIns="0" bIns="0" rtlCol="0" anchor="t"/>
          <a:lstStyle/>
          <a:p>
            <a:pPr indent="0" marL="0">
              <a:buNone/>
            </a:pPr>
            <a:r>
              <a:rPr lang="en-US" sz="1500" b="1" dirty="0">
                <a:solidFill>
                  <a:schemeClr val="tx1"/>
                </a:solidFill>
              </a:rPr>
              <a:t>Skills</a:t>
            </a:r>
            <a:endParaRPr lang="en-US" sz="1400" dirty="0"/>
          </a:p>
          <a:p>
            <a:pPr indent="0" marL="0">
              <a:buNone/>
            </a:pPr>
            <a:r>
              <a:rPr lang="en-US" sz="1300" dirty="0">
                <a:solidFill>
                  <a:schemeClr val="accent5"/>
                </a:solidFill>
              </a:rPr>
              <a:t>SKILL.md loaded only when relevant</a:t>
            </a:r>
            <a:endParaRPr lang="en-US" sz="1400" dirty="0"/>
          </a:p>
        </p:txBody>
      </p:sp>
      <p:sp>
        <p:nvSpPr>
          <p:cNvPr id="28" name="text-202"/>
          <p:cNvSpPr txBox="1"/>
          <p:nvPr/>
        </p:nvSpPr>
        <p:spPr>
          <a:xfrm>
            <a:off x="548640" y="5715000"/>
            <a:ext cx="7589520" cy="457200"/>
          </a:xfrm>
          <a:prstGeom prst="rect">
            <a:avLst/>
          </a:prstGeom>
          <a:noFill/>
          <a:ln/>
        </p:spPr>
        <p:txBody>
          <a:bodyPr wrap="square" lIns="0" tIns="0" rIns="0" bIns="0" rtlCol="0" anchor="t"/>
          <a:lstStyle/>
          <a:p>
            <a:pPr indent="0" marL="0">
              <a:buNone/>
            </a:pPr>
            <a:r>
              <a:rPr lang="en-US" sz="1300" dirty="0">
                <a:solidFill>
                  <a:schemeClr val="accent5"/>
                </a:solidFill>
              </a:rPr>
              <a:t>create_deep_agent = create_agent + a curated middleware stack, so Modules 1–4 still apply.</a:t>
            </a:r>
            <a:endParaRPr lang="en-US" sz="1300" dirty="0"/>
          </a:p>
        </p:txBody>
      </p:sp>
      <p:sp>
        <p:nvSpPr>
          <p:cNvPr id="29" name="card-203"/>
          <p:cNvSpPr/>
          <p:nvPr/>
        </p:nvSpPr>
        <p:spPr>
          <a:xfrm>
            <a:off x="8595360" y="1600200"/>
            <a:ext cx="3044952" cy="1783080"/>
          </a:xfrm>
          <a:prstGeom prst="roundRect">
            <a:avLst>
              <a:gd name="adj" fmla="val 6154"/>
            </a:avLst>
          </a:prstGeom>
          <a:solidFill>
            <a:schemeClr val="tx2"/>
          </a:solidFill>
          <a:ln w="12700">
            <a:solidFill>
              <a:schemeClr val="tx2"/>
            </a:solidFill>
            <a:prstDash val="solid"/>
          </a:ln>
        </p:spPr>
      </p:sp>
      <p:sp>
        <p:nvSpPr>
          <p:cNvPr id="30" name="text-204"/>
          <p:cNvSpPr txBox="1"/>
          <p:nvPr/>
        </p:nvSpPr>
        <p:spPr>
          <a:xfrm>
            <a:off x="8823960" y="1783080"/>
            <a:ext cx="2587752" cy="1554480"/>
          </a:xfrm>
          <a:prstGeom prst="rect">
            <a:avLst/>
          </a:prstGeom>
          <a:noFill/>
          <a:ln/>
        </p:spPr>
        <p:txBody>
          <a:bodyPr wrap="square" lIns="0" tIns="0" rIns="0" bIns="0" rtlCol="0" anchor="t"/>
          <a:lstStyle/>
          <a:p>
            <a:pPr indent="0" marL="0">
              <a:buNone/>
            </a:pPr>
            <a:r>
              <a:rPr lang="en-US" sz="1600" b="1" dirty="0">
                <a:solidFill>
                  <a:schemeClr val="accent1"/>
                </a:solidFill>
              </a:rPr>
              <a:t>Deep Agents when</a:t>
            </a:r>
            <a:endParaRPr lang="en-US" sz="1400" dirty="0"/>
          </a:p>
          <a:p>
            <a:pPr indent="0" marL="0">
              <a:buNone/>
            </a:pPr>
            <a:r>
              <a:rPr lang="en-US" sz="1500" dirty="0">
                <a:solidFill>
                  <a:schemeClr val="bg1"/>
                </a:solidFill>
              </a:rPr>
              <a:t>Steps aren't known upfront: audits, research, coding.</a:t>
            </a:r>
            <a:endParaRPr lang="en-US" sz="1400" dirty="0"/>
          </a:p>
        </p:txBody>
      </p:sp>
      <p:sp>
        <p:nvSpPr>
          <p:cNvPr id="31" name="card-205"/>
          <p:cNvSpPr/>
          <p:nvPr/>
        </p:nvSpPr>
        <p:spPr>
          <a:xfrm>
            <a:off x="8595360" y="3611880"/>
            <a:ext cx="3044952" cy="1783080"/>
          </a:xfrm>
          <a:prstGeom prst="roundRect">
            <a:avLst>
              <a:gd name="adj" fmla="val 6154"/>
            </a:avLst>
          </a:prstGeom>
          <a:solidFill>
            <a:schemeClr val="bg2"/>
          </a:solidFill>
          <a:ln w="12700">
            <a:solidFill>
              <a:schemeClr val="bg2"/>
            </a:solidFill>
            <a:prstDash val="solid"/>
          </a:ln>
        </p:spPr>
      </p:sp>
      <p:sp>
        <p:nvSpPr>
          <p:cNvPr id="32" name="text-206"/>
          <p:cNvSpPr txBox="1"/>
          <p:nvPr/>
        </p:nvSpPr>
        <p:spPr>
          <a:xfrm>
            <a:off x="8823960" y="3794760"/>
            <a:ext cx="2587752" cy="1554480"/>
          </a:xfrm>
          <a:prstGeom prst="rect">
            <a:avLst/>
          </a:prstGeom>
          <a:noFill/>
          <a:ln/>
        </p:spPr>
        <p:txBody>
          <a:bodyPr wrap="square" lIns="0" tIns="0" rIns="0" bIns="0" rtlCol="0" anchor="t"/>
          <a:lstStyle/>
          <a:p>
            <a:pPr indent="0" marL="0">
              <a:buNone/>
            </a:pPr>
            <a:r>
              <a:rPr lang="en-US" sz="1600" b="1" dirty="0">
                <a:solidFill>
                  <a:schemeClr val="accent3"/>
                </a:solidFill>
              </a:rPr>
              <a:t>LangGraph workflow when</a:t>
            </a:r>
            <a:endParaRPr lang="en-US" sz="1400" dirty="0"/>
          </a:p>
          <a:p>
            <a:pPr indent="0" marL="0">
              <a:buNone/>
            </a:pPr>
            <a:r>
              <a:rPr lang="en-US" sz="1500" dirty="0">
                <a:solidFill>
                  <a:schemeClr val="tx1"/>
                </a:solidFill>
              </a:rPr>
              <a:t>The process is known and must be auditable. Real systems often nest one in the other.</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lstStyle/>
          <a:p>
            <a:pPr indent="0" marL="0">
              <a:buNone/>
            </a:pPr>
            <a:r>
              <a:rPr lang="en-US" sz="1200" b="1" spc="200" kern="0" dirty="0">
                <a:solidFill>
                  <a:schemeClr val="accent3"/>
                </a:solidFill>
              </a:rPr>
              <a:t>MODULE 6 · LANGSMITH EVALS</a:t>
            </a:r>
            <a:endParaRPr lang="en-US" sz="1200" dirty="0"/>
          </a:p>
        </p:txBody>
      </p:sp>
      <p:sp>
        <p:nvSpPr>
          <p:cNvPr id="3" name="Text 0"/>
          <p:cNvSpPr/>
          <p:nvPr>
            <p:ph idx="101" type="title" hasCustomPrompt="1"/>
          </p:nvPr>
        </p:nvSpPr>
        <p:spPr>
          <a:xfrm>
            <a:off x="548640" y="58521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From "seems to work" to a measured A/B test</a:t>
            </a:r>
            <a:endParaRPr lang="en-US" sz="3200" dirty="0"/>
          </a:p>
        </p:txBody>
      </p:sp>
      <p:sp>
        <p:nvSpPr>
          <p:cNvPr id="4" name="card-207"/>
          <p:cNvSpPr/>
          <p:nvPr/>
        </p:nvSpPr>
        <p:spPr>
          <a:xfrm>
            <a:off x="548640" y="1645920"/>
            <a:ext cx="1664208" cy="640080"/>
          </a:xfrm>
          <a:prstGeom prst="roundRect">
            <a:avLst>
              <a:gd name="adj" fmla="val 17143"/>
            </a:avLst>
          </a:prstGeom>
          <a:solidFill>
            <a:schemeClr val="bg2"/>
          </a:solidFill>
          <a:ln w="12700">
            <a:solidFill>
              <a:schemeClr val="bg2"/>
            </a:solidFill>
            <a:prstDash val="solid"/>
          </a:ln>
        </p:spPr>
      </p:sp>
      <p:sp>
        <p:nvSpPr>
          <p:cNvPr id="5" name="box-label-208"/>
          <p:cNvSpPr txBox="1"/>
          <p:nvPr/>
        </p:nvSpPr>
        <p:spPr>
          <a:xfrm>
            <a:off x="640080" y="1645920"/>
            <a:ext cx="1481328" cy="640080"/>
          </a:xfrm>
          <a:prstGeom prst="rect">
            <a:avLst/>
          </a:prstGeom>
          <a:noFill/>
          <a:ln/>
        </p:spPr>
        <p:txBody>
          <a:bodyPr wrap="square" lIns="0" tIns="0" rIns="0" bIns="0" rtlCol="0" anchor="ctr"/>
          <a:lstStyle/>
          <a:p>
            <a:pPr algn="ctr" indent="0" marL="0">
              <a:buNone/>
            </a:pPr>
            <a:r>
              <a:rPr lang="en-US" sz="1300" b="1" dirty="0">
                <a:solidFill>
                  <a:schemeClr val="tx1"/>
                </a:solidFill>
              </a:rPr>
              <a:t>Trace</a:t>
            </a:r>
            <a:endParaRPr lang="en-US" sz="1300" dirty="0"/>
          </a:p>
        </p:txBody>
      </p:sp>
      <p:sp>
        <p:nvSpPr>
          <p:cNvPr id="6" name="arrow-209"/>
          <p:cNvSpPr/>
          <p:nvPr/>
        </p:nvSpPr>
        <p:spPr>
          <a:xfrm>
            <a:off x="2212848" y="1965960"/>
            <a:ext cx="219456" cy="914"/>
          </a:xfrm>
          <a:prstGeom prst="line">
            <a:avLst/>
          </a:prstGeom>
          <a:noFill/>
          <a:ln w="19050">
            <a:solidFill>
              <a:srgbClr val="5B6B66"/>
            </a:solidFill>
            <a:prstDash val="solid"/>
            <a:tailEnd type="triangle"/>
          </a:ln>
        </p:spPr>
      </p:sp>
      <p:sp>
        <p:nvSpPr>
          <p:cNvPr id="7" name="card-210"/>
          <p:cNvSpPr/>
          <p:nvPr/>
        </p:nvSpPr>
        <p:spPr>
          <a:xfrm>
            <a:off x="2432304" y="1645920"/>
            <a:ext cx="1664208" cy="640080"/>
          </a:xfrm>
          <a:prstGeom prst="roundRect">
            <a:avLst>
              <a:gd name="adj" fmla="val 17143"/>
            </a:avLst>
          </a:prstGeom>
          <a:solidFill>
            <a:schemeClr val="bg2"/>
          </a:solidFill>
          <a:ln w="12700">
            <a:solidFill>
              <a:schemeClr val="bg2"/>
            </a:solidFill>
            <a:prstDash val="solid"/>
          </a:ln>
        </p:spPr>
      </p:sp>
      <p:sp>
        <p:nvSpPr>
          <p:cNvPr id="8" name="box-label-211"/>
          <p:cNvSpPr txBox="1"/>
          <p:nvPr/>
        </p:nvSpPr>
        <p:spPr>
          <a:xfrm>
            <a:off x="2523744" y="1645920"/>
            <a:ext cx="1481328" cy="640080"/>
          </a:xfrm>
          <a:prstGeom prst="rect">
            <a:avLst/>
          </a:prstGeom>
          <a:noFill/>
          <a:ln/>
        </p:spPr>
        <p:txBody>
          <a:bodyPr wrap="square" lIns="0" tIns="0" rIns="0" bIns="0" rtlCol="0" anchor="ctr"/>
          <a:lstStyle/>
          <a:p>
            <a:pPr algn="ctr" indent="0" marL="0">
              <a:buNone/>
            </a:pPr>
            <a:r>
              <a:rPr lang="en-US" sz="1300" b="1" dirty="0">
                <a:solidFill>
                  <a:schemeClr val="tx1"/>
                </a:solidFill>
              </a:rPr>
              <a:t>Curate dataset</a:t>
            </a:r>
            <a:endParaRPr lang="en-US" sz="1300" dirty="0"/>
          </a:p>
        </p:txBody>
      </p:sp>
      <p:sp>
        <p:nvSpPr>
          <p:cNvPr id="9" name="arrow-212"/>
          <p:cNvSpPr/>
          <p:nvPr/>
        </p:nvSpPr>
        <p:spPr>
          <a:xfrm>
            <a:off x="4096512" y="1965960"/>
            <a:ext cx="219456" cy="914"/>
          </a:xfrm>
          <a:prstGeom prst="line">
            <a:avLst/>
          </a:prstGeom>
          <a:noFill/>
          <a:ln w="19050">
            <a:solidFill>
              <a:srgbClr val="5B6B66"/>
            </a:solidFill>
            <a:prstDash val="solid"/>
            <a:tailEnd type="triangle"/>
          </a:ln>
        </p:spPr>
      </p:sp>
      <p:sp>
        <p:nvSpPr>
          <p:cNvPr id="10" name="card-213"/>
          <p:cNvSpPr/>
          <p:nvPr/>
        </p:nvSpPr>
        <p:spPr>
          <a:xfrm>
            <a:off x="4315968" y="1645920"/>
            <a:ext cx="1664208" cy="640080"/>
          </a:xfrm>
          <a:prstGeom prst="roundRect">
            <a:avLst>
              <a:gd name="adj" fmla="val 17143"/>
            </a:avLst>
          </a:prstGeom>
          <a:solidFill>
            <a:schemeClr val="bg2"/>
          </a:solidFill>
          <a:ln w="12700">
            <a:solidFill>
              <a:schemeClr val="bg2"/>
            </a:solidFill>
            <a:prstDash val="solid"/>
          </a:ln>
        </p:spPr>
      </p:sp>
      <p:sp>
        <p:nvSpPr>
          <p:cNvPr id="11" name="box-label-214"/>
          <p:cNvSpPr txBox="1"/>
          <p:nvPr/>
        </p:nvSpPr>
        <p:spPr>
          <a:xfrm>
            <a:off x="4407408" y="1645920"/>
            <a:ext cx="1481328" cy="640080"/>
          </a:xfrm>
          <a:prstGeom prst="rect">
            <a:avLst/>
          </a:prstGeom>
          <a:noFill/>
          <a:ln/>
        </p:spPr>
        <p:txBody>
          <a:bodyPr wrap="square" lIns="0" tIns="0" rIns="0" bIns="0" rtlCol="0" anchor="ctr"/>
          <a:lstStyle/>
          <a:p>
            <a:pPr algn="ctr" indent="0" marL="0">
              <a:buNone/>
            </a:pPr>
            <a:r>
              <a:rPr lang="en-US" sz="1300" b="1" dirty="0">
                <a:solidFill>
                  <a:schemeClr val="tx1"/>
                </a:solidFill>
              </a:rPr>
              <a:t>Offline evals</a:t>
            </a:r>
            <a:endParaRPr lang="en-US" sz="1300" dirty="0"/>
          </a:p>
        </p:txBody>
      </p:sp>
      <p:sp>
        <p:nvSpPr>
          <p:cNvPr id="12" name="arrow-215"/>
          <p:cNvSpPr/>
          <p:nvPr/>
        </p:nvSpPr>
        <p:spPr>
          <a:xfrm>
            <a:off x="5980176" y="1965960"/>
            <a:ext cx="219456" cy="914"/>
          </a:xfrm>
          <a:prstGeom prst="line">
            <a:avLst/>
          </a:prstGeom>
          <a:noFill/>
          <a:ln w="19050">
            <a:solidFill>
              <a:srgbClr val="5B6B66"/>
            </a:solidFill>
            <a:prstDash val="solid"/>
            <a:tailEnd type="triangle"/>
          </a:ln>
        </p:spPr>
      </p:sp>
      <p:sp>
        <p:nvSpPr>
          <p:cNvPr id="13" name="card-216"/>
          <p:cNvSpPr/>
          <p:nvPr/>
        </p:nvSpPr>
        <p:spPr>
          <a:xfrm>
            <a:off x="6199632" y="1645920"/>
            <a:ext cx="1664208" cy="640080"/>
          </a:xfrm>
          <a:prstGeom prst="roundRect">
            <a:avLst>
              <a:gd name="adj" fmla="val 17143"/>
            </a:avLst>
          </a:prstGeom>
          <a:solidFill>
            <a:schemeClr val="bg2"/>
          </a:solidFill>
          <a:ln w="12700">
            <a:solidFill>
              <a:schemeClr val="bg2"/>
            </a:solidFill>
            <a:prstDash val="solid"/>
          </a:ln>
        </p:spPr>
      </p:sp>
      <p:sp>
        <p:nvSpPr>
          <p:cNvPr id="14" name="box-label-217"/>
          <p:cNvSpPr txBox="1"/>
          <p:nvPr/>
        </p:nvSpPr>
        <p:spPr>
          <a:xfrm>
            <a:off x="6291072" y="1645920"/>
            <a:ext cx="1481328" cy="640080"/>
          </a:xfrm>
          <a:prstGeom prst="rect">
            <a:avLst/>
          </a:prstGeom>
          <a:noFill/>
          <a:ln/>
        </p:spPr>
        <p:txBody>
          <a:bodyPr wrap="square" lIns="0" tIns="0" rIns="0" bIns="0" rtlCol="0" anchor="ctr"/>
          <a:lstStyle/>
          <a:p>
            <a:pPr algn="ctr" indent="0" marL="0">
              <a:buNone/>
            </a:pPr>
            <a:r>
              <a:rPr lang="en-US" sz="1300" b="1" dirty="0">
                <a:solidFill>
                  <a:schemeClr val="tx1"/>
                </a:solidFill>
              </a:rPr>
              <a:t>CI gate</a:t>
            </a:r>
            <a:endParaRPr lang="en-US" sz="1300" dirty="0"/>
          </a:p>
        </p:txBody>
      </p:sp>
      <p:sp>
        <p:nvSpPr>
          <p:cNvPr id="15" name="arrow-218"/>
          <p:cNvSpPr/>
          <p:nvPr/>
        </p:nvSpPr>
        <p:spPr>
          <a:xfrm>
            <a:off x="7863840" y="1965960"/>
            <a:ext cx="219456" cy="914"/>
          </a:xfrm>
          <a:prstGeom prst="line">
            <a:avLst/>
          </a:prstGeom>
          <a:noFill/>
          <a:ln w="19050">
            <a:solidFill>
              <a:srgbClr val="5B6B66"/>
            </a:solidFill>
            <a:prstDash val="solid"/>
            <a:tailEnd type="triangle"/>
          </a:ln>
        </p:spPr>
      </p:sp>
      <p:sp>
        <p:nvSpPr>
          <p:cNvPr id="16" name="card-219"/>
          <p:cNvSpPr/>
          <p:nvPr/>
        </p:nvSpPr>
        <p:spPr>
          <a:xfrm>
            <a:off x="8083296" y="1645920"/>
            <a:ext cx="1664208" cy="640080"/>
          </a:xfrm>
          <a:prstGeom prst="roundRect">
            <a:avLst>
              <a:gd name="adj" fmla="val 17143"/>
            </a:avLst>
          </a:prstGeom>
          <a:solidFill>
            <a:schemeClr val="tx2"/>
          </a:solidFill>
          <a:ln w="12700">
            <a:solidFill>
              <a:schemeClr val="tx2"/>
            </a:solidFill>
            <a:prstDash val="solid"/>
          </a:ln>
        </p:spPr>
      </p:sp>
      <p:sp>
        <p:nvSpPr>
          <p:cNvPr id="17" name="box-label-220"/>
          <p:cNvSpPr txBox="1"/>
          <p:nvPr/>
        </p:nvSpPr>
        <p:spPr>
          <a:xfrm>
            <a:off x="8174736" y="1645920"/>
            <a:ext cx="1481328" cy="640080"/>
          </a:xfrm>
          <a:prstGeom prst="rect">
            <a:avLst/>
          </a:prstGeom>
          <a:noFill/>
          <a:ln/>
        </p:spPr>
        <p:txBody>
          <a:bodyPr wrap="square" lIns="0" tIns="0" rIns="0" bIns="0" rtlCol="0" anchor="ctr"/>
          <a:lstStyle/>
          <a:p>
            <a:pPr algn="ctr" indent="0" marL="0">
              <a:buNone/>
            </a:pPr>
            <a:r>
              <a:rPr lang="en-US" sz="1300" b="1" dirty="0">
                <a:solidFill>
                  <a:schemeClr val="bg1"/>
                </a:solidFill>
              </a:rPr>
              <a:t>Production</a:t>
            </a:r>
            <a:endParaRPr lang="en-US" sz="1300" dirty="0"/>
          </a:p>
        </p:txBody>
      </p:sp>
      <p:sp>
        <p:nvSpPr>
          <p:cNvPr id="18" name="arrow-221"/>
          <p:cNvSpPr/>
          <p:nvPr/>
        </p:nvSpPr>
        <p:spPr>
          <a:xfrm>
            <a:off x="9747504" y="1965960"/>
            <a:ext cx="219456" cy="914"/>
          </a:xfrm>
          <a:prstGeom prst="line">
            <a:avLst/>
          </a:prstGeom>
          <a:noFill/>
          <a:ln w="19050">
            <a:solidFill>
              <a:srgbClr val="5B6B66"/>
            </a:solidFill>
            <a:prstDash val="solid"/>
            <a:tailEnd type="triangle"/>
          </a:ln>
        </p:spPr>
      </p:sp>
      <p:sp>
        <p:nvSpPr>
          <p:cNvPr id="19" name="card-222"/>
          <p:cNvSpPr/>
          <p:nvPr/>
        </p:nvSpPr>
        <p:spPr>
          <a:xfrm>
            <a:off x="9966960" y="1645920"/>
            <a:ext cx="1664208" cy="640080"/>
          </a:xfrm>
          <a:prstGeom prst="roundRect">
            <a:avLst>
              <a:gd name="adj" fmla="val 17143"/>
            </a:avLst>
          </a:prstGeom>
          <a:solidFill>
            <a:schemeClr val="bg2"/>
          </a:solidFill>
          <a:ln w="12700">
            <a:solidFill>
              <a:schemeClr val="bg2"/>
            </a:solidFill>
            <a:prstDash val="solid"/>
          </a:ln>
        </p:spPr>
      </p:sp>
      <p:sp>
        <p:nvSpPr>
          <p:cNvPr id="20" name="box-label-223"/>
          <p:cNvSpPr txBox="1"/>
          <p:nvPr/>
        </p:nvSpPr>
        <p:spPr>
          <a:xfrm>
            <a:off x="10058400" y="1645920"/>
            <a:ext cx="1481328" cy="640080"/>
          </a:xfrm>
          <a:prstGeom prst="rect">
            <a:avLst/>
          </a:prstGeom>
          <a:noFill/>
          <a:ln/>
        </p:spPr>
        <p:txBody>
          <a:bodyPr wrap="square" lIns="0" tIns="0" rIns="0" bIns="0" rtlCol="0" anchor="ctr"/>
          <a:lstStyle/>
          <a:p>
            <a:pPr algn="ctr" indent="0" marL="0">
              <a:buNone/>
            </a:pPr>
            <a:r>
              <a:rPr lang="en-US" sz="1300" b="1" dirty="0">
                <a:solidFill>
                  <a:schemeClr val="tx1"/>
                </a:solidFill>
              </a:rPr>
              <a:t>Online evals</a:t>
            </a:r>
            <a:endParaRPr lang="en-US" sz="1300" dirty="0"/>
          </a:p>
        </p:txBody>
      </p:sp>
      <p:sp>
        <p:nvSpPr>
          <p:cNvPr id="21" name="loop-224"/>
          <p:cNvSpPr/>
          <p:nvPr/>
        </p:nvSpPr>
        <p:spPr>
          <a:xfrm>
            <a:off x="10799064" y="2286000"/>
            <a:ext cx="914" cy="320040"/>
          </a:xfrm>
          <a:prstGeom prst="line">
            <a:avLst/>
          </a:prstGeom>
          <a:noFill/>
          <a:ln w="19050">
            <a:solidFill>
              <a:srgbClr val="E8A33D"/>
            </a:solidFill>
            <a:prstDash val="solid"/>
          </a:ln>
        </p:spPr>
      </p:sp>
      <p:sp>
        <p:nvSpPr>
          <p:cNvPr id="22" name="loop-225"/>
          <p:cNvSpPr/>
          <p:nvPr/>
        </p:nvSpPr>
        <p:spPr>
          <a:xfrm>
            <a:off x="3264408" y="2606040"/>
            <a:ext cx="7534656" cy="914"/>
          </a:xfrm>
          <a:prstGeom prst="line">
            <a:avLst/>
          </a:prstGeom>
          <a:noFill/>
          <a:ln w="19050">
            <a:solidFill>
              <a:srgbClr val="E8A33D"/>
            </a:solidFill>
            <a:prstDash val="solid"/>
          </a:ln>
        </p:spPr>
      </p:sp>
      <p:sp>
        <p:nvSpPr>
          <p:cNvPr id="23" name="arrow-226"/>
          <p:cNvSpPr/>
          <p:nvPr/>
        </p:nvSpPr>
        <p:spPr>
          <a:xfrm flipV="1">
            <a:off x="3264408" y="2286000"/>
            <a:ext cx="914" cy="320040"/>
          </a:xfrm>
          <a:prstGeom prst="line">
            <a:avLst/>
          </a:prstGeom>
          <a:noFill/>
          <a:ln w="19050">
            <a:solidFill>
              <a:srgbClr val="E8A33D"/>
            </a:solidFill>
            <a:prstDash val="solid"/>
            <a:tailEnd type="triangle"/>
          </a:ln>
        </p:spPr>
      </p:sp>
      <p:sp>
        <p:nvSpPr>
          <p:cNvPr id="24" name="text-227"/>
          <p:cNvSpPr txBox="1"/>
          <p:nvPr/>
        </p:nvSpPr>
        <p:spPr>
          <a:xfrm>
            <a:off x="3447288" y="2651760"/>
            <a:ext cx="4572000" cy="274320"/>
          </a:xfrm>
          <a:prstGeom prst="rect">
            <a:avLst/>
          </a:prstGeom>
          <a:noFill/>
          <a:ln/>
        </p:spPr>
        <p:txBody>
          <a:bodyPr wrap="square" lIns="0" tIns="0" rIns="0" bIns="0" rtlCol="0" anchor="t"/>
          <a:lstStyle/>
          <a:p>
            <a:pPr indent="0" marL="0">
              <a:buNone/>
            </a:pPr>
            <a:r>
              <a:rPr lang="en-US" sz="1100" dirty="0">
                <a:solidFill>
                  <a:schemeClr val="accent5"/>
                </a:solidFill>
              </a:rPr>
              <a:t>Production failures become new dataset examples</a:t>
            </a:r>
            <a:endParaRPr lang="en-US" sz="1100" dirty="0"/>
          </a:p>
        </p:txBody>
      </p:sp>
      <p:sp>
        <p:nvSpPr>
          <p:cNvPr id="25" name="text-228"/>
          <p:cNvSpPr txBox="1"/>
          <p:nvPr/>
        </p:nvSpPr>
        <p:spPr>
          <a:xfrm>
            <a:off x="548640" y="3154680"/>
            <a:ext cx="5486400" cy="365760"/>
          </a:xfrm>
          <a:prstGeom prst="rect">
            <a:avLst/>
          </a:prstGeom>
          <a:noFill/>
          <a:ln/>
        </p:spPr>
        <p:txBody>
          <a:bodyPr wrap="square" lIns="0" tIns="0" rIns="0" bIns="0" rtlCol="0" anchor="t"/>
          <a:lstStyle/>
          <a:p>
            <a:pPr indent="0" marL="0">
              <a:buNone/>
            </a:pPr>
            <a:r>
              <a:rPr lang="en-US" sz="1600" b="1" dirty="0">
                <a:solidFill>
                  <a:schemeClr val="tx1"/>
                </a:solidFill>
              </a:rPr>
              <a:t>Evaluators, cheapest first</a:t>
            </a:r>
            <a:endParaRPr lang="en-US" sz="1600" dirty="0"/>
          </a:p>
        </p:txBody>
      </p:sp>
      <p:sp>
        <p:nvSpPr>
          <p:cNvPr id="26" name="badge-229"/>
          <p:cNvSpPr/>
          <p:nvPr/>
        </p:nvSpPr>
        <p:spPr>
          <a:xfrm>
            <a:off x="548640" y="3648456"/>
            <a:ext cx="402336" cy="402336"/>
          </a:xfrm>
          <a:prstGeom prst="roundRect">
            <a:avLst>
              <a:gd name="adj" fmla="val 22727"/>
            </a:avLst>
          </a:prstGeom>
          <a:solidFill>
            <a:schemeClr val="accent1"/>
          </a:solidFill>
          <a:ln w="12700">
            <a:solidFill>
              <a:schemeClr val="accent1"/>
            </a:solidFill>
            <a:prstDash val="solid"/>
          </a:ln>
        </p:spPr>
      </p:sp>
      <p:sp>
        <p:nvSpPr>
          <p:cNvPr id="27" name="badge-label-230"/>
          <p:cNvSpPr txBox="1"/>
          <p:nvPr/>
        </p:nvSpPr>
        <p:spPr>
          <a:xfrm>
            <a:off x="548640" y="364845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1</a:t>
            </a:r>
            <a:endParaRPr lang="en-US" sz="1300" dirty="0"/>
          </a:p>
        </p:txBody>
      </p:sp>
      <p:sp>
        <p:nvSpPr>
          <p:cNvPr id="28" name="text-231"/>
          <p:cNvSpPr txBox="1"/>
          <p:nvPr/>
        </p:nvSpPr>
        <p:spPr>
          <a:xfrm>
            <a:off x="1097280" y="3611880"/>
            <a:ext cx="5486400" cy="475488"/>
          </a:xfrm>
          <a:prstGeom prst="rect">
            <a:avLst/>
          </a:prstGeom>
          <a:noFill/>
          <a:ln/>
        </p:spPr>
        <p:txBody>
          <a:bodyPr wrap="square" lIns="0" tIns="0" rIns="0" bIns="0" rtlCol="0" anchor="ctr"/>
          <a:lstStyle/>
          <a:p>
            <a:pPr indent="0" marL="0">
              <a:buNone/>
            </a:pPr>
            <a:r>
              <a:rPr lang="en-US" sz="1400" b="1" dirty="0">
                <a:solidFill>
                  <a:schemeClr val="tx1"/>
                </a:solidFill>
              </a:rPr>
              <a:t>Deterministic  </a:t>
            </a:r>
            <a:pPr indent="0" marL="0">
              <a:buNone/>
            </a:pPr>
            <a:r>
              <a:rPr lang="en-US" sz="1400" dirty="0">
                <a:solidFill>
                  <a:schemeClr val="accent3"/>
                </a:solidFill>
              </a:rPr>
              <a:t>risk_matches, finding_recall</a:t>
            </a:r>
            <a:pPr indent="0" marL="0">
              <a:buNone/>
            </a:pPr>
            <a:r>
              <a:rPr lang="en-US" sz="1400" dirty="0">
                <a:solidFill>
                  <a:schemeClr val="accent5"/>
                </a:solidFill>
              </a:rPr>
              <a:t>  ·  IDs, schema, exact values</a:t>
            </a:r>
            <a:endParaRPr lang="en-US" sz="1400" dirty="0"/>
          </a:p>
        </p:txBody>
      </p:sp>
      <p:sp>
        <p:nvSpPr>
          <p:cNvPr id="29" name="badge-232"/>
          <p:cNvSpPr/>
          <p:nvPr/>
        </p:nvSpPr>
        <p:spPr>
          <a:xfrm>
            <a:off x="548640" y="4270248"/>
            <a:ext cx="402336" cy="402336"/>
          </a:xfrm>
          <a:prstGeom prst="roundRect">
            <a:avLst>
              <a:gd name="adj" fmla="val 22727"/>
            </a:avLst>
          </a:prstGeom>
          <a:solidFill>
            <a:schemeClr val="accent1"/>
          </a:solidFill>
          <a:ln w="12700">
            <a:solidFill>
              <a:schemeClr val="accent1"/>
            </a:solidFill>
            <a:prstDash val="solid"/>
          </a:ln>
        </p:spPr>
      </p:sp>
      <p:sp>
        <p:nvSpPr>
          <p:cNvPr id="30" name="badge-label-233"/>
          <p:cNvSpPr txBox="1"/>
          <p:nvPr/>
        </p:nvSpPr>
        <p:spPr>
          <a:xfrm>
            <a:off x="548640" y="4270248"/>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2</a:t>
            </a:r>
            <a:endParaRPr lang="en-US" sz="1300" dirty="0"/>
          </a:p>
        </p:txBody>
      </p:sp>
      <p:sp>
        <p:nvSpPr>
          <p:cNvPr id="31" name="text-234"/>
          <p:cNvSpPr txBox="1"/>
          <p:nvPr/>
        </p:nvSpPr>
        <p:spPr>
          <a:xfrm>
            <a:off x="1097280" y="4233672"/>
            <a:ext cx="5486400" cy="475488"/>
          </a:xfrm>
          <a:prstGeom prst="rect">
            <a:avLst/>
          </a:prstGeom>
          <a:noFill/>
          <a:ln/>
        </p:spPr>
        <p:txBody>
          <a:bodyPr wrap="square" lIns="0" tIns="0" rIns="0" bIns="0" rtlCol="0" anchor="ctr"/>
          <a:lstStyle/>
          <a:p>
            <a:pPr indent="0" marL="0">
              <a:buNone/>
            </a:pPr>
            <a:r>
              <a:rPr lang="en-US" sz="1400" b="1" dirty="0">
                <a:solidFill>
                  <a:schemeClr val="tx1"/>
                </a:solidFill>
              </a:rPr>
              <a:t>LLM-as-judge  </a:t>
            </a:r>
            <a:pPr indent="0" marL="0">
              <a:buNone/>
            </a:pPr>
            <a:r>
              <a:rPr lang="en-US" sz="1400" dirty="0">
                <a:solidFill>
                  <a:schemeClr val="accent3"/>
                </a:solidFill>
              </a:rPr>
              <a:t>openevals CORRECTNESS</a:t>
            </a:r>
            <a:pPr indent="0" marL="0">
              <a:buNone/>
            </a:pPr>
            <a:r>
              <a:rPr lang="en-US" sz="1400" dirty="0">
                <a:solidFill>
                  <a:schemeClr val="accent5"/>
                </a:solidFill>
              </a:rPr>
              <a:t>  ·  Fuzzy quality vs. reference</a:t>
            </a:r>
            <a:endParaRPr lang="en-US" sz="1400" dirty="0"/>
          </a:p>
        </p:txBody>
      </p:sp>
      <p:sp>
        <p:nvSpPr>
          <p:cNvPr id="32" name="badge-235"/>
          <p:cNvSpPr/>
          <p:nvPr/>
        </p:nvSpPr>
        <p:spPr>
          <a:xfrm>
            <a:off x="548640" y="4892040"/>
            <a:ext cx="402336" cy="402336"/>
          </a:xfrm>
          <a:prstGeom prst="roundRect">
            <a:avLst>
              <a:gd name="adj" fmla="val 22727"/>
            </a:avLst>
          </a:prstGeom>
          <a:solidFill>
            <a:schemeClr val="accent1"/>
          </a:solidFill>
          <a:ln w="12700">
            <a:solidFill>
              <a:schemeClr val="accent1"/>
            </a:solidFill>
            <a:prstDash val="solid"/>
          </a:ln>
        </p:spPr>
      </p:sp>
      <p:sp>
        <p:nvSpPr>
          <p:cNvPr id="33" name="badge-label-236"/>
          <p:cNvSpPr txBox="1"/>
          <p:nvPr/>
        </p:nvSpPr>
        <p:spPr>
          <a:xfrm>
            <a:off x="548640" y="4892040"/>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3</a:t>
            </a:r>
            <a:endParaRPr lang="en-US" sz="1300" dirty="0"/>
          </a:p>
        </p:txBody>
      </p:sp>
      <p:sp>
        <p:nvSpPr>
          <p:cNvPr id="34" name="text-237"/>
          <p:cNvSpPr txBox="1"/>
          <p:nvPr/>
        </p:nvSpPr>
        <p:spPr>
          <a:xfrm>
            <a:off x="1097280" y="4855464"/>
            <a:ext cx="5486400" cy="475488"/>
          </a:xfrm>
          <a:prstGeom prst="rect">
            <a:avLst/>
          </a:prstGeom>
          <a:noFill/>
          <a:ln/>
        </p:spPr>
        <p:txBody>
          <a:bodyPr wrap="square" lIns="0" tIns="0" rIns="0" bIns="0" rtlCol="0" anchor="ctr"/>
          <a:lstStyle/>
          <a:p>
            <a:pPr indent="0" marL="0">
              <a:buNone/>
            </a:pPr>
            <a:r>
              <a:rPr lang="en-US" sz="1400" b="1" dirty="0">
                <a:solidFill>
                  <a:schemeClr val="tx1"/>
                </a:solidFill>
              </a:rPr>
              <a:t>Trajectory  </a:t>
            </a:r>
            <a:pPr indent="0" marL="0">
              <a:buNone/>
            </a:pPr>
            <a:r>
              <a:rPr lang="en-US" sz="1400" dirty="0">
                <a:solidFill>
                  <a:schemeClr val="accent3"/>
                </a:solidFill>
              </a:rPr>
              <a:t>agentevals</a:t>
            </a:r>
            <a:pPr indent="0" marL="0">
              <a:buNone/>
            </a:pPr>
            <a:r>
              <a:rPr lang="en-US" sz="1400" dirty="0">
                <a:solidFill>
                  <a:schemeClr val="accent5"/>
                </a:solidFill>
              </a:rPr>
              <a:t>  ·  Right tools, sensible order</a:t>
            </a:r>
            <a:endParaRPr lang="en-US" sz="1400" dirty="0"/>
          </a:p>
        </p:txBody>
      </p:sp>
      <p:sp>
        <p:nvSpPr>
          <p:cNvPr id="35" name="badge-238"/>
          <p:cNvSpPr/>
          <p:nvPr/>
        </p:nvSpPr>
        <p:spPr>
          <a:xfrm>
            <a:off x="548640" y="5513832"/>
            <a:ext cx="402336" cy="402336"/>
          </a:xfrm>
          <a:prstGeom prst="roundRect">
            <a:avLst>
              <a:gd name="adj" fmla="val 22727"/>
            </a:avLst>
          </a:prstGeom>
          <a:solidFill>
            <a:schemeClr val="accent1"/>
          </a:solidFill>
          <a:ln w="12700">
            <a:solidFill>
              <a:schemeClr val="accent1"/>
            </a:solidFill>
            <a:prstDash val="solid"/>
          </a:ln>
        </p:spPr>
      </p:sp>
      <p:sp>
        <p:nvSpPr>
          <p:cNvPr id="36" name="badge-label-239"/>
          <p:cNvSpPr txBox="1"/>
          <p:nvPr/>
        </p:nvSpPr>
        <p:spPr>
          <a:xfrm>
            <a:off x="548640" y="551383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4</a:t>
            </a:r>
            <a:endParaRPr lang="en-US" sz="1300" dirty="0"/>
          </a:p>
        </p:txBody>
      </p:sp>
      <p:sp>
        <p:nvSpPr>
          <p:cNvPr id="37" name="text-240"/>
          <p:cNvSpPr txBox="1"/>
          <p:nvPr/>
        </p:nvSpPr>
        <p:spPr>
          <a:xfrm>
            <a:off x="1097280" y="5477256"/>
            <a:ext cx="5486400" cy="475488"/>
          </a:xfrm>
          <a:prstGeom prst="rect">
            <a:avLst/>
          </a:prstGeom>
          <a:noFill/>
          <a:ln/>
        </p:spPr>
        <p:txBody>
          <a:bodyPr wrap="square" lIns="0" tIns="0" rIns="0" bIns="0" rtlCol="0" anchor="ctr"/>
          <a:lstStyle/>
          <a:p>
            <a:pPr indent="0" marL="0">
              <a:buNone/>
            </a:pPr>
            <a:r>
              <a:rPr lang="en-US" sz="1400" b="1" dirty="0">
                <a:solidFill>
                  <a:schemeClr val="tx1"/>
                </a:solidFill>
              </a:rPr>
              <a:t>Human  </a:t>
            </a:r>
            <a:pPr indent="0" marL="0">
              <a:buNone/>
            </a:pPr>
            <a:r>
              <a:rPr lang="en-US" sz="1400" dirty="0">
                <a:solidFill>
                  <a:schemeClr val="accent3"/>
                </a:solidFill>
              </a:rPr>
              <a:t>Annotation queues</a:t>
            </a:r>
            <a:pPr indent="0" marL="0">
              <a:buNone/>
            </a:pPr>
            <a:r>
              <a:rPr lang="en-US" sz="1400" dirty="0">
                <a:solidFill>
                  <a:schemeClr val="accent5"/>
                </a:solidFill>
              </a:rPr>
              <a:t>  ·  Calibrate the judge</a:t>
            </a:r>
            <a:endParaRPr lang="en-US" sz="1400" dirty="0"/>
          </a:p>
        </p:txBody>
      </p:sp>
      <p:sp>
        <p:nvSpPr>
          <p:cNvPr id="38" name="card-241"/>
          <p:cNvSpPr/>
          <p:nvPr/>
        </p:nvSpPr>
        <p:spPr>
          <a:xfrm>
            <a:off x="6903720" y="3154680"/>
            <a:ext cx="4736592" cy="2926080"/>
          </a:xfrm>
          <a:prstGeom prst="roundRect">
            <a:avLst>
              <a:gd name="adj" fmla="val 3750"/>
            </a:avLst>
          </a:prstGeom>
          <a:solidFill>
            <a:schemeClr val="tx2"/>
          </a:solidFill>
          <a:ln w="12700">
            <a:solidFill>
              <a:schemeClr val="tx2"/>
            </a:solidFill>
            <a:prstDash val="solid"/>
          </a:ln>
        </p:spPr>
      </p:sp>
      <p:sp>
        <p:nvSpPr>
          <p:cNvPr id="39" name="text-242"/>
          <p:cNvSpPr txBox="1"/>
          <p:nvPr/>
        </p:nvSpPr>
        <p:spPr>
          <a:xfrm>
            <a:off x="7178040" y="3337560"/>
            <a:ext cx="4187952" cy="260604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rPr>
              <a:t>A/B experiment design</a:t>
            </a:r>
            <a:endParaRPr lang="en-US" sz="1400" dirty="0"/>
          </a:p>
          <a:p>
            <a:pPr marL="342900" indent="-342900">
              <a:spcAft>
                <a:spcPts val="400"/>
              </a:spcAft>
              <a:buSzPct val="100000"/>
              <a:buChar char="•"/>
            </a:pPr>
            <a:r>
              <a:rPr lang="en-US" sz="1400" dirty="0">
                <a:solidFill>
                  <a:schemeClr val="bg1"/>
                </a:solidFill>
              </a:rPr>
              <a:t>Dataset psc-triage-v1: golden cases incl. a clean control</a:t>
            </a:r>
            <a:endParaRPr lang="en-US" sz="1400" dirty="0"/>
          </a:p>
          <a:p>
            <a:pPr marL="342900" indent="-342900">
              <a:spcAft>
                <a:spcPts val="400"/>
              </a:spcAft>
              <a:buSzPct val="100000"/>
              <a:buChar char="•"/>
            </a:pPr>
            <a:r>
              <a:rPr lang="en-US" sz="1400" dirty="0">
                <a:solidFill>
                  <a:schemeClr val="bg1"/>
                </a:solidFill>
              </a:rPr>
              <a:t>v1-baseline vs. v2-sla-first system prompt</a:t>
            </a:r>
            <a:endParaRPr lang="en-US" sz="1400" dirty="0"/>
          </a:p>
          <a:p>
            <a:pPr marL="342900" indent="-342900">
              <a:spcAft>
                <a:spcPts val="400"/>
              </a:spcAft>
              <a:buSzPct val="100000"/>
              <a:buChar char="•"/>
            </a:pPr>
            <a:r>
              <a:rPr lang="en-US" sz="1400" dirty="0">
                <a:solidFill>
                  <a:schemeClr val="bg1"/>
                </a:solidFill>
              </a:rPr>
              <a:t>2 repetitions each to separate signal from noise</a:t>
            </a:r>
            <a:endParaRPr lang="en-US" sz="1400" dirty="0"/>
          </a:p>
          <a:p>
            <a:pPr marL="342900" indent="-342900">
              <a:spcAft>
                <a:spcPts val="400"/>
              </a:spcAft>
              <a:buSzPct val="100000"/>
              <a:buChar char="•"/>
            </a:pPr>
            <a:r>
              <a:rPr lang="en-US" sz="1400" dirty="0">
                <a:solidFill>
                  <a:schemeClr val="bg1"/>
                </a:solidFill>
              </a:rPr>
              <a:t>Compare per example, grouped by prompt_variant</a:t>
            </a:r>
            <a:endParaRPr lang="en-US" sz="1400" dirty="0"/>
          </a:p>
          <a:p>
            <a:pPr indent="0" marL="0">
              <a:spcAft>
                <a:spcPts val="400"/>
              </a:spcAft>
              <a:buNone/>
            </a:pPr>
            <a:r>
              <a:rPr lang="en-US" sz="1300" i="1" dirty="0">
                <a:solidFill>
                  <a:schemeClr val="accent4"/>
                </a:solidFill>
              </a:rPr>
              <a:t>5 examples is a smoke test; real engagements need 50–200 from production traces.</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lstStyle/>
          <a:p>
            <a:pPr indent="0" marL="0">
              <a:buNone/>
            </a:pPr>
            <a:r>
              <a:rPr lang="en-US" sz="1200" b="1" spc="200" kern="0" dirty="0">
                <a:solidFill>
                  <a:schemeClr val="accent3"/>
                </a:solidFill>
              </a:rPr>
              <a:t>MODULE 7 · DEPLOY</a:t>
            </a:r>
            <a:endParaRPr lang="en-US" sz="1200" dirty="0"/>
          </a:p>
        </p:txBody>
      </p:sp>
      <p:sp>
        <p:nvSpPr>
          <p:cNvPr id="3" name="Text 0"/>
          <p:cNvSpPr/>
          <p:nvPr>
            <p:ph idx="101" type="title" hasCustomPrompt="1"/>
          </p:nvPr>
        </p:nvSpPr>
        <p:spPr>
          <a:xfrm>
            <a:off x="548640" y="58521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One Agent Server, four deployment shapes</a:t>
            </a:r>
            <a:endParaRPr lang="en-US" sz="3200" dirty="0"/>
          </a:p>
        </p:txBody>
      </p:sp>
      <p:sp>
        <p:nvSpPr>
          <p:cNvPr id="4" name="badge-243"/>
          <p:cNvSpPr/>
          <p:nvPr/>
        </p:nvSpPr>
        <p:spPr>
          <a:xfrm>
            <a:off x="548640" y="1645920"/>
            <a:ext cx="457200" cy="457200"/>
          </a:xfrm>
          <a:prstGeom prst="roundRect">
            <a:avLst>
              <a:gd name="adj" fmla="val 20000"/>
            </a:avLst>
          </a:prstGeom>
          <a:solidFill>
            <a:schemeClr val="accent1"/>
          </a:solidFill>
          <a:ln w="12700">
            <a:solidFill>
              <a:schemeClr val="accent1"/>
            </a:solidFill>
            <a:prstDash val="solid"/>
          </a:ln>
        </p:spPr>
      </p:sp>
      <p:sp>
        <p:nvSpPr>
          <p:cNvPr id="5" name="badge-label-244"/>
          <p:cNvSpPr txBox="1"/>
          <p:nvPr/>
        </p:nvSpPr>
        <p:spPr>
          <a:xfrm>
            <a:off x="548640" y="16459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1</a:t>
            </a:r>
            <a:endParaRPr lang="en-US" sz="1400" dirty="0"/>
          </a:p>
        </p:txBody>
      </p:sp>
      <p:sp>
        <p:nvSpPr>
          <p:cNvPr id="6" name="text-245"/>
          <p:cNvSpPr txBox="1"/>
          <p:nvPr/>
        </p:nvSpPr>
        <p:spPr>
          <a:xfrm>
            <a:off x="1188720" y="1600200"/>
            <a:ext cx="3291840" cy="822960"/>
          </a:xfrm>
          <a:prstGeom prst="rect">
            <a:avLst/>
          </a:prstGeom>
          <a:noFill/>
          <a:ln/>
        </p:spPr>
        <p:txBody>
          <a:bodyPr wrap="square" lIns="0" tIns="0" rIns="0" bIns="0" rtlCol="0" anchor="t"/>
          <a:lstStyle/>
          <a:p>
            <a:pPr indent="0" marL="0">
              <a:buNone/>
            </a:pPr>
            <a:r>
              <a:rPr lang="en-US" sz="1500" b="1" dirty="0">
                <a:solidFill>
                  <a:schemeClr val="tx1"/>
                </a:solidFill>
                <a:latin typeface="Courier New" pitchFamily="34" charset="0"/>
                <a:ea typeface="Courier New" pitchFamily="34" charset="-122"/>
                <a:cs typeface="Courier New" pitchFamily="34" charset="-120"/>
              </a:rPr>
              <a:t>langgraph dev</a:t>
            </a:r>
            <a:endParaRPr lang="en-US" sz="1400" dirty="0"/>
          </a:p>
          <a:p>
            <a:pPr indent="0" marL="0">
              <a:buNone/>
            </a:pPr>
            <a:r>
              <a:rPr lang="en-US" sz="1300" dirty="0">
                <a:solidFill>
                  <a:schemeClr val="accent5"/>
                </a:solidFill>
              </a:rPr>
              <a:t>In-memory server + Studio, hot reload</a:t>
            </a:r>
            <a:endParaRPr lang="en-US" sz="1400" dirty="0"/>
          </a:p>
        </p:txBody>
      </p:sp>
      <p:sp>
        <p:nvSpPr>
          <p:cNvPr id="7" name="badge-246"/>
          <p:cNvSpPr/>
          <p:nvPr/>
        </p:nvSpPr>
        <p:spPr>
          <a:xfrm>
            <a:off x="548640" y="2606040"/>
            <a:ext cx="457200" cy="457200"/>
          </a:xfrm>
          <a:prstGeom prst="roundRect">
            <a:avLst>
              <a:gd name="adj" fmla="val 20000"/>
            </a:avLst>
          </a:prstGeom>
          <a:solidFill>
            <a:schemeClr val="accent1"/>
          </a:solidFill>
          <a:ln w="12700">
            <a:solidFill>
              <a:schemeClr val="accent1"/>
            </a:solidFill>
            <a:prstDash val="solid"/>
          </a:ln>
        </p:spPr>
      </p:sp>
      <p:sp>
        <p:nvSpPr>
          <p:cNvPr id="8" name="badge-label-247"/>
          <p:cNvSpPr txBox="1"/>
          <p:nvPr/>
        </p:nvSpPr>
        <p:spPr>
          <a:xfrm>
            <a:off x="548640" y="260604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2</a:t>
            </a:r>
            <a:endParaRPr lang="en-US" sz="1400" dirty="0"/>
          </a:p>
        </p:txBody>
      </p:sp>
      <p:sp>
        <p:nvSpPr>
          <p:cNvPr id="9" name="text-248"/>
          <p:cNvSpPr txBox="1"/>
          <p:nvPr/>
        </p:nvSpPr>
        <p:spPr>
          <a:xfrm>
            <a:off x="1188720" y="2560320"/>
            <a:ext cx="3291840" cy="822960"/>
          </a:xfrm>
          <a:prstGeom prst="rect">
            <a:avLst/>
          </a:prstGeom>
          <a:noFill/>
          <a:ln/>
        </p:spPr>
        <p:txBody>
          <a:bodyPr wrap="square" lIns="0" tIns="0" rIns="0" bIns="0" rtlCol="0" anchor="t"/>
          <a:lstStyle/>
          <a:p>
            <a:pPr indent="0" marL="0">
              <a:buNone/>
            </a:pPr>
            <a:r>
              <a:rPr lang="en-US" sz="1500" b="1" dirty="0">
                <a:solidFill>
                  <a:schemeClr val="tx1"/>
                </a:solidFill>
                <a:latin typeface="Courier New" pitchFamily="34" charset="0"/>
                <a:ea typeface="Courier New" pitchFamily="34" charset="-122"/>
                <a:cs typeface="Courier New" pitchFamily="34" charset="-120"/>
              </a:rPr>
              <a:t>langgraph build</a:t>
            </a:r>
            <a:endParaRPr lang="en-US" sz="1400" dirty="0"/>
          </a:p>
          <a:p>
            <a:pPr indent="0" marL="0">
              <a:buNone/>
            </a:pPr>
            <a:r>
              <a:rPr lang="en-US" sz="1300" dirty="0">
                <a:solidFill>
                  <a:schemeClr val="accent5"/>
                </a:solidFill>
              </a:rPr>
              <a:t>Image on langchain/langgraph-api</a:t>
            </a:r>
            <a:endParaRPr lang="en-US" sz="1400" dirty="0"/>
          </a:p>
        </p:txBody>
      </p:sp>
      <p:sp>
        <p:nvSpPr>
          <p:cNvPr id="10" name="badge-249"/>
          <p:cNvSpPr/>
          <p:nvPr/>
        </p:nvSpPr>
        <p:spPr>
          <a:xfrm>
            <a:off x="548640" y="3566160"/>
            <a:ext cx="457200" cy="457200"/>
          </a:xfrm>
          <a:prstGeom prst="roundRect">
            <a:avLst>
              <a:gd name="adj" fmla="val 20000"/>
            </a:avLst>
          </a:prstGeom>
          <a:solidFill>
            <a:schemeClr val="accent1"/>
          </a:solidFill>
          <a:ln w="12700">
            <a:solidFill>
              <a:schemeClr val="accent1"/>
            </a:solidFill>
            <a:prstDash val="solid"/>
          </a:ln>
        </p:spPr>
      </p:sp>
      <p:sp>
        <p:nvSpPr>
          <p:cNvPr id="11" name="badge-label-250"/>
          <p:cNvSpPr txBox="1"/>
          <p:nvPr/>
        </p:nvSpPr>
        <p:spPr>
          <a:xfrm>
            <a:off x="548640" y="356616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3</a:t>
            </a:r>
            <a:endParaRPr lang="en-US" sz="1400" dirty="0"/>
          </a:p>
        </p:txBody>
      </p:sp>
      <p:sp>
        <p:nvSpPr>
          <p:cNvPr id="12" name="text-251"/>
          <p:cNvSpPr txBox="1"/>
          <p:nvPr/>
        </p:nvSpPr>
        <p:spPr>
          <a:xfrm>
            <a:off x="1188720" y="3520440"/>
            <a:ext cx="3291840" cy="822960"/>
          </a:xfrm>
          <a:prstGeom prst="rect">
            <a:avLst/>
          </a:prstGeom>
          <a:noFill/>
          <a:ln/>
        </p:spPr>
        <p:txBody>
          <a:bodyPr wrap="square" lIns="0" tIns="0" rIns="0" bIns="0" rtlCol="0" anchor="t"/>
          <a:lstStyle/>
          <a:p>
            <a:pPr indent="0" marL="0">
              <a:buNone/>
            </a:pPr>
            <a:r>
              <a:rPr lang="en-US" sz="1500" b="1" dirty="0">
                <a:solidFill>
                  <a:schemeClr val="tx1"/>
                </a:solidFill>
                <a:latin typeface="Courier New" pitchFamily="34" charset="0"/>
                <a:ea typeface="Courier New" pitchFamily="34" charset="-122"/>
                <a:cs typeface="Courier New" pitchFamily="34" charset="-120"/>
              </a:rPr>
              <a:t>langgraph deploy</a:t>
            </a:r>
            <a:endParaRPr lang="en-US" sz="1400" dirty="0"/>
          </a:p>
          <a:p>
            <a:pPr indent="0" marL="0">
              <a:buNone/>
            </a:pPr>
            <a:r>
              <a:rPr lang="en-US" sz="1300" dirty="0">
                <a:solidFill>
                  <a:schemeClr val="accent5"/>
                </a:solidFill>
              </a:rPr>
              <a:t>Build + ship to LangSmith Deployment</a:t>
            </a:r>
            <a:endParaRPr lang="en-US" sz="1400" dirty="0"/>
          </a:p>
        </p:txBody>
      </p:sp>
      <p:sp>
        <p:nvSpPr>
          <p:cNvPr id="13" name="card-252"/>
          <p:cNvSpPr/>
          <p:nvPr/>
        </p:nvSpPr>
        <p:spPr>
          <a:xfrm>
            <a:off x="548640" y="4617720"/>
            <a:ext cx="3931920" cy="1417320"/>
          </a:xfrm>
          <a:prstGeom prst="roundRect">
            <a:avLst>
              <a:gd name="adj" fmla="val 7742"/>
            </a:avLst>
          </a:prstGeom>
          <a:solidFill>
            <a:srgbClr val="FBEBD3"/>
          </a:solidFill>
          <a:ln w="12700">
            <a:solidFill>
              <a:srgbClr val="FBEBD3"/>
            </a:solidFill>
            <a:prstDash val="solid"/>
          </a:ln>
        </p:spPr>
      </p:sp>
      <p:sp>
        <p:nvSpPr>
          <p:cNvPr id="14" name="text-253"/>
          <p:cNvSpPr txBox="1"/>
          <p:nvPr/>
        </p:nvSpPr>
        <p:spPr>
          <a:xfrm>
            <a:off x="731520" y="4736592"/>
            <a:ext cx="3566160" cy="1234440"/>
          </a:xfrm>
          <a:prstGeom prst="rect">
            <a:avLst/>
          </a:prstGeom>
          <a:noFill/>
          <a:ln/>
        </p:spPr>
        <p:txBody>
          <a:bodyPr wrap="square" lIns="0" tIns="0" rIns="0" bIns="0" rtlCol="0" anchor="t"/>
          <a:lstStyle/>
          <a:p>
            <a:pPr indent="0" marL="0">
              <a:buNone/>
            </a:pPr>
            <a:r>
              <a:rPr lang="en-US" sz="1400" b="1" dirty="0">
                <a:solidFill>
                  <a:schemeClr val="tx1"/>
                </a:solidFill>
              </a:rPr>
              <a:t>Gotcha I hit</a:t>
            </a:r>
            <a:endParaRPr lang="en-US" sz="1400" dirty="0"/>
          </a:p>
          <a:p>
            <a:pPr indent="0" marL="0">
              <a:buNone/>
            </a:pPr>
            <a:r>
              <a:rPr lang="en-US" sz="1300" dirty="0">
                <a:solidFill>
                  <a:schemeClr val="tx1"/>
                </a:solidFill>
              </a:rPr>
              <a:t>The server refuses graphs that bring their own checkpointer, so graphs are exported without one and local runs add it.</a:t>
            </a:r>
            <a:endParaRPr lang="en-US" sz="1400" dirty="0"/>
          </a:p>
        </p:txBody>
      </p:sp>
      <p:graphicFrame>
        <p:nvGraphicFramePr>
          <p:cNvPr id="12" name="options-254"/>
          <p:cNvGraphicFramePr>
            <a:graphicFrameLocks noGrp="1"/>
          </p:cNvGraphicFramePr>
          <p:nvPr>
            <p:extLst>
              <p:ext uri="{D42A27DB-BD31-4B8C-83A1-F6EECF244321}">
                <p14:modId xmlns:p14="http://schemas.microsoft.com/office/powerpoint/2010/main" val="1579011935"/>
              </p:ext>
            </p:extLst>
          </p:nvPr>
        </p:nvGraphicFramePr>
        <p:xfrm>
          <a:off x="4846320" y="1645920"/>
          <a:ext cx="6793992" cy="914400"/>
        </p:xfrm>
        <a:graphic>
          <a:graphicData uri="http://schemas.openxmlformats.org/drawingml/2006/table">
            <a:tbl>
              <a:tblPr/>
              <a:tblGrid>
                <a:gridCol w="1508760"/>
                <a:gridCol w="1325880"/>
                <a:gridCol w="1463040"/>
                <a:gridCol w="2496312"/>
              </a:tblGrid>
              <a:tr h="713232">
                <a:tc>
                  <a:txBody>
                    <a:bodyPr/>
                    <a:lstStyle/>
                    <a:p>
                      <a:pPr indent="0" marL="0">
                        <a:buNone/>
                      </a:pPr>
                      <a:r>
                        <a:rPr lang="en-US" sz="1300" b="1" dirty="0">
                          <a:solidFill>
                            <a:schemeClr val="bg1"/>
                          </a:solidFill>
                        </a:rPr>
                        <a:t>Option</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accent3"/>
                    </a:solidFill>
                  </a:tcPr>
                </a:tc>
                <a:tc>
                  <a:txBody>
                    <a:bodyPr/>
                    <a:lstStyle/>
                    <a:p>
                      <a:pPr indent="0" marL="0">
                        <a:buNone/>
                      </a:pPr>
                      <a:r>
                        <a:rPr lang="en-US" sz="1300" b="1" dirty="0">
                          <a:solidFill>
                            <a:schemeClr val="bg1"/>
                          </a:solidFill>
                        </a:rPr>
                        <a:t>Control plane</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accent3"/>
                    </a:solidFill>
                  </a:tcPr>
                </a:tc>
                <a:tc>
                  <a:txBody>
                    <a:bodyPr/>
                    <a:lstStyle/>
                    <a:p>
                      <a:pPr indent="0" marL="0">
                        <a:buNone/>
                      </a:pPr>
                      <a:r>
                        <a:rPr lang="en-US" sz="1300" b="1" dirty="0">
                          <a:solidFill>
                            <a:schemeClr val="bg1"/>
                          </a:solidFill>
                        </a:rPr>
                        <a:t>Data plane</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accent3"/>
                    </a:solidFill>
                  </a:tcPr>
                </a:tc>
                <a:tc>
                  <a:txBody>
                    <a:bodyPr/>
                    <a:lstStyle/>
                    <a:p>
                      <a:pPr indent="0" marL="0">
                        <a:buNone/>
                      </a:pPr>
                      <a:r>
                        <a:rPr lang="en-US" sz="1300" b="1" dirty="0">
                          <a:solidFill>
                            <a:schemeClr val="bg1"/>
                          </a:solidFill>
                        </a:rPr>
                        <a:t>Recommend when</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accent3"/>
                    </a:solidFill>
                  </a:tcPr>
                </a:tc>
              </a:tr>
              <a:tr h="713232">
                <a:tc>
                  <a:txBody>
                    <a:bodyPr/>
                    <a:lstStyle/>
                    <a:p>
                      <a:pPr indent="0" marL="0">
                        <a:buNone/>
                      </a:pPr>
                      <a:r>
                        <a:rPr lang="en-US" sz="1300" b="1" dirty="0">
                          <a:solidFill>
                            <a:schemeClr val="tx1"/>
                          </a:solidFill>
                        </a:rPr>
                        <a:t>Cloud</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LangChain</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LangChain</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Fastest path, no residency limits</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2"/>
                    </a:solidFill>
                  </a:tcPr>
                </a:tc>
              </a:tr>
              <a:tr h="713232">
                <a:tc>
                  <a:txBody>
                    <a:bodyPr/>
                    <a:lstStyle/>
                    <a:p>
                      <a:pPr indent="0" marL="0">
                        <a:buNone/>
                      </a:pPr>
                      <a:r>
                        <a:rPr lang="en-US" sz="1300" b="1" dirty="0">
                          <a:solidFill>
                            <a:schemeClr val="tx1"/>
                          </a:solidFill>
                        </a:rPr>
                        <a:t>Hybrid</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LangChain</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Customer cluster</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Data stays in VPC; traces still leave</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1"/>
                    </a:solidFill>
                  </a:tcPr>
                </a:tc>
              </a:tr>
              <a:tr h="713232">
                <a:tc>
                  <a:txBody>
                    <a:bodyPr/>
                    <a:lstStyle/>
                    <a:p>
                      <a:pPr indent="0" marL="0">
                        <a:buNone/>
                      </a:pPr>
                      <a:r>
                        <a:rPr lang="en-US" sz="1300" b="1" dirty="0">
                          <a:solidFill>
                            <a:schemeClr val="tx1"/>
                          </a:solidFill>
                        </a:rPr>
                        <a:t>Self-hosted</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Customer</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Customer</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Regulated or air-gapped</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2"/>
                    </a:solidFill>
                  </a:tcPr>
                </a:tc>
              </a:tr>
              <a:tr h="713232">
                <a:tc>
                  <a:txBody>
                    <a:bodyPr/>
                    <a:lstStyle/>
                    <a:p>
                      <a:pPr indent="0" marL="0">
                        <a:buNone/>
                      </a:pPr>
                      <a:r>
                        <a:rPr lang="en-US" sz="1300" b="1" dirty="0">
                          <a:solidFill>
                            <a:schemeClr val="tx1"/>
                          </a:solidFill>
                        </a:rPr>
                        <a:t>Standalone server</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None</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Customer</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Has platform tooling, needs runtime only</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16" name="text-255"/>
          <p:cNvSpPr txBox="1"/>
          <p:nvPr/>
        </p:nvSpPr>
        <p:spPr>
          <a:xfrm>
            <a:off x="4846320" y="5486400"/>
            <a:ext cx="6793992" cy="548640"/>
          </a:xfrm>
          <a:prstGeom prst="rect">
            <a:avLst/>
          </a:prstGeom>
          <a:noFill/>
          <a:ln/>
        </p:spPr>
        <p:txBody>
          <a:bodyPr wrap="square" lIns="0" tIns="0" rIns="0" bIns="0" rtlCol="0" anchor="t"/>
          <a:lstStyle/>
          <a:p>
            <a:pPr indent="0" marL="0">
              <a:buNone/>
            </a:pPr>
            <a:r>
              <a:rPr lang="en-US" sz="1300" dirty="0">
                <a:solidFill>
                  <a:schemeClr val="accent5"/>
                </a:solidFill>
              </a:rPr>
              <a:t>For DoD-style customers the default answer is self-hosted or hybrid, with private model endpoints and local embeddings.</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lstStyle/>
          <a:p>
            <a:pPr indent="0" marL="0">
              <a:buNone/>
            </a:pPr>
            <a:r>
              <a:rPr lang="en-US" sz="1200" b="1" spc="200" kern="0" dirty="0">
                <a:solidFill>
                  <a:schemeClr val="accent3"/>
                </a:solidFill>
              </a:rPr>
              <a:t>PRODUCTION ARCHITECTURE</a:t>
            </a:r>
            <a:endParaRPr lang="en-US" sz="1200" dirty="0"/>
          </a:p>
        </p:txBody>
      </p:sp>
      <p:sp>
        <p:nvSpPr>
          <p:cNvPr id="3" name="Text 0"/>
          <p:cNvSpPr/>
          <p:nvPr>
            <p:ph idx="101" type="title" hasCustomPrompt="1"/>
          </p:nvPr>
        </p:nvSpPr>
        <p:spPr>
          <a:xfrm>
            <a:off x="548640" y="58521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Postgres is the system of record: harden it first</a:t>
            </a:r>
            <a:endParaRPr lang="en-US" sz="3200" dirty="0"/>
          </a:p>
        </p:txBody>
      </p:sp>
      <p:sp>
        <p:nvSpPr>
          <p:cNvPr id="4" name="card-256"/>
          <p:cNvSpPr/>
          <p:nvPr/>
        </p:nvSpPr>
        <p:spPr>
          <a:xfrm>
            <a:off x="548640" y="2926080"/>
            <a:ext cx="1600200" cy="914400"/>
          </a:xfrm>
          <a:prstGeom prst="roundRect">
            <a:avLst>
              <a:gd name="adj" fmla="val 12000"/>
            </a:avLst>
          </a:prstGeom>
          <a:solidFill>
            <a:schemeClr val="bg2"/>
          </a:solidFill>
          <a:ln w="12700">
            <a:solidFill>
              <a:schemeClr val="bg2"/>
            </a:solidFill>
            <a:prstDash val="solid"/>
          </a:ln>
        </p:spPr>
      </p:sp>
      <p:sp>
        <p:nvSpPr>
          <p:cNvPr id="5" name="box-label-257"/>
          <p:cNvSpPr txBox="1"/>
          <p:nvPr/>
        </p:nvSpPr>
        <p:spPr>
          <a:xfrm>
            <a:off x="640080" y="2926080"/>
            <a:ext cx="1417320" cy="914400"/>
          </a:xfrm>
          <a:prstGeom prst="rect">
            <a:avLst/>
          </a:prstGeom>
          <a:noFill/>
          <a:ln/>
        </p:spPr>
        <p:txBody>
          <a:bodyPr wrap="square" lIns="0" tIns="0" rIns="0" bIns="0" rtlCol="0" anchor="ctr"/>
          <a:lstStyle/>
          <a:p>
            <a:pPr algn="ctr" indent="0" marL="0">
              <a:buNone/>
            </a:pPr>
            <a:r>
              <a:rPr lang="en-US" sz="1300" b="1" dirty="0">
                <a:solidFill>
                  <a:schemeClr val="tx1"/>
                </a:solidFill>
              </a:rPr>
              <a:t>Clients</a:t>
            </a:r>
            <a:endParaRPr lang="en-US" sz="1300" dirty="0"/>
          </a:p>
          <a:p>
            <a:pPr algn="ctr" indent="0" marL="0">
              <a:buNone/>
            </a:pPr>
            <a:r>
              <a:rPr lang="en-US" sz="1100" dirty="0">
                <a:solidFill>
                  <a:schemeClr val="accent5"/>
                </a:solidFill>
              </a:rPr>
              <a:t>Slack, CI, apps</a:t>
            </a:r>
            <a:endParaRPr lang="en-US" sz="1300" dirty="0"/>
          </a:p>
        </p:txBody>
      </p:sp>
      <p:sp>
        <p:nvSpPr>
          <p:cNvPr id="6" name="card-258"/>
          <p:cNvSpPr/>
          <p:nvPr/>
        </p:nvSpPr>
        <p:spPr>
          <a:xfrm>
            <a:off x="2514600" y="2926080"/>
            <a:ext cx="1691640" cy="914400"/>
          </a:xfrm>
          <a:prstGeom prst="roundRect">
            <a:avLst>
              <a:gd name="adj" fmla="val 12000"/>
            </a:avLst>
          </a:prstGeom>
          <a:solidFill>
            <a:schemeClr val="bg2"/>
          </a:solidFill>
          <a:ln w="12700">
            <a:solidFill>
              <a:schemeClr val="bg2"/>
            </a:solidFill>
            <a:prstDash val="solid"/>
          </a:ln>
        </p:spPr>
      </p:sp>
      <p:sp>
        <p:nvSpPr>
          <p:cNvPr id="7" name="box-label-259"/>
          <p:cNvSpPr txBox="1"/>
          <p:nvPr/>
        </p:nvSpPr>
        <p:spPr>
          <a:xfrm>
            <a:off x="2606040" y="2926080"/>
            <a:ext cx="1508760" cy="914400"/>
          </a:xfrm>
          <a:prstGeom prst="rect">
            <a:avLst/>
          </a:prstGeom>
          <a:noFill/>
          <a:ln/>
        </p:spPr>
        <p:txBody>
          <a:bodyPr wrap="square" lIns="0" tIns="0" rIns="0" bIns="0" rtlCol="0" anchor="ctr"/>
          <a:lstStyle/>
          <a:p>
            <a:pPr algn="ctr" indent="0" marL="0">
              <a:buNone/>
            </a:pPr>
            <a:r>
              <a:rPr lang="en-US" sz="1300" b="1" dirty="0">
                <a:solidFill>
                  <a:schemeClr val="tx1"/>
                </a:solidFill>
              </a:rPr>
              <a:t>Ingress + TLS</a:t>
            </a:r>
            <a:endParaRPr lang="en-US" sz="1300" dirty="0"/>
          </a:p>
          <a:p>
            <a:pPr algn="ctr" indent="0" marL="0">
              <a:buNone/>
            </a:pPr>
            <a:r>
              <a:rPr lang="en-US" sz="1100" dirty="0">
                <a:solidFill>
                  <a:schemeClr val="accent5"/>
                </a:solidFill>
              </a:rPr>
              <a:t>OIDC / SSO auth</a:t>
            </a:r>
            <a:endParaRPr lang="en-US" sz="1300" dirty="0"/>
          </a:p>
        </p:txBody>
      </p:sp>
      <p:sp>
        <p:nvSpPr>
          <p:cNvPr id="8" name="card-260"/>
          <p:cNvSpPr/>
          <p:nvPr/>
        </p:nvSpPr>
        <p:spPr>
          <a:xfrm>
            <a:off x="4572000" y="1828800"/>
            <a:ext cx="1828800" cy="914400"/>
          </a:xfrm>
          <a:prstGeom prst="roundRect">
            <a:avLst>
              <a:gd name="adj" fmla="val 12000"/>
            </a:avLst>
          </a:prstGeom>
          <a:solidFill>
            <a:schemeClr val="accent1"/>
          </a:solidFill>
          <a:ln w="12700">
            <a:solidFill>
              <a:schemeClr val="accent1"/>
            </a:solidFill>
            <a:prstDash val="solid"/>
          </a:ln>
        </p:spPr>
      </p:sp>
      <p:sp>
        <p:nvSpPr>
          <p:cNvPr id="9" name="box-label-261"/>
          <p:cNvSpPr txBox="1"/>
          <p:nvPr/>
        </p:nvSpPr>
        <p:spPr>
          <a:xfrm>
            <a:off x="4663440" y="1828800"/>
            <a:ext cx="1645920" cy="914400"/>
          </a:xfrm>
          <a:prstGeom prst="rect">
            <a:avLst/>
          </a:prstGeom>
          <a:noFill/>
          <a:ln/>
        </p:spPr>
        <p:txBody>
          <a:bodyPr wrap="square" lIns="0" tIns="0" rIns="0" bIns="0" rtlCol="0" anchor="ctr"/>
          <a:lstStyle/>
          <a:p>
            <a:pPr algn="ctr" indent="0" marL="0">
              <a:buNone/>
            </a:pPr>
            <a:r>
              <a:rPr lang="en-US" sz="1300" b="1" dirty="0">
                <a:solidFill>
                  <a:schemeClr val="bg1"/>
                </a:solidFill>
              </a:rPr>
              <a:t>API pods</a:t>
            </a:r>
            <a:endParaRPr lang="en-US" sz="1300" dirty="0"/>
          </a:p>
          <a:p>
            <a:pPr algn="ctr" indent="0" marL="0">
              <a:buNone/>
            </a:pPr>
            <a:r>
              <a:rPr lang="en-US" sz="1100" dirty="0">
                <a:solidFill>
                  <a:schemeClr val="bg1"/>
                </a:solidFill>
              </a:rPr>
              <a:t>HPA, multi-AZ</a:t>
            </a:r>
            <a:endParaRPr lang="en-US" sz="1300" dirty="0"/>
          </a:p>
        </p:txBody>
      </p:sp>
      <p:sp>
        <p:nvSpPr>
          <p:cNvPr id="10" name="card-262"/>
          <p:cNvSpPr/>
          <p:nvPr/>
        </p:nvSpPr>
        <p:spPr>
          <a:xfrm>
            <a:off x="4572000" y="4023360"/>
            <a:ext cx="1828800" cy="914400"/>
          </a:xfrm>
          <a:prstGeom prst="roundRect">
            <a:avLst>
              <a:gd name="adj" fmla="val 12000"/>
            </a:avLst>
          </a:prstGeom>
          <a:solidFill>
            <a:schemeClr val="accent1"/>
          </a:solidFill>
          <a:ln w="12700">
            <a:solidFill>
              <a:schemeClr val="accent1"/>
            </a:solidFill>
            <a:prstDash val="solid"/>
          </a:ln>
        </p:spPr>
      </p:sp>
      <p:sp>
        <p:nvSpPr>
          <p:cNvPr id="11" name="box-label-263"/>
          <p:cNvSpPr txBox="1"/>
          <p:nvPr/>
        </p:nvSpPr>
        <p:spPr>
          <a:xfrm>
            <a:off x="4663440" y="4023360"/>
            <a:ext cx="1645920" cy="914400"/>
          </a:xfrm>
          <a:prstGeom prst="rect">
            <a:avLst/>
          </a:prstGeom>
          <a:noFill/>
          <a:ln/>
        </p:spPr>
        <p:txBody>
          <a:bodyPr wrap="square" lIns="0" tIns="0" rIns="0" bIns="0" rtlCol="0" anchor="ctr"/>
          <a:lstStyle/>
          <a:p>
            <a:pPr algn="ctr" indent="0" marL="0">
              <a:buNone/>
            </a:pPr>
            <a:r>
              <a:rPr lang="en-US" sz="1300" b="1" dirty="0">
                <a:solidFill>
                  <a:schemeClr val="bg1"/>
                </a:solidFill>
              </a:rPr>
              <a:t>Queue workers</a:t>
            </a:r>
            <a:endParaRPr lang="en-US" sz="1300" dirty="0"/>
          </a:p>
          <a:p>
            <a:pPr algn="ctr" indent="0" marL="0">
              <a:buNone/>
            </a:pPr>
            <a:r>
              <a:rPr lang="en-US" sz="1100" dirty="0">
                <a:solidFill>
                  <a:schemeClr val="bg1"/>
                </a:solidFill>
              </a:rPr>
              <a:t>HPA on queue depth</a:t>
            </a:r>
            <a:endParaRPr lang="en-US" sz="1300" dirty="0"/>
          </a:p>
        </p:txBody>
      </p:sp>
      <p:sp>
        <p:nvSpPr>
          <p:cNvPr id="12" name="card-264"/>
          <p:cNvSpPr/>
          <p:nvPr/>
        </p:nvSpPr>
        <p:spPr>
          <a:xfrm>
            <a:off x="6903720" y="1600200"/>
            <a:ext cx="1463040" cy="914400"/>
          </a:xfrm>
          <a:prstGeom prst="roundRect">
            <a:avLst>
              <a:gd name="adj" fmla="val 12000"/>
            </a:avLst>
          </a:prstGeom>
          <a:solidFill>
            <a:schemeClr val="bg2"/>
          </a:solidFill>
          <a:ln w="12700">
            <a:solidFill>
              <a:schemeClr val="bg2"/>
            </a:solidFill>
            <a:prstDash val="solid"/>
          </a:ln>
        </p:spPr>
      </p:sp>
      <p:sp>
        <p:nvSpPr>
          <p:cNvPr id="13" name="box-label-265"/>
          <p:cNvSpPr txBox="1"/>
          <p:nvPr/>
        </p:nvSpPr>
        <p:spPr>
          <a:xfrm>
            <a:off x="6995160" y="1600200"/>
            <a:ext cx="1280160" cy="914400"/>
          </a:xfrm>
          <a:prstGeom prst="rect">
            <a:avLst/>
          </a:prstGeom>
          <a:noFill/>
          <a:ln/>
        </p:spPr>
        <p:txBody>
          <a:bodyPr wrap="square" lIns="0" tIns="0" rIns="0" bIns="0" rtlCol="0" anchor="ctr"/>
          <a:lstStyle/>
          <a:p>
            <a:pPr algn="ctr" indent="0" marL="0">
              <a:buNone/>
            </a:pPr>
            <a:r>
              <a:rPr lang="en-US" sz="1300" b="1" dirty="0">
                <a:solidFill>
                  <a:schemeClr val="tx1"/>
                </a:solidFill>
              </a:rPr>
              <a:t>Redis</a:t>
            </a:r>
            <a:endParaRPr lang="en-US" sz="1300" dirty="0"/>
          </a:p>
          <a:p>
            <a:pPr algn="ctr" indent="0" marL="0">
              <a:buNone/>
            </a:pPr>
            <a:r>
              <a:rPr lang="en-US" sz="1100" dirty="0">
                <a:solidFill>
                  <a:schemeClr val="accent5"/>
                </a:solidFill>
              </a:rPr>
              <a:t>pub/sub, streams</a:t>
            </a:r>
            <a:endParaRPr lang="en-US" sz="1300" dirty="0"/>
          </a:p>
        </p:txBody>
      </p:sp>
      <p:sp>
        <p:nvSpPr>
          <p:cNvPr id="14" name="card-266"/>
          <p:cNvSpPr/>
          <p:nvPr/>
        </p:nvSpPr>
        <p:spPr>
          <a:xfrm>
            <a:off x="6903720" y="2926080"/>
            <a:ext cx="1463040" cy="914400"/>
          </a:xfrm>
          <a:prstGeom prst="roundRect">
            <a:avLst>
              <a:gd name="adj" fmla="val 12000"/>
            </a:avLst>
          </a:prstGeom>
          <a:solidFill>
            <a:schemeClr val="tx2"/>
          </a:solidFill>
          <a:ln w="12700">
            <a:solidFill>
              <a:schemeClr val="tx2"/>
            </a:solidFill>
            <a:prstDash val="solid"/>
          </a:ln>
        </p:spPr>
      </p:sp>
      <p:sp>
        <p:nvSpPr>
          <p:cNvPr id="15" name="box-label-267"/>
          <p:cNvSpPr txBox="1"/>
          <p:nvPr/>
        </p:nvSpPr>
        <p:spPr>
          <a:xfrm>
            <a:off x="6995160" y="2926080"/>
            <a:ext cx="1280160" cy="914400"/>
          </a:xfrm>
          <a:prstGeom prst="rect">
            <a:avLst/>
          </a:prstGeom>
          <a:noFill/>
          <a:ln/>
        </p:spPr>
        <p:txBody>
          <a:bodyPr wrap="square" lIns="0" tIns="0" rIns="0" bIns="0" rtlCol="0" anchor="ctr"/>
          <a:lstStyle/>
          <a:p>
            <a:pPr algn="ctr" indent="0" marL="0">
              <a:buNone/>
            </a:pPr>
            <a:r>
              <a:rPr lang="en-US" sz="1300" b="1" dirty="0">
                <a:solidFill>
                  <a:schemeClr val="bg1"/>
                </a:solidFill>
              </a:rPr>
              <a:t>Postgres HA</a:t>
            </a:r>
            <a:endParaRPr lang="en-US" sz="1300" dirty="0"/>
          </a:p>
          <a:p>
            <a:pPr algn="ctr" indent="0" marL="0">
              <a:buNone/>
            </a:pPr>
            <a:r>
              <a:rPr lang="en-US" sz="1100" dirty="0">
                <a:solidFill>
                  <a:schemeClr val="accent4"/>
                </a:solidFill>
              </a:rPr>
              <a:t>checkpoints, store</a:t>
            </a:r>
            <a:endParaRPr lang="en-US" sz="1300" dirty="0"/>
          </a:p>
        </p:txBody>
      </p:sp>
      <p:sp>
        <p:nvSpPr>
          <p:cNvPr id="16" name="card-268"/>
          <p:cNvSpPr/>
          <p:nvPr/>
        </p:nvSpPr>
        <p:spPr>
          <a:xfrm>
            <a:off x="6903720" y="4251960"/>
            <a:ext cx="1463040" cy="914400"/>
          </a:xfrm>
          <a:prstGeom prst="roundRect">
            <a:avLst>
              <a:gd name="adj" fmla="val 12000"/>
            </a:avLst>
          </a:prstGeom>
          <a:solidFill>
            <a:schemeClr val="bg2"/>
          </a:solidFill>
          <a:ln w="12700">
            <a:solidFill>
              <a:schemeClr val="bg2"/>
            </a:solidFill>
            <a:prstDash val="solid"/>
          </a:ln>
        </p:spPr>
      </p:sp>
      <p:sp>
        <p:nvSpPr>
          <p:cNvPr id="17" name="box-label-269"/>
          <p:cNvSpPr txBox="1"/>
          <p:nvPr/>
        </p:nvSpPr>
        <p:spPr>
          <a:xfrm>
            <a:off x="6995160" y="4251960"/>
            <a:ext cx="1280160" cy="914400"/>
          </a:xfrm>
          <a:prstGeom prst="rect">
            <a:avLst/>
          </a:prstGeom>
          <a:noFill/>
          <a:ln/>
        </p:spPr>
        <p:txBody>
          <a:bodyPr wrap="square" lIns="0" tIns="0" rIns="0" bIns="0" rtlCol="0" anchor="ctr"/>
          <a:lstStyle/>
          <a:p>
            <a:pPr algn="ctr" indent="0" marL="0">
              <a:buNone/>
            </a:pPr>
            <a:r>
              <a:rPr lang="en-US" sz="1300" b="1" dirty="0">
                <a:solidFill>
                  <a:schemeClr val="tx1"/>
                </a:solidFill>
              </a:rPr>
              <a:t>Model APIs</a:t>
            </a:r>
            <a:endParaRPr lang="en-US" sz="1300" dirty="0"/>
          </a:p>
          <a:p>
            <a:pPr algn="ctr" indent="0" marL="0">
              <a:buNone/>
            </a:pPr>
            <a:r>
              <a:rPr lang="en-US" sz="1100" dirty="0">
                <a:solidFill>
                  <a:schemeClr val="accent5"/>
                </a:solidFill>
              </a:rPr>
              <a:t>or private endpoints</a:t>
            </a:r>
            <a:endParaRPr lang="en-US" sz="1300" dirty="0"/>
          </a:p>
        </p:txBody>
      </p:sp>
      <p:sp>
        <p:nvSpPr>
          <p:cNvPr id="18" name="card-270"/>
          <p:cNvSpPr/>
          <p:nvPr/>
        </p:nvSpPr>
        <p:spPr>
          <a:xfrm>
            <a:off x="6903720" y="5349240"/>
            <a:ext cx="1463040" cy="731520"/>
          </a:xfrm>
          <a:prstGeom prst="roundRect">
            <a:avLst>
              <a:gd name="adj" fmla="val 15000"/>
            </a:avLst>
          </a:prstGeom>
          <a:solidFill>
            <a:schemeClr val="bg2"/>
          </a:solidFill>
          <a:ln w="12700">
            <a:solidFill>
              <a:schemeClr val="bg2"/>
            </a:solidFill>
            <a:prstDash val="solid"/>
          </a:ln>
        </p:spPr>
      </p:sp>
      <p:sp>
        <p:nvSpPr>
          <p:cNvPr id="19" name="box-label-271"/>
          <p:cNvSpPr txBox="1"/>
          <p:nvPr/>
        </p:nvSpPr>
        <p:spPr>
          <a:xfrm>
            <a:off x="6995160" y="5349240"/>
            <a:ext cx="1280160" cy="731520"/>
          </a:xfrm>
          <a:prstGeom prst="rect">
            <a:avLst/>
          </a:prstGeom>
          <a:noFill/>
          <a:ln/>
        </p:spPr>
        <p:txBody>
          <a:bodyPr wrap="square" lIns="0" tIns="0" rIns="0" bIns="0" rtlCol="0" anchor="ctr"/>
          <a:lstStyle/>
          <a:p>
            <a:pPr algn="ctr" indent="0" marL="0">
              <a:buNone/>
            </a:pPr>
            <a:r>
              <a:rPr lang="en-US" sz="1300" b="1" dirty="0">
                <a:solidFill>
                  <a:schemeClr val="tx1"/>
                </a:solidFill>
              </a:rPr>
              <a:t>LangSmith</a:t>
            </a:r>
            <a:endParaRPr lang="en-US" sz="1300" dirty="0"/>
          </a:p>
          <a:p>
            <a:pPr algn="ctr" indent="0" marL="0">
              <a:buNone/>
            </a:pPr>
            <a:r>
              <a:rPr lang="en-US" sz="1100" dirty="0">
                <a:solidFill>
                  <a:schemeClr val="accent5"/>
                </a:solidFill>
              </a:rPr>
              <a:t>traces</a:t>
            </a:r>
            <a:endParaRPr lang="en-US" sz="1300" dirty="0"/>
          </a:p>
        </p:txBody>
      </p:sp>
      <p:sp>
        <p:nvSpPr>
          <p:cNvPr id="20" name="arrow-272"/>
          <p:cNvSpPr/>
          <p:nvPr/>
        </p:nvSpPr>
        <p:spPr>
          <a:xfrm>
            <a:off x="2148840" y="3383280"/>
            <a:ext cx="365760" cy="914"/>
          </a:xfrm>
          <a:prstGeom prst="line">
            <a:avLst/>
          </a:prstGeom>
          <a:noFill/>
          <a:ln w="19050">
            <a:solidFill>
              <a:srgbClr val="5B6B66"/>
            </a:solidFill>
            <a:prstDash val="solid"/>
            <a:tailEnd type="triangle"/>
          </a:ln>
        </p:spPr>
      </p:sp>
      <p:sp>
        <p:nvSpPr>
          <p:cNvPr id="21" name="arrow-273"/>
          <p:cNvSpPr/>
          <p:nvPr/>
        </p:nvSpPr>
        <p:spPr>
          <a:xfrm flipV="1">
            <a:off x="4206240" y="2377440"/>
            <a:ext cx="365760" cy="868680"/>
          </a:xfrm>
          <a:prstGeom prst="line">
            <a:avLst/>
          </a:prstGeom>
          <a:noFill/>
          <a:ln w="19050">
            <a:solidFill>
              <a:srgbClr val="5B6B66"/>
            </a:solidFill>
            <a:prstDash val="solid"/>
            <a:tailEnd type="triangle"/>
          </a:ln>
        </p:spPr>
      </p:sp>
      <p:sp>
        <p:nvSpPr>
          <p:cNvPr id="22" name="arrow-274"/>
          <p:cNvSpPr/>
          <p:nvPr/>
        </p:nvSpPr>
        <p:spPr>
          <a:xfrm>
            <a:off x="5486400" y="2743200"/>
            <a:ext cx="914" cy="1280160"/>
          </a:xfrm>
          <a:prstGeom prst="line">
            <a:avLst/>
          </a:prstGeom>
          <a:noFill/>
          <a:ln w="19050">
            <a:solidFill>
              <a:srgbClr val="5B6B66"/>
            </a:solidFill>
            <a:prstDash val="solid"/>
            <a:tailEnd type="triangle"/>
          </a:ln>
        </p:spPr>
      </p:sp>
      <p:sp>
        <p:nvSpPr>
          <p:cNvPr id="23" name="arrow-275"/>
          <p:cNvSpPr/>
          <p:nvPr/>
        </p:nvSpPr>
        <p:spPr>
          <a:xfrm flipV="1">
            <a:off x="6400800" y="2057400"/>
            <a:ext cx="502920" cy="137160"/>
          </a:xfrm>
          <a:prstGeom prst="line">
            <a:avLst/>
          </a:prstGeom>
          <a:noFill/>
          <a:ln w="19050">
            <a:solidFill>
              <a:srgbClr val="5B6B66"/>
            </a:solidFill>
            <a:prstDash val="solid"/>
            <a:tailEnd type="triangle"/>
          </a:ln>
        </p:spPr>
      </p:sp>
      <p:sp>
        <p:nvSpPr>
          <p:cNvPr id="24" name="arrow-276"/>
          <p:cNvSpPr/>
          <p:nvPr/>
        </p:nvSpPr>
        <p:spPr>
          <a:xfrm>
            <a:off x="6400800" y="2468880"/>
            <a:ext cx="502920" cy="731520"/>
          </a:xfrm>
          <a:prstGeom prst="line">
            <a:avLst/>
          </a:prstGeom>
          <a:noFill/>
          <a:ln w="19050">
            <a:solidFill>
              <a:srgbClr val="5B6B66"/>
            </a:solidFill>
            <a:prstDash val="solid"/>
            <a:tailEnd type="triangle"/>
          </a:ln>
        </p:spPr>
      </p:sp>
      <p:sp>
        <p:nvSpPr>
          <p:cNvPr id="25" name="arrow-277"/>
          <p:cNvSpPr/>
          <p:nvPr/>
        </p:nvSpPr>
        <p:spPr>
          <a:xfrm flipV="1">
            <a:off x="6400800" y="3611880"/>
            <a:ext cx="502920" cy="731520"/>
          </a:xfrm>
          <a:prstGeom prst="line">
            <a:avLst/>
          </a:prstGeom>
          <a:noFill/>
          <a:ln w="19050">
            <a:solidFill>
              <a:srgbClr val="5B6B66"/>
            </a:solidFill>
            <a:prstDash val="solid"/>
            <a:tailEnd type="triangle"/>
          </a:ln>
        </p:spPr>
      </p:sp>
      <p:sp>
        <p:nvSpPr>
          <p:cNvPr id="26" name="arrow-278"/>
          <p:cNvSpPr/>
          <p:nvPr/>
        </p:nvSpPr>
        <p:spPr>
          <a:xfrm>
            <a:off x="6400800" y="4572000"/>
            <a:ext cx="502920" cy="137160"/>
          </a:xfrm>
          <a:prstGeom prst="line">
            <a:avLst/>
          </a:prstGeom>
          <a:noFill/>
          <a:ln w="19050">
            <a:solidFill>
              <a:srgbClr val="5B6B66"/>
            </a:solidFill>
            <a:prstDash val="solid"/>
            <a:tailEnd type="triangle"/>
          </a:ln>
        </p:spPr>
      </p:sp>
      <p:sp>
        <p:nvSpPr>
          <p:cNvPr id="27" name="arrow-279"/>
          <p:cNvSpPr/>
          <p:nvPr/>
        </p:nvSpPr>
        <p:spPr>
          <a:xfrm>
            <a:off x="6400800" y="4846320"/>
            <a:ext cx="502920" cy="777240"/>
          </a:xfrm>
          <a:prstGeom prst="line">
            <a:avLst/>
          </a:prstGeom>
          <a:noFill/>
          <a:ln w="19050">
            <a:solidFill>
              <a:srgbClr val="5B6B66"/>
            </a:solidFill>
            <a:prstDash val="solid"/>
            <a:tailEnd type="triangle"/>
          </a:ln>
        </p:spPr>
      </p:sp>
      <p:sp>
        <p:nvSpPr>
          <p:cNvPr id="28" name="icon-bg-280"/>
          <p:cNvSpPr/>
          <p:nvPr/>
        </p:nvSpPr>
        <p:spPr>
          <a:xfrm>
            <a:off x="8823960" y="1600200"/>
            <a:ext cx="457200" cy="457200"/>
          </a:xfrm>
          <a:prstGeom prst="ellipse">
            <a:avLst/>
          </a:prstGeom>
          <a:solidFill>
            <a:schemeClr val="accent4"/>
          </a:solidFill>
          <a:ln w="12700">
            <a:solidFill>
              <a:schemeClr val="accent4"/>
            </a:solidFill>
            <a:prstDash val="solid"/>
          </a:ln>
        </p:spPr>
      </p:sp>
      <p:pic>
        <p:nvPicPr>
          <p:cNvPr id="29" name="icon-281" descr="preencoded.png">    </p:cNvPr>
          <p:cNvPicPr>
            <a:picLocks noChangeAspect="1"/>
          </p:cNvPicPr>
          <p:nvPr/>
        </p:nvPicPr>
        <p:blipFill>
          <a:blip r:embed="rId1"/>
          <a:stretch>
            <a:fillRect/>
          </a:stretch>
        </p:blipFill>
        <p:spPr>
          <a:xfrm>
            <a:off x="8933688" y="1709928"/>
            <a:ext cx="237744" cy="237744"/>
          </a:xfrm>
          <a:prstGeom prst="rect">
            <a:avLst/>
          </a:prstGeom>
        </p:spPr>
      </p:pic>
      <p:sp>
        <p:nvSpPr>
          <p:cNvPr id="30" name="text-282"/>
          <p:cNvSpPr txBox="1"/>
          <p:nvPr/>
        </p:nvSpPr>
        <p:spPr>
          <a:xfrm>
            <a:off x="9418320" y="1563624"/>
            <a:ext cx="2221992" cy="1097280"/>
          </a:xfrm>
          <a:prstGeom prst="rect">
            <a:avLst/>
          </a:prstGeom>
          <a:noFill/>
          <a:ln/>
        </p:spPr>
        <p:txBody>
          <a:bodyPr wrap="square" lIns="0" tIns="0" rIns="0" bIns="0" rtlCol="0" anchor="t"/>
          <a:lstStyle/>
          <a:p>
            <a:pPr indent="0" marL="0">
              <a:buNone/>
            </a:pPr>
            <a:r>
              <a:rPr lang="en-US" sz="1500" b="1" dirty="0">
                <a:solidFill>
                  <a:schemeClr val="tx1"/>
                </a:solidFill>
              </a:rPr>
              <a:t>HA / DR</a:t>
            </a:r>
            <a:endParaRPr lang="en-US" sz="1400" dirty="0"/>
          </a:p>
          <a:p>
            <a:pPr indent="0" marL="0">
              <a:buNone/>
            </a:pPr>
            <a:r>
              <a:rPr lang="en-US" sz="1300" dirty="0">
                <a:solidFill>
                  <a:schemeClr val="accent5"/>
                </a:solidFill>
              </a:rPr>
              <a:t>Managed Postgres, multi-AZ standby, PITR, cross-region replica. Redis is rebuildable.</a:t>
            </a:r>
            <a:endParaRPr lang="en-US" sz="1400" dirty="0"/>
          </a:p>
        </p:txBody>
      </p:sp>
      <p:sp>
        <p:nvSpPr>
          <p:cNvPr id="31" name="icon-bg-283"/>
          <p:cNvSpPr/>
          <p:nvPr/>
        </p:nvSpPr>
        <p:spPr>
          <a:xfrm>
            <a:off x="8823960" y="2743200"/>
            <a:ext cx="457200" cy="457200"/>
          </a:xfrm>
          <a:prstGeom prst="ellipse">
            <a:avLst/>
          </a:prstGeom>
          <a:solidFill>
            <a:schemeClr val="accent4"/>
          </a:solidFill>
          <a:ln w="12700">
            <a:solidFill>
              <a:schemeClr val="accent4"/>
            </a:solidFill>
            <a:prstDash val="solid"/>
          </a:ln>
        </p:spPr>
      </p:sp>
      <p:pic>
        <p:nvPicPr>
          <p:cNvPr id="32" name="icon-284" descr="preencoded.png">    </p:cNvPr>
          <p:cNvPicPr>
            <a:picLocks noChangeAspect="1"/>
          </p:cNvPicPr>
          <p:nvPr/>
        </p:nvPicPr>
        <p:blipFill>
          <a:blip r:embed="rId2"/>
          <a:stretch>
            <a:fillRect/>
          </a:stretch>
        </p:blipFill>
        <p:spPr>
          <a:xfrm>
            <a:off x="8933688" y="2852928"/>
            <a:ext cx="237744" cy="237744"/>
          </a:xfrm>
          <a:prstGeom prst="rect">
            <a:avLst/>
          </a:prstGeom>
        </p:spPr>
      </p:pic>
      <p:sp>
        <p:nvSpPr>
          <p:cNvPr id="33" name="text-285"/>
          <p:cNvSpPr txBox="1"/>
          <p:nvPr/>
        </p:nvSpPr>
        <p:spPr>
          <a:xfrm>
            <a:off x="9418320" y="2706624"/>
            <a:ext cx="2221992" cy="1097280"/>
          </a:xfrm>
          <a:prstGeom prst="rect">
            <a:avLst/>
          </a:prstGeom>
          <a:noFill/>
          <a:ln/>
        </p:spPr>
        <p:txBody>
          <a:bodyPr wrap="square" lIns="0" tIns="0" rIns="0" bIns="0" rtlCol="0" anchor="t"/>
          <a:lstStyle/>
          <a:p>
            <a:pPr indent="0" marL="0">
              <a:buNone/>
            </a:pPr>
            <a:r>
              <a:rPr lang="en-US" sz="1500" b="1" dirty="0">
                <a:solidFill>
                  <a:schemeClr val="tx1"/>
                </a:solidFill>
              </a:rPr>
              <a:t>Security</a:t>
            </a:r>
            <a:endParaRPr lang="en-US" sz="1400" dirty="0"/>
          </a:p>
          <a:p>
            <a:pPr indent="0" marL="0">
              <a:buNone/>
            </a:pPr>
            <a:r>
              <a:rPr lang="en-US" sz="1300" dirty="0">
                <a:solidFill>
                  <a:schemeClr val="accent5"/>
                </a:solidFill>
              </a:rPr>
              <a:t>Vault or External Secrets, egress NetworkPolicies, custom auth mapped to the IdP.</a:t>
            </a:r>
            <a:endParaRPr lang="en-US" sz="1400" dirty="0"/>
          </a:p>
        </p:txBody>
      </p:sp>
      <p:sp>
        <p:nvSpPr>
          <p:cNvPr id="34" name="icon-bg-286"/>
          <p:cNvSpPr/>
          <p:nvPr/>
        </p:nvSpPr>
        <p:spPr>
          <a:xfrm>
            <a:off x="8823960" y="3886200"/>
            <a:ext cx="457200" cy="457200"/>
          </a:xfrm>
          <a:prstGeom prst="ellipse">
            <a:avLst/>
          </a:prstGeom>
          <a:solidFill>
            <a:schemeClr val="accent4"/>
          </a:solidFill>
          <a:ln w="12700">
            <a:solidFill>
              <a:schemeClr val="accent4"/>
            </a:solidFill>
            <a:prstDash val="solid"/>
          </a:ln>
        </p:spPr>
      </p:sp>
      <p:pic>
        <p:nvPicPr>
          <p:cNvPr id="35" name="icon-287" descr="preencoded.png">    </p:cNvPr>
          <p:cNvPicPr>
            <a:picLocks noChangeAspect="1"/>
          </p:cNvPicPr>
          <p:nvPr/>
        </p:nvPicPr>
        <p:blipFill>
          <a:blip r:embed="rId3"/>
          <a:stretch>
            <a:fillRect/>
          </a:stretch>
        </p:blipFill>
        <p:spPr>
          <a:xfrm>
            <a:off x="8933688" y="3995928"/>
            <a:ext cx="237744" cy="237744"/>
          </a:xfrm>
          <a:prstGeom prst="rect">
            <a:avLst/>
          </a:prstGeom>
        </p:spPr>
      </p:pic>
      <p:sp>
        <p:nvSpPr>
          <p:cNvPr id="36" name="text-288"/>
          <p:cNvSpPr txBox="1"/>
          <p:nvPr/>
        </p:nvSpPr>
        <p:spPr>
          <a:xfrm>
            <a:off x="9418320" y="3849624"/>
            <a:ext cx="2221992" cy="1097280"/>
          </a:xfrm>
          <a:prstGeom prst="rect">
            <a:avLst/>
          </a:prstGeom>
          <a:noFill/>
          <a:ln/>
        </p:spPr>
        <p:txBody>
          <a:bodyPr wrap="square" lIns="0" tIns="0" rIns="0" bIns="0" rtlCol="0" anchor="t"/>
          <a:lstStyle/>
          <a:p>
            <a:pPr indent="0" marL="0">
              <a:buNone/>
            </a:pPr>
            <a:r>
              <a:rPr lang="en-US" sz="1500" b="1" dirty="0">
                <a:solidFill>
                  <a:schemeClr val="tx1"/>
                </a:solidFill>
              </a:rPr>
              <a:t>Observability</a:t>
            </a:r>
            <a:endParaRPr lang="en-US" sz="1400" dirty="0"/>
          </a:p>
          <a:p>
            <a:pPr indent="0" marL="0">
              <a:buNone/>
            </a:pPr>
            <a:r>
              <a:rPr lang="en-US" sz="1300" dirty="0">
                <a:solidFill>
                  <a:schemeClr val="accent5"/>
                </a:solidFill>
              </a:rPr>
              <a:t>LangSmith for agents; Prometheus or Datadog for pods, queue depth, Postgres.</a:t>
            </a:r>
            <a:endParaRPr lang="en-US" sz="1400" dirty="0"/>
          </a:p>
        </p:txBody>
      </p:sp>
      <p:sp>
        <p:nvSpPr>
          <p:cNvPr id="37" name="icon-bg-289"/>
          <p:cNvSpPr/>
          <p:nvPr/>
        </p:nvSpPr>
        <p:spPr>
          <a:xfrm>
            <a:off x="8823960" y="5029200"/>
            <a:ext cx="457200" cy="457200"/>
          </a:xfrm>
          <a:prstGeom prst="ellipse">
            <a:avLst/>
          </a:prstGeom>
          <a:solidFill>
            <a:schemeClr val="accent4"/>
          </a:solidFill>
          <a:ln w="12700">
            <a:solidFill>
              <a:schemeClr val="accent4"/>
            </a:solidFill>
            <a:prstDash val="solid"/>
          </a:ln>
        </p:spPr>
      </p:sp>
      <p:pic>
        <p:nvPicPr>
          <p:cNvPr id="38" name="icon-290" descr="preencoded.png">    </p:cNvPr>
          <p:cNvPicPr>
            <a:picLocks noChangeAspect="1"/>
          </p:cNvPicPr>
          <p:nvPr/>
        </p:nvPicPr>
        <p:blipFill>
          <a:blip r:embed="rId4"/>
          <a:stretch>
            <a:fillRect/>
          </a:stretch>
        </p:blipFill>
        <p:spPr>
          <a:xfrm>
            <a:off x="8933688" y="5138928"/>
            <a:ext cx="237744" cy="237744"/>
          </a:xfrm>
          <a:prstGeom prst="rect">
            <a:avLst/>
          </a:prstGeom>
        </p:spPr>
      </p:pic>
      <p:sp>
        <p:nvSpPr>
          <p:cNvPr id="39" name="text-291"/>
          <p:cNvSpPr txBox="1"/>
          <p:nvPr/>
        </p:nvSpPr>
        <p:spPr>
          <a:xfrm>
            <a:off x="9418320" y="4992624"/>
            <a:ext cx="2221992" cy="1097280"/>
          </a:xfrm>
          <a:prstGeom prst="rect">
            <a:avLst/>
          </a:prstGeom>
          <a:noFill/>
          <a:ln/>
        </p:spPr>
        <p:txBody>
          <a:bodyPr wrap="square" lIns="0" tIns="0" rIns="0" bIns="0" rtlCol="0" anchor="t"/>
          <a:lstStyle/>
          <a:p>
            <a:pPr indent="0" marL="0">
              <a:buNone/>
            </a:pPr>
            <a:r>
              <a:rPr lang="en-US" sz="1500" b="1" dirty="0">
                <a:solidFill>
                  <a:schemeClr val="tx1"/>
                </a:solidFill>
              </a:rPr>
              <a:t>IaC + GitOps</a:t>
            </a:r>
            <a:endParaRPr lang="en-US" sz="1400" dirty="0"/>
          </a:p>
          <a:p>
            <a:pPr indent="0" marL="0">
              <a:buNone/>
            </a:pPr>
            <a:r>
              <a:rPr lang="en-US" sz="1300" dirty="0">
                <a:solidFill>
                  <a:schemeClr val="accent5"/>
                </a:solidFill>
              </a:rPr>
              <a:t>Terraform for infra, Helm values in Git, Argo CD rollouts, eval gate in CI.</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lstStyle/>
          <a:p>
            <a:pPr indent="0" marL="0">
              <a:buNone/>
            </a:pPr>
            <a:r>
              <a:rPr lang="en-US" sz="1200" b="1" spc="200" kern="0" dirty="0">
                <a:solidFill>
                  <a:schemeClr val="accent3"/>
                </a:solidFill>
              </a:rPr>
              <a:t>ARCHITECTURE REFERENCE · SELF-HOSTED LANGSMITH</a:t>
            </a:r>
            <a:endParaRPr lang="en-US" sz="1200" dirty="0"/>
          </a:p>
        </p:txBody>
      </p:sp>
      <p:sp>
        <p:nvSpPr>
          <p:cNvPr id="3" name="Text 0"/>
          <p:cNvSpPr/>
          <p:nvPr>
            <p:ph idx="101" type="title" hasCustomPrompt="1"/>
          </p:nvPr>
        </p:nvSpPr>
        <p:spPr>
          <a:xfrm>
            <a:off x="548640" y="58521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LangSmith platform: components, services, scale</a:t>
            </a:r>
            <a:endParaRPr lang="en-US" sz="3200" dirty="0"/>
          </a:p>
        </p:txBody>
      </p:sp>
      <p:sp>
        <p:nvSpPr>
          <p:cNvPr id="4" name="text-292"/>
          <p:cNvSpPr txBox="1"/>
          <p:nvPr/>
        </p:nvSpPr>
        <p:spPr>
          <a:xfrm>
            <a:off x="548640" y="1481328"/>
            <a:ext cx="1371600" cy="228600"/>
          </a:xfrm>
          <a:prstGeom prst="rect">
            <a:avLst/>
          </a:prstGeom>
          <a:noFill/>
          <a:ln/>
        </p:spPr>
        <p:txBody>
          <a:bodyPr wrap="square" lIns="0" tIns="0" rIns="0" bIns="0" rtlCol="0" anchor="t"/>
          <a:lstStyle/>
          <a:p>
            <a:pPr indent="0" marL="0">
              <a:buNone/>
            </a:pPr>
            <a:r>
              <a:rPr lang="en-US" sz="1000" b="1" spc="100" kern="0" dirty="0">
                <a:solidFill>
                  <a:schemeClr val="accent3"/>
                </a:solidFill>
              </a:rPr>
              <a:t>CLIENTS</a:t>
            </a:r>
            <a:endParaRPr lang="en-US" sz="1000" dirty="0"/>
          </a:p>
        </p:txBody>
      </p:sp>
      <p:sp>
        <p:nvSpPr>
          <p:cNvPr id="5" name="card-293"/>
          <p:cNvSpPr/>
          <p:nvPr/>
        </p:nvSpPr>
        <p:spPr>
          <a:xfrm>
            <a:off x="548640" y="1783080"/>
            <a:ext cx="1325880" cy="640080"/>
          </a:xfrm>
          <a:prstGeom prst="roundRect">
            <a:avLst>
              <a:gd name="adj" fmla="val 17143"/>
            </a:avLst>
          </a:prstGeom>
          <a:solidFill>
            <a:schemeClr val="bg2"/>
          </a:solidFill>
          <a:ln w="12700">
            <a:solidFill>
              <a:schemeClr val="bg2"/>
            </a:solidFill>
            <a:prstDash val="solid"/>
          </a:ln>
        </p:spPr>
      </p:sp>
      <p:sp>
        <p:nvSpPr>
          <p:cNvPr id="6" name="box-label-294"/>
          <p:cNvSpPr txBox="1"/>
          <p:nvPr/>
        </p:nvSpPr>
        <p:spPr>
          <a:xfrm>
            <a:off x="640080" y="1783080"/>
            <a:ext cx="1143000" cy="640080"/>
          </a:xfrm>
          <a:prstGeom prst="rect">
            <a:avLst/>
          </a:prstGeom>
          <a:noFill/>
          <a:ln/>
        </p:spPr>
        <p:txBody>
          <a:bodyPr wrap="square" lIns="0" tIns="0" rIns="0" bIns="0" rtlCol="0" anchor="ctr"/>
          <a:lstStyle/>
          <a:p>
            <a:pPr algn="ctr" indent="0" marL="0">
              <a:buNone/>
            </a:pPr>
            <a:r>
              <a:rPr lang="en-US" sz="1200" b="1" dirty="0">
                <a:solidFill>
                  <a:schemeClr val="tx1"/>
                </a:solidFill>
              </a:rPr>
              <a:t>SDK tracing</a:t>
            </a:r>
            <a:endParaRPr lang="en-US" sz="1200" dirty="0"/>
          </a:p>
          <a:p>
            <a:pPr algn="ctr" indent="0" marL="0">
              <a:buNone/>
            </a:pPr>
            <a:r>
              <a:rPr lang="en-US" sz="1100" dirty="0">
                <a:solidFill>
                  <a:schemeClr val="accent5"/>
                </a:solidFill>
              </a:rPr>
              <a:t>apps, CI evals</a:t>
            </a:r>
            <a:endParaRPr lang="en-US" sz="1200" dirty="0"/>
          </a:p>
        </p:txBody>
      </p:sp>
      <p:sp>
        <p:nvSpPr>
          <p:cNvPr id="7" name="card-295"/>
          <p:cNvSpPr/>
          <p:nvPr/>
        </p:nvSpPr>
        <p:spPr>
          <a:xfrm>
            <a:off x="548640" y="2606040"/>
            <a:ext cx="1325880" cy="640080"/>
          </a:xfrm>
          <a:prstGeom prst="roundRect">
            <a:avLst>
              <a:gd name="adj" fmla="val 17143"/>
            </a:avLst>
          </a:prstGeom>
          <a:solidFill>
            <a:schemeClr val="bg2"/>
          </a:solidFill>
          <a:ln w="12700">
            <a:solidFill>
              <a:schemeClr val="bg2"/>
            </a:solidFill>
            <a:prstDash val="solid"/>
          </a:ln>
        </p:spPr>
      </p:sp>
      <p:sp>
        <p:nvSpPr>
          <p:cNvPr id="8" name="box-label-296"/>
          <p:cNvSpPr txBox="1"/>
          <p:nvPr/>
        </p:nvSpPr>
        <p:spPr>
          <a:xfrm>
            <a:off x="640080" y="2606040"/>
            <a:ext cx="1143000" cy="640080"/>
          </a:xfrm>
          <a:prstGeom prst="rect">
            <a:avLst/>
          </a:prstGeom>
          <a:noFill/>
          <a:ln/>
        </p:spPr>
        <p:txBody>
          <a:bodyPr wrap="square" lIns="0" tIns="0" rIns="0" bIns="0" rtlCol="0" anchor="ctr"/>
          <a:lstStyle/>
          <a:p>
            <a:pPr algn="ctr" indent="0" marL="0">
              <a:buNone/>
            </a:pPr>
            <a:r>
              <a:rPr lang="en-US" sz="1200" b="1" dirty="0">
                <a:solidFill>
                  <a:schemeClr val="tx1"/>
                </a:solidFill>
              </a:rPr>
              <a:t>UI users</a:t>
            </a:r>
            <a:endParaRPr lang="en-US" sz="1200" dirty="0"/>
          </a:p>
          <a:p>
            <a:pPr algn="ctr" indent="0" marL="0">
              <a:buNone/>
            </a:pPr>
            <a:r>
              <a:rPr lang="en-US" sz="1100" dirty="0">
                <a:solidFill>
                  <a:schemeClr val="accent5"/>
                </a:solidFill>
              </a:rPr>
              <a:t>browser</a:t>
            </a:r>
            <a:endParaRPr lang="en-US" sz="1200" dirty="0"/>
          </a:p>
        </p:txBody>
      </p:sp>
      <p:sp>
        <p:nvSpPr>
          <p:cNvPr id="9" name="card-297"/>
          <p:cNvSpPr/>
          <p:nvPr/>
        </p:nvSpPr>
        <p:spPr>
          <a:xfrm>
            <a:off x="548640" y="3429000"/>
            <a:ext cx="1325880" cy="640080"/>
          </a:xfrm>
          <a:prstGeom prst="roundRect">
            <a:avLst>
              <a:gd name="adj" fmla="val 17143"/>
            </a:avLst>
          </a:prstGeom>
          <a:solidFill>
            <a:schemeClr val="bg2"/>
          </a:solidFill>
          <a:ln w="12700">
            <a:solidFill>
              <a:schemeClr val="bg2"/>
            </a:solidFill>
            <a:prstDash val="solid"/>
          </a:ln>
        </p:spPr>
      </p:sp>
      <p:sp>
        <p:nvSpPr>
          <p:cNvPr id="10" name="box-label-298"/>
          <p:cNvSpPr txBox="1"/>
          <p:nvPr/>
        </p:nvSpPr>
        <p:spPr>
          <a:xfrm>
            <a:off x="640080" y="3429000"/>
            <a:ext cx="1143000" cy="640080"/>
          </a:xfrm>
          <a:prstGeom prst="rect">
            <a:avLst/>
          </a:prstGeom>
          <a:noFill/>
          <a:ln/>
        </p:spPr>
        <p:txBody>
          <a:bodyPr wrap="square" lIns="0" tIns="0" rIns="0" bIns="0" rtlCol="0" anchor="ctr"/>
          <a:lstStyle/>
          <a:p>
            <a:pPr algn="ctr" indent="0" marL="0">
              <a:buNone/>
            </a:pPr>
            <a:r>
              <a:rPr lang="en-US" sz="1200" b="1" dirty="0">
                <a:solidFill>
                  <a:schemeClr val="tx1"/>
                </a:solidFill>
              </a:rPr>
              <a:t>Agent clients</a:t>
            </a:r>
            <a:endParaRPr lang="en-US" sz="1200" dirty="0"/>
          </a:p>
          <a:p>
            <a:pPr algn="ctr" indent="0" marL="0">
              <a:buNone/>
            </a:pPr>
            <a:r>
              <a:rPr lang="en-US" sz="1100" dirty="0">
                <a:solidFill>
                  <a:schemeClr val="accent5"/>
                </a:solidFill>
              </a:rPr>
              <a:t>SDK / webhooks</a:t>
            </a:r>
            <a:endParaRPr lang="en-US" sz="1200" dirty="0"/>
          </a:p>
        </p:txBody>
      </p:sp>
      <p:sp>
        <p:nvSpPr>
          <p:cNvPr id="11" name="card-299"/>
          <p:cNvSpPr/>
          <p:nvPr/>
        </p:nvSpPr>
        <p:spPr>
          <a:xfrm>
            <a:off x="2103120" y="2240280"/>
            <a:ext cx="1188720" cy="1371600"/>
          </a:xfrm>
          <a:prstGeom prst="roundRect">
            <a:avLst>
              <a:gd name="adj" fmla="val 9231"/>
            </a:avLst>
          </a:prstGeom>
          <a:solidFill>
            <a:schemeClr val="tx2"/>
          </a:solidFill>
          <a:ln w="12700">
            <a:solidFill>
              <a:schemeClr val="tx2"/>
            </a:solidFill>
            <a:prstDash val="solid"/>
          </a:ln>
        </p:spPr>
      </p:sp>
      <p:sp>
        <p:nvSpPr>
          <p:cNvPr id="12" name="box-label-300"/>
          <p:cNvSpPr txBox="1"/>
          <p:nvPr/>
        </p:nvSpPr>
        <p:spPr>
          <a:xfrm>
            <a:off x="2194560" y="2240280"/>
            <a:ext cx="1005840" cy="1371600"/>
          </a:xfrm>
          <a:prstGeom prst="rect">
            <a:avLst/>
          </a:prstGeom>
          <a:noFill/>
          <a:ln/>
        </p:spPr>
        <p:txBody>
          <a:bodyPr wrap="square" lIns="0" tIns="0" rIns="0" bIns="0" rtlCol="0" anchor="ctr"/>
          <a:lstStyle/>
          <a:p>
            <a:pPr algn="ctr" indent="0" marL="0">
              <a:buNone/>
            </a:pPr>
            <a:r>
              <a:rPr lang="en-US" sz="1200" b="1" dirty="0">
                <a:solidFill>
                  <a:schemeClr val="bg1"/>
                </a:solidFill>
              </a:rPr>
              <a:t>Ingress / LB</a:t>
            </a:r>
            <a:endParaRPr lang="en-US" sz="1200" dirty="0"/>
          </a:p>
          <a:p>
            <a:pPr algn="ctr" indent="0" marL="0">
              <a:buNone/>
            </a:pPr>
            <a:r>
              <a:rPr lang="en-US" sz="1100" dirty="0">
                <a:solidFill>
                  <a:schemeClr val="accent4"/>
                </a:solidFill>
              </a:rPr>
              <a:t>TLS · SSO (OIDC)</a:t>
            </a:r>
            <a:endParaRPr lang="en-US" sz="1200" dirty="0"/>
          </a:p>
        </p:txBody>
      </p:sp>
      <p:sp>
        <p:nvSpPr>
          <p:cNvPr id="13" name="arrow-301"/>
          <p:cNvSpPr/>
          <p:nvPr/>
        </p:nvSpPr>
        <p:spPr>
          <a:xfrm>
            <a:off x="1874520" y="2103120"/>
            <a:ext cx="228600" cy="548640"/>
          </a:xfrm>
          <a:prstGeom prst="line">
            <a:avLst/>
          </a:prstGeom>
          <a:noFill/>
          <a:ln w="19050">
            <a:solidFill>
              <a:srgbClr val="5B6B66"/>
            </a:solidFill>
            <a:prstDash val="solid"/>
            <a:tailEnd type="triangle"/>
          </a:ln>
        </p:spPr>
      </p:sp>
      <p:sp>
        <p:nvSpPr>
          <p:cNvPr id="14" name="arrow-302"/>
          <p:cNvSpPr/>
          <p:nvPr/>
        </p:nvSpPr>
        <p:spPr>
          <a:xfrm>
            <a:off x="1874520" y="2926080"/>
            <a:ext cx="228600" cy="914"/>
          </a:xfrm>
          <a:prstGeom prst="line">
            <a:avLst/>
          </a:prstGeom>
          <a:noFill/>
          <a:ln w="19050">
            <a:solidFill>
              <a:srgbClr val="5B6B66"/>
            </a:solidFill>
            <a:prstDash val="solid"/>
            <a:tailEnd type="triangle"/>
          </a:ln>
        </p:spPr>
      </p:sp>
      <p:sp>
        <p:nvSpPr>
          <p:cNvPr id="15" name="arrow-303"/>
          <p:cNvSpPr/>
          <p:nvPr/>
        </p:nvSpPr>
        <p:spPr>
          <a:xfrm flipV="1">
            <a:off x="1874520" y="3200400"/>
            <a:ext cx="228600" cy="548640"/>
          </a:xfrm>
          <a:prstGeom prst="line">
            <a:avLst/>
          </a:prstGeom>
          <a:noFill/>
          <a:ln w="19050">
            <a:solidFill>
              <a:srgbClr val="5B6B66"/>
            </a:solidFill>
            <a:prstDash val="solid"/>
            <a:tailEnd type="triangle"/>
          </a:ln>
        </p:spPr>
      </p:sp>
      <p:sp>
        <p:nvSpPr>
          <p:cNvPr id="16" name="card-304"/>
          <p:cNvSpPr/>
          <p:nvPr/>
        </p:nvSpPr>
        <p:spPr>
          <a:xfrm>
            <a:off x="3520440" y="1481328"/>
            <a:ext cx="5486400" cy="3584448"/>
          </a:xfrm>
          <a:prstGeom prst="roundRect">
            <a:avLst>
              <a:gd name="adj" fmla="val 3061"/>
            </a:avLst>
          </a:prstGeom>
          <a:solidFill>
            <a:schemeClr val="bg2"/>
          </a:solidFill>
          <a:ln w="12700">
            <a:solidFill>
              <a:schemeClr val="bg2"/>
            </a:solidFill>
            <a:prstDash val="solid"/>
          </a:ln>
        </p:spPr>
      </p:sp>
      <p:sp>
        <p:nvSpPr>
          <p:cNvPr id="17" name="text-305"/>
          <p:cNvSpPr txBox="1"/>
          <p:nvPr/>
        </p:nvSpPr>
        <p:spPr>
          <a:xfrm>
            <a:off x="3703320" y="1591056"/>
            <a:ext cx="4572000" cy="228600"/>
          </a:xfrm>
          <a:prstGeom prst="rect">
            <a:avLst/>
          </a:prstGeom>
          <a:noFill/>
          <a:ln/>
        </p:spPr>
        <p:txBody>
          <a:bodyPr wrap="square" lIns="0" tIns="0" rIns="0" bIns="0" rtlCol="0" anchor="t"/>
          <a:lstStyle/>
          <a:p>
            <a:pPr indent="0" marL="0">
              <a:buNone/>
            </a:pPr>
            <a:r>
              <a:rPr lang="en-US" sz="1000" b="1" spc="100" kern="0" dirty="0">
                <a:solidFill>
                  <a:schemeClr val="accent3"/>
                </a:solidFill>
              </a:rPr>
              <a:t>KUBERNETES · LANGSMITH NAMESPACE</a:t>
            </a:r>
            <a:endParaRPr lang="en-US" sz="1000" dirty="0"/>
          </a:p>
        </p:txBody>
      </p:sp>
      <p:sp>
        <p:nvSpPr>
          <p:cNvPr id="18" name="text-306"/>
          <p:cNvSpPr txBox="1"/>
          <p:nvPr/>
        </p:nvSpPr>
        <p:spPr>
          <a:xfrm>
            <a:off x="3703320" y="1828800"/>
            <a:ext cx="2743200" cy="228600"/>
          </a:xfrm>
          <a:prstGeom prst="rect">
            <a:avLst/>
          </a:prstGeom>
          <a:noFill/>
          <a:ln/>
        </p:spPr>
        <p:txBody>
          <a:bodyPr wrap="square" lIns="0" tIns="0" rIns="0" bIns="0" rtlCol="0" anchor="t"/>
          <a:lstStyle/>
          <a:p>
            <a:pPr indent="0" marL="0">
              <a:buNone/>
            </a:pPr>
            <a:r>
              <a:rPr lang="en-US" sz="1100" i="1" dirty="0">
                <a:solidFill>
                  <a:schemeClr val="accent5"/>
                </a:solidFill>
              </a:rPr>
              <a:t>Read / UI path</a:t>
            </a:r>
            <a:endParaRPr lang="en-US" sz="1100" dirty="0"/>
          </a:p>
        </p:txBody>
      </p:sp>
      <p:sp>
        <p:nvSpPr>
          <p:cNvPr id="19" name="card-307"/>
          <p:cNvSpPr/>
          <p:nvPr/>
        </p:nvSpPr>
        <p:spPr>
          <a:xfrm>
            <a:off x="3703320" y="2075688"/>
            <a:ext cx="1234440" cy="713232"/>
          </a:xfrm>
          <a:prstGeom prst="roundRect">
            <a:avLst>
              <a:gd name="adj" fmla="val 15385"/>
            </a:avLst>
          </a:prstGeom>
          <a:solidFill>
            <a:schemeClr val="bg1"/>
          </a:solidFill>
          <a:ln w="12700">
            <a:solidFill>
              <a:schemeClr val="bg1"/>
            </a:solidFill>
            <a:prstDash val="solid"/>
          </a:ln>
        </p:spPr>
      </p:sp>
      <p:sp>
        <p:nvSpPr>
          <p:cNvPr id="20" name="box-label-308"/>
          <p:cNvSpPr txBox="1"/>
          <p:nvPr/>
        </p:nvSpPr>
        <p:spPr>
          <a:xfrm>
            <a:off x="3794760" y="2075688"/>
            <a:ext cx="1051560" cy="713232"/>
          </a:xfrm>
          <a:prstGeom prst="rect">
            <a:avLst/>
          </a:prstGeom>
          <a:noFill/>
          <a:ln/>
        </p:spPr>
        <p:txBody>
          <a:bodyPr wrap="square" lIns="0" tIns="0" rIns="0" bIns="0" rtlCol="0" anchor="ctr"/>
          <a:lstStyle/>
          <a:p>
            <a:pPr algn="ctr" indent="0" marL="0">
              <a:buNone/>
            </a:pPr>
            <a:r>
              <a:rPr lang="en-US" sz="1200" b="1" dirty="0">
                <a:solidFill>
                  <a:schemeClr val="tx1"/>
                </a:solidFill>
              </a:rPr>
              <a:t>Frontend</a:t>
            </a:r>
            <a:endParaRPr lang="en-US" sz="1200" dirty="0"/>
          </a:p>
          <a:p>
            <a:pPr algn="ctr" indent="0" marL="0">
              <a:buNone/>
            </a:pPr>
            <a:r>
              <a:rPr lang="en-US" sz="1100" dirty="0">
                <a:solidFill>
                  <a:schemeClr val="accent5"/>
                </a:solidFill>
              </a:rPr>
              <a:t>UI + API routing</a:t>
            </a:r>
            <a:endParaRPr lang="en-US" sz="1200" dirty="0"/>
          </a:p>
        </p:txBody>
      </p:sp>
      <p:sp>
        <p:nvSpPr>
          <p:cNvPr id="21" name="card-309"/>
          <p:cNvSpPr/>
          <p:nvPr/>
        </p:nvSpPr>
        <p:spPr>
          <a:xfrm>
            <a:off x="5047488" y="2075688"/>
            <a:ext cx="1234440" cy="713232"/>
          </a:xfrm>
          <a:prstGeom prst="roundRect">
            <a:avLst>
              <a:gd name="adj" fmla="val 15385"/>
            </a:avLst>
          </a:prstGeom>
          <a:solidFill>
            <a:schemeClr val="bg1"/>
          </a:solidFill>
          <a:ln w="12700">
            <a:solidFill>
              <a:schemeClr val="bg1"/>
            </a:solidFill>
            <a:prstDash val="solid"/>
          </a:ln>
        </p:spPr>
      </p:sp>
      <p:sp>
        <p:nvSpPr>
          <p:cNvPr id="22" name="box-label-310"/>
          <p:cNvSpPr txBox="1"/>
          <p:nvPr/>
        </p:nvSpPr>
        <p:spPr>
          <a:xfrm>
            <a:off x="5138928" y="2075688"/>
            <a:ext cx="1051560" cy="713232"/>
          </a:xfrm>
          <a:prstGeom prst="rect">
            <a:avLst/>
          </a:prstGeom>
          <a:noFill/>
          <a:ln/>
        </p:spPr>
        <p:txBody>
          <a:bodyPr wrap="square" lIns="0" tIns="0" rIns="0" bIns="0" rtlCol="0" anchor="ctr"/>
          <a:lstStyle/>
          <a:p>
            <a:pPr algn="ctr" indent="0" marL="0">
              <a:buNone/>
            </a:pPr>
            <a:r>
              <a:rPr lang="en-US" sz="1200" b="1" dirty="0">
                <a:solidFill>
                  <a:schemeClr val="tx1"/>
                </a:solidFill>
              </a:rPr>
              <a:t>Backend</a:t>
            </a:r>
            <a:endParaRPr lang="en-US" sz="1200" dirty="0"/>
          </a:p>
          <a:p>
            <a:pPr algn="ctr" indent="0" marL="0">
              <a:buNone/>
            </a:pPr>
            <a:r>
              <a:rPr lang="en-US" sz="1100" dirty="0">
                <a:solidFill>
                  <a:schemeClr val="accent5"/>
                </a:solidFill>
              </a:rPr>
              <a:t>CRUD, queries</a:t>
            </a:r>
            <a:endParaRPr lang="en-US" sz="1200" dirty="0"/>
          </a:p>
        </p:txBody>
      </p:sp>
      <p:sp>
        <p:nvSpPr>
          <p:cNvPr id="23" name="card-311"/>
          <p:cNvSpPr/>
          <p:nvPr/>
        </p:nvSpPr>
        <p:spPr>
          <a:xfrm>
            <a:off x="6391656" y="2075688"/>
            <a:ext cx="1188720" cy="713232"/>
          </a:xfrm>
          <a:prstGeom prst="roundRect">
            <a:avLst>
              <a:gd name="adj" fmla="val 15385"/>
            </a:avLst>
          </a:prstGeom>
          <a:solidFill>
            <a:schemeClr val="bg1"/>
          </a:solidFill>
          <a:ln w="12700">
            <a:solidFill>
              <a:schemeClr val="bg1"/>
            </a:solidFill>
            <a:prstDash val="solid"/>
          </a:ln>
        </p:spPr>
      </p:sp>
      <p:sp>
        <p:nvSpPr>
          <p:cNvPr id="24" name="box-label-312"/>
          <p:cNvSpPr txBox="1"/>
          <p:nvPr/>
        </p:nvSpPr>
        <p:spPr>
          <a:xfrm>
            <a:off x="6483096" y="2075688"/>
            <a:ext cx="1005840" cy="713232"/>
          </a:xfrm>
          <a:prstGeom prst="rect">
            <a:avLst/>
          </a:prstGeom>
          <a:noFill/>
          <a:ln/>
        </p:spPr>
        <p:txBody>
          <a:bodyPr wrap="square" lIns="0" tIns="0" rIns="0" bIns="0" rtlCol="0" anchor="ctr"/>
          <a:lstStyle/>
          <a:p>
            <a:pPr algn="ctr" indent="0" marL="0">
              <a:buNone/>
            </a:pPr>
            <a:r>
              <a:rPr lang="en-US" sz="1200" b="1" dirty="0">
                <a:solidFill>
                  <a:schemeClr val="tx1"/>
                </a:solidFill>
              </a:rPr>
              <a:t>Playground</a:t>
            </a:r>
            <a:endParaRPr lang="en-US" sz="1200" dirty="0"/>
          </a:p>
          <a:p>
            <a:pPr algn="ctr" indent="0" marL="0">
              <a:buNone/>
            </a:pPr>
            <a:r>
              <a:rPr lang="en-US" sz="1100" dirty="0">
                <a:solidFill>
                  <a:schemeClr val="accent5"/>
                </a:solidFill>
              </a:rPr>
              <a:t>LLM API proxy</a:t>
            </a:r>
            <a:endParaRPr lang="en-US" sz="1200" dirty="0"/>
          </a:p>
        </p:txBody>
      </p:sp>
      <p:sp>
        <p:nvSpPr>
          <p:cNvPr id="25" name="card-313"/>
          <p:cNvSpPr/>
          <p:nvPr/>
        </p:nvSpPr>
        <p:spPr>
          <a:xfrm>
            <a:off x="7690104" y="2075688"/>
            <a:ext cx="1188720" cy="713232"/>
          </a:xfrm>
          <a:prstGeom prst="roundRect">
            <a:avLst>
              <a:gd name="adj" fmla="val 15385"/>
            </a:avLst>
          </a:prstGeom>
          <a:solidFill>
            <a:schemeClr val="bg1"/>
          </a:solidFill>
          <a:ln w="12700">
            <a:solidFill>
              <a:schemeClr val="bg1"/>
            </a:solidFill>
            <a:prstDash val="solid"/>
          </a:ln>
        </p:spPr>
      </p:sp>
      <p:sp>
        <p:nvSpPr>
          <p:cNvPr id="26" name="box-label-314"/>
          <p:cNvSpPr txBox="1"/>
          <p:nvPr/>
        </p:nvSpPr>
        <p:spPr>
          <a:xfrm>
            <a:off x="7781544" y="2075688"/>
            <a:ext cx="1005840" cy="713232"/>
          </a:xfrm>
          <a:prstGeom prst="rect">
            <a:avLst/>
          </a:prstGeom>
          <a:noFill/>
          <a:ln/>
        </p:spPr>
        <p:txBody>
          <a:bodyPr wrap="square" lIns="0" tIns="0" rIns="0" bIns="0" rtlCol="0" anchor="ctr"/>
          <a:lstStyle/>
          <a:p>
            <a:pPr algn="ctr" indent="0" marL="0">
              <a:buNone/>
            </a:pPr>
            <a:r>
              <a:rPr lang="en-US" sz="1200" b="1" dirty="0">
                <a:solidFill>
                  <a:schemeClr val="tx1"/>
                </a:solidFill>
              </a:rPr>
              <a:t>ACE</a:t>
            </a:r>
            <a:endParaRPr lang="en-US" sz="1200" dirty="0"/>
          </a:p>
          <a:p>
            <a:pPr algn="ctr" indent="0" marL="0">
              <a:buNone/>
            </a:pPr>
            <a:r>
              <a:rPr lang="en-US" sz="1100" dirty="0">
                <a:solidFill>
                  <a:schemeClr val="accent5"/>
                </a:solidFill>
              </a:rPr>
              <a:t>sandboxed code</a:t>
            </a:r>
            <a:endParaRPr lang="en-US" sz="1200" dirty="0"/>
          </a:p>
        </p:txBody>
      </p:sp>
      <p:sp>
        <p:nvSpPr>
          <p:cNvPr id="27" name="arrow-315"/>
          <p:cNvSpPr/>
          <p:nvPr/>
        </p:nvSpPr>
        <p:spPr>
          <a:xfrm>
            <a:off x="4937760" y="2432304"/>
            <a:ext cx="109728" cy="914"/>
          </a:xfrm>
          <a:prstGeom prst="line">
            <a:avLst/>
          </a:prstGeom>
          <a:noFill/>
          <a:ln w="19050">
            <a:solidFill>
              <a:srgbClr val="5B6B66"/>
            </a:solidFill>
            <a:prstDash val="solid"/>
            <a:tailEnd type="triangle"/>
          </a:ln>
        </p:spPr>
      </p:sp>
      <p:sp>
        <p:nvSpPr>
          <p:cNvPr id="28" name="text-316"/>
          <p:cNvSpPr txBox="1"/>
          <p:nvPr/>
        </p:nvSpPr>
        <p:spPr>
          <a:xfrm>
            <a:off x="3703320" y="2926080"/>
            <a:ext cx="2743200" cy="228600"/>
          </a:xfrm>
          <a:prstGeom prst="rect">
            <a:avLst/>
          </a:prstGeom>
          <a:noFill/>
          <a:ln/>
        </p:spPr>
        <p:txBody>
          <a:bodyPr wrap="square" lIns="0" tIns="0" rIns="0" bIns="0" rtlCol="0" anchor="t"/>
          <a:lstStyle/>
          <a:p>
            <a:pPr indent="0" marL="0">
              <a:buNone/>
            </a:pPr>
            <a:r>
              <a:rPr lang="en-US" sz="1100" i="1" dirty="0">
                <a:solidFill>
                  <a:schemeClr val="accent5"/>
                </a:solidFill>
              </a:rPr>
              <a:t>Write / ingest path</a:t>
            </a:r>
            <a:endParaRPr lang="en-US" sz="1100" dirty="0"/>
          </a:p>
        </p:txBody>
      </p:sp>
      <p:sp>
        <p:nvSpPr>
          <p:cNvPr id="29" name="card-317"/>
          <p:cNvSpPr/>
          <p:nvPr/>
        </p:nvSpPr>
        <p:spPr>
          <a:xfrm>
            <a:off x="3703320" y="3172968"/>
            <a:ext cx="1828800" cy="713232"/>
          </a:xfrm>
          <a:prstGeom prst="roundRect">
            <a:avLst>
              <a:gd name="adj" fmla="val 15385"/>
            </a:avLst>
          </a:prstGeom>
          <a:solidFill>
            <a:schemeClr val="bg1"/>
          </a:solidFill>
          <a:ln w="12700">
            <a:solidFill>
              <a:schemeClr val="bg1"/>
            </a:solidFill>
            <a:prstDash val="solid"/>
          </a:ln>
        </p:spPr>
      </p:sp>
      <p:sp>
        <p:nvSpPr>
          <p:cNvPr id="30" name="box-label-318"/>
          <p:cNvSpPr txBox="1"/>
          <p:nvPr/>
        </p:nvSpPr>
        <p:spPr>
          <a:xfrm>
            <a:off x="3794760" y="3172968"/>
            <a:ext cx="1645920" cy="713232"/>
          </a:xfrm>
          <a:prstGeom prst="rect">
            <a:avLst/>
          </a:prstGeom>
          <a:noFill/>
          <a:ln/>
        </p:spPr>
        <p:txBody>
          <a:bodyPr wrap="square" lIns="0" tIns="0" rIns="0" bIns="0" rtlCol="0" anchor="ctr"/>
          <a:lstStyle/>
          <a:p>
            <a:pPr algn="ctr" indent="0" marL="0">
              <a:buNone/>
            </a:pPr>
            <a:r>
              <a:rPr lang="en-US" sz="1200" b="1" dirty="0">
                <a:solidFill>
                  <a:schemeClr val="tx1"/>
                </a:solidFill>
              </a:rPr>
              <a:t>Platform backend</a:t>
            </a:r>
            <a:endParaRPr lang="en-US" sz="1200" dirty="0"/>
          </a:p>
          <a:p>
            <a:pPr algn="ctr" indent="0" marL="0">
              <a:buNone/>
            </a:pPr>
            <a:r>
              <a:rPr lang="en-US" sz="1100" dirty="0">
                <a:solidFill>
                  <a:schemeClr val="accent5"/>
                </a:solidFill>
              </a:rPr>
              <a:t>auth, run ingestion</a:t>
            </a:r>
            <a:endParaRPr lang="en-US" sz="1200" dirty="0"/>
          </a:p>
        </p:txBody>
      </p:sp>
      <p:sp>
        <p:nvSpPr>
          <p:cNvPr id="31" name="card-319"/>
          <p:cNvSpPr/>
          <p:nvPr/>
        </p:nvSpPr>
        <p:spPr>
          <a:xfrm>
            <a:off x="6172200" y="3172968"/>
            <a:ext cx="1828800" cy="713232"/>
          </a:xfrm>
          <a:prstGeom prst="roundRect">
            <a:avLst>
              <a:gd name="adj" fmla="val 15385"/>
            </a:avLst>
          </a:prstGeom>
          <a:solidFill>
            <a:schemeClr val="bg1"/>
          </a:solidFill>
          <a:ln w="12700">
            <a:solidFill>
              <a:schemeClr val="bg1"/>
            </a:solidFill>
            <a:prstDash val="solid"/>
          </a:ln>
        </p:spPr>
      </p:sp>
      <p:sp>
        <p:nvSpPr>
          <p:cNvPr id="32" name="box-label-320"/>
          <p:cNvSpPr txBox="1"/>
          <p:nvPr/>
        </p:nvSpPr>
        <p:spPr>
          <a:xfrm>
            <a:off x="6263640" y="3172968"/>
            <a:ext cx="1645920" cy="713232"/>
          </a:xfrm>
          <a:prstGeom prst="rect">
            <a:avLst/>
          </a:prstGeom>
          <a:noFill/>
          <a:ln/>
        </p:spPr>
        <p:txBody>
          <a:bodyPr wrap="square" lIns="0" tIns="0" rIns="0" bIns="0" rtlCol="0" anchor="ctr"/>
          <a:lstStyle/>
          <a:p>
            <a:pPr algn="ctr" indent="0" marL="0">
              <a:buNone/>
            </a:pPr>
            <a:r>
              <a:rPr lang="en-US" sz="1200" b="1" dirty="0">
                <a:solidFill>
                  <a:schemeClr val="tx1"/>
                </a:solidFill>
              </a:rPr>
              <a:t>Ingest queue</a:t>
            </a:r>
            <a:endParaRPr lang="en-US" sz="1200" dirty="0"/>
          </a:p>
          <a:p>
            <a:pPr algn="ctr" indent="0" marL="0">
              <a:buNone/>
            </a:pPr>
            <a:r>
              <a:rPr lang="en-US" sz="1100" dirty="0">
                <a:solidFill>
                  <a:schemeClr val="accent5"/>
                </a:solidFill>
              </a:rPr>
              <a:t>async workers, retries</a:t>
            </a:r>
            <a:endParaRPr lang="en-US" sz="1200" dirty="0"/>
          </a:p>
        </p:txBody>
      </p:sp>
      <p:sp>
        <p:nvSpPr>
          <p:cNvPr id="33" name="arrow-321"/>
          <p:cNvSpPr/>
          <p:nvPr/>
        </p:nvSpPr>
        <p:spPr>
          <a:xfrm>
            <a:off x="5532120" y="3529584"/>
            <a:ext cx="640080" cy="914"/>
          </a:xfrm>
          <a:prstGeom prst="line">
            <a:avLst/>
          </a:prstGeom>
          <a:noFill/>
          <a:ln w="19050">
            <a:solidFill>
              <a:srgbClr val="E8A33D"/>
            </a:solidFill>
            <a:prstDash val="solid"/>
            <a:tailEnd type="triangle"/>
          </a:ln>
        </p:spPr>
      </p:sp>
      <p:sp>
        <p:nvSpPr>
          <p:cNvPr id="34" name="text-322"/>
          <p:cNvSpPr txBox="1"/>
          <p:nvPr/>
        </p:nvSpPr>
        <p:spPr>
          <a:xfrm>
            <a:off x="5577840" y="3246120"/>
            <a:ext cx="548640" cy="228600"/>
          </a:xfrm>
          <a:prstGeom prst="rect">
            <a:avLst/>
          </a:prstGeom>
          <a:noFill/>
          <a:ln/>
        </p:spPr>
        <p:txBody>
          <a:bodyPr wrap="square" lIns="0" tIns="0" rIns="0" bIns="0" rtlCol="0" anchor="t"/>
          <a:lstStyle/>
          <a:p>
            <a:pPr algn="ctr" indent="0" marL="0">
              <a:buNone/>
            </a:pPr>
            <a:r>
              <a:rPr lang="en-US" sz="1000" dirty="0">
                <a:solidFill>
                  <a:schemeClr val="accent5"/>
                </a:solidFill>
              </a:rPr>
              <a:t>Redis</a:t>
            </a:r>
            <a:endParaRPr lang="en-US" sz="1000" dirty="0"/>
          </a:p>
        </p:txBody>
      </p:sp>
      <p:sp>
        <p:nvSpPr>
          <p:cNvPr id="35" name="text-323"/>
          <p:cNvSpPr txBox="1"/>
          <p:nvPr/>
        </p:nvSpPr>
        <p:spPr>
          <a:xfrm>
            <a:off x="3703320" y="4023360"/>
            <a:ext cx="3200400" cy="228600"/>
          </a:xfrm>
          <a:prstGeom prst="rect">
            <a:avLst/>
          </a:prstGeom>
          <a:noFill/>
          <a:ln/>
        </p:spPr>
        <p:txBody>
          <a:bodyPr wrap="square" lIns="0" tIns="0" rIns="0" bIns="0" rtlCol="0" anchor="t"/>
          <a:lstStyle/>
          <a:p>
            <a:pPr indent="0" marL="0">
              <a:buNone/>
            </a:pPr>
            <a:r>
              <a:rPr lang="en-US" sz="1100" i="1" dirty="0">
                <a:solidFill>
                  <a:schemeClr val="accent5"/>
                </a:solidFill>
              </a:rPr>
              <a:t>Deployment add-on (optional)</a:t>
            </a:r>
            <a:endParaRPr lang="en-US" sz="1100" dirty="0"/>
          </a:p>
        </p:txBody>
      </p:sp>
      <p:sp>
        <p:nvSpPr>
          <p:cNvPr id="36" name="card-324"/>
          <p:cNvSpPr/>
          <p:nvPr/>
        </p:nvSpPr>
        <p:spPr>
          <a:xfrm>
            <a:off x="3703320" y="4270248"/>
            <a:ext cx="2377440" cy="713232"/>
          </a:xfrm>
          <a:prstGeom prst="roundRect">
            <a:avLst>
              <a:gd name="adj" fmla="val 15385"/>
            </a:avLst>
          </a:prstGeom>
          <a:solidFill>
            <a:schemeClr val="bg1"/>
          </a:solidFill>
          <a:ln w="12700">
            <a:solidFill>
              <a:schemeClr val="bg1"/>
            </a:solidFill>
            <a:prstDash val="solid"/>
          </a:ln>
        </p:spPr>
      </p:sp>
      <p:sp>
        <p:nvSpPr>
          <p:cNvPr id="37" name="box-label-325"/>
          <p:cNvSpPr txBox="1"/>
          <p:nvPr/>
        </p:nvSpPr>
        <p:spPr>
          <a:xfrm>
            <a:off x="3794760" y="4270248"/>
            <a:ext cx="2194560" cy="713232"/>
          </a:xfrm>
          <a:prstGeom prst="rect">
            <a:avLst/>
          </a:prstGeom>
          <a:noFill/>
          <a:ln/>
        </p:spPr>
        <p:txBody>
          <a:bodyPr wrap="square" lIns="0" tIns="0" rIns="0" bIns="0" rtlCol="0" anchor="ctr"/>
          <a:lstStyle/>
          <a:p>
            <a:pPr algn="ctr" indent="0" marL="0">
              <a:buNone/>
            </a:pPr>
            <a:r>
              <a:rPr lang="en-US" sz="1200" b="1" dirty="0">
                <a:solidFill>
                  <a:schemeClr val="tx1"/>
                </a:solidFill>
              </a:rPr>
              <a:t>Control plane</a:t>
            </a:r>
            <a:endParaRPr lang="en-US" sz="1200" dirty="0"/>
          </a:p>
          <a:p>
            <a:pPr algn="ctr" indent="0" marL="0">
              <a:buNone/>
            </a:pPr>
            <a:r>
              <a:rPr lang="en-US" sz="1100" dirty="0">
                <a:solidFill>
                  <a:schemeClr val="accent5"/>
                </a:solidFill>
              </a:rPr>
              <a:t>host backend, listener, operator</a:t>
            </a:r>
            <a:endParaRPr lang="en-US" sz="1200" dirty="0"/>
          </a:p>
        </p:txBody>
      </p:sp>
      <p:sp>
        <p:nvSpPr>
          <p:cNvPr id="38" name="card-326"/>
          <p:cNvSpPr/>
          <p:nvPr/>
        </p:nvSpPr>
        <p:spPr>
          <a:xfrm>
            <a:off x="6355080" y="4270248"/>
            <a:ext cx="2523744" cy="713232"/>
          </a:xfrm>
          <a:prstGeom prst="roundRect">
            <a:avLst>
              <a:gd name="adj" fmla="val 15385"/>
            </a:avLst>
          </a:prstGeom>
          <a:solidFill>
            <a:schemeClr val="accent1"/>
          </a:solidFill>
          <a:ln w="12700">
            <a:solidFill>
              <a:schemeClr val="accent1"/>
            </a:solidFill>
            <a:prstDash val="solid"/>
          </a:ln>
        </p:spPr>
      </p:sp>
      <p:sp>
        <p:nvSpPr>
          <p:cNvPr id="39" name="box-label-327"/>
          <p:cNvSpPr txBox="1"/>
          <p:nvPr/>
        </p:nvSpPr>
        <p:spPr>
          <a:xfrm>
            <a:off x="6446520" y="4270248"/>
            <a:ext cx="2340864" cy="713232"/>
          </a:xfrm>
          <a:prstGeom prst="rect">
            <a:avLst/>
          </a:prstGeom>
          <a:noFill/>
          <a:ln/>
        </p:spPr>
        <p:txBody>
          <a:bodyPr wrap="square" lIns="0" tIns="0" rIns="0" bIns="0" rtlCol="0" anchor="ctr"/>
          <a:lstStyle/>
          <a:p>
            <a:pPr algn="ctr" indent="0" marL="0">
              <a:buNone/>
            </a:pPr>
            <a:r>
              <a:rPr lang="en-US" sz="1200" b="1" dirty="0">
                <a:solidFill>
                  <a:schemeClr val="bg1"/>
                </a:solidFill>
              </a:rPr>
              <a:t>Agent Servers</a:t>
            </a:r>
            <a:endParaRPr lang="en-US" sz="1200" dirty="0"/>
          </a:p>
          <a:p>
            <a:pPr algn="ctr" indent="0" marL="0">
              <a:buNone/>
            </a:pPr>
            <a:r>
              <a:rPr lang="en-US" sz="1100" dirty="0">
                <a:solidFill>
                  <a:schemeClr val="bg1"/>
                </a:solidFill>
              </a:rPr>
              <a:t>API pods + queue workers</a:t>
            </a:r>
            <a:endParaRPr lang="en-US" sz="1200" dirty="0"/>
          </a:p>
        </p:txBody>
      </p:sp>
      <p:sp>
        <p:nvSpPr>
          <p:cNvPr id="40" name="arrow-328"/>
          <p:cNvSpPr/>
          <p:nvPr/>
        </p:nvSpPr>
        <p:spPr>
          <a:xfrm>
            <a:off x="6080760" y="4626864"/>
            <a:ext cx="274320" cy="914"/>
          </a:xfrm>
          <a:prstGeom prst="line">
            <a:avLst/>
          </a:prstGeom>
          <a:noFill/>
          <a:ln w="19050">
            <a:solidFill>
              <a:srgbClr val="5B6B66"/>
            </a:solidFill>
            <a:prstDash val="solid"/>
            <a:tailEnd type="triangle"/>
          </a:ln>
        </p:spPr>
      </p:sp>
      <p:sp>
        <p:nvSpPr>
          <p:cNvPr id="41" name="arrow-329"/>
          <p:cNvSpPr/>
          <p:nvPr/>
        </p:nvSpPr>
        <p:spPr>
          <a:xfrm flipV="1">
            <a:off x="3291840" y="2432304"/>
            <a:ext cx="411480" cy="265176"/>
          </a:xfrm>
          <a:prstGeom prst="line">
            <a:avLst/>
          </a:prstGeom>
          <a:noFill/>
          <a:ln w="19050">
            <a:solidFill>
              <a:srgbClr val="5B6B66"/>
            </a:solidFill>
            <a:prstDash val="solid"/>
            <a:tailEnd type="triangle"/>
          </a:ln>
        </p:spPr>
      </p:sp>
      <p:sp>
        <p:nvSpPr>
          <p:cNvPr id="42" name="arrow-330"/>
          <p:cNvSpPr/>
          <p:nvPr/>
        </p:nvSpPr>
        <p:spPr>
          <a:xfrm>
            <a:off x="3291840" y="3154680"/>
            <a:ext cx="411480" cy="374904"/>
          </a:xfrm>
          <a:prstGeom prst="line">
            <a:avLst/>
          </a:prstGeom>
          <a:noFill/>
          <a:ln w="19050">
            <a:solidFill>
              <a:srgbClr val="5B6B66"/>
            </a:solidFill>
            <a:prstDash val="solid"/>
            <a:tailEnd type="triangle"/>
          </a:ln>
        </p:spPr>
      </p:sp>
      <p:sp>
        <p:nvSpPr>
          <p:cNvPr id="43" name="text-331"/>
          <p:cNvSpPr txBox="1"/>
          <p:nvPr/>
        </p:nvSpPr>
        <p:spPr>
          <a:xfrm>
            <a:off x="9326880" y="1481328"/>
            <a:ext cx="2313432" cy="228600"/>
          </a:xfrm>
          <a:prstGeom prst="rect">
            <a:avLst/>
          </a:prstGeom>
          <a:noFill/>
          <a:ln/>
        </p:spPr>
        <p:txBody>
          <a:bodyPr wrap="square" lIns="0" tIns="0" rIns="0" bIns="0" rtlCol="0" anchor="t"/>
          <a:lstStyle/>
          <a:p>
            <a:pPr indent="0" marL="0">
              <a:buNone/>
            </a:pPr>
            <a:r>
              <a:rPr lang="en-US" sz="1000" b="1" spc="100" kern="0" dirty="0">
                <a:solidFill>
                  <a:schemeClr val="accent3"/>
                </a:solidFill>
              </a:rPr>
              <a:t>MANAGED SERVICES (EXTERNAL)</a:t>
            </a:r>
            <a:endParaRPr lang="en-US" sz="1000" dirty="0"/>
          </a:p>
        </p:txBody>
      </p:sp>
      <p:sp>
        <p:nvSpPr>
          <p:cNvPr id="44" name="card-332"/>
          <p:cNvSpPr/>
          <p:nvPr/>
        </p:nvSpPr>
        <p:spPr>
          <a:xfrm>
            <a:off x="9326880" y="1783080"/>
            <a:ext cx="2313432" cy="585216"/>
          </a:xfrm>
          <a:prstGeom prst="roundRect">
            <a:avLst>
              <a:gd name="adj" fmla="val 18750"/>
            </a:avLst>
          </a:prstGeom>
          <a:solidFill>
            <a:schemeClr val="tx2"/>
          </a:solidFill>
          <a:ln w="12700">
            <a:solidFill>
              <a:schemeClr val="tx2"/>
            </a:solidFill>
            <a:prstDash val="solid"/>
          </a:ln>
        </p:spPr>
      </p:sp>
      <p:sp>
        <p:nvSpPr>
          <p:cNvPr id="45" name="box-label-333"/>
          <p:cNvSpPr txBox="1"/>
          <p:nvPr/>
        </p:nvSpPr>
        <p:spPr>
          <a:xfrm>
            <a:off x="9418320" y="1783080"/>
            <a:ext cx="2130552" cy="585216"/>
          </a:xfrm>
          <a:prstGeom prst="rect">
            <a:avLst/>
          </a:prstGeom>
          <a:noFill/>
          <a:ln/>
        </p:spPr>
        <p:txBody>
          <a:bodyPr wrap="square" lIns="0" tIns="0" rIns="0" bIns="0" rtlCol="0" anchor="ctr"/>
          <a:lstStyle/>
          <a:p>
            <a:pPr algn="ctr" indent="0" marL="0">
              <a:buNone/>
            </a:pPr>
            <a:r>
              <a:rPr lang="en-US" sz="1200" b="1" dirty="0">
                <a:solidFill>
                  <a:schemeClr val="bg1"/>
                </a:solidFill>
              </a:rPr>
              <a:t>ClickHouse</a:t>
            </a:r>
            <a:endParaRPr lang="en-US" sz="1200" dirty="0"/>
          </a:p>
          <a:p>
            <a:pPr algn="ctr" indent="0" marL="0">
              <a:buNone/>
            </a:pPr>
            <a:r>
              <a:rPr lang="en-US" sz="1100" dirty="0">
                <a:solidFill>
                  <a:schemeClr val="accent4"/>
                </a:solidFill>
              </a:rPr>
              <a:t>traces, feedback</a:t>
            </a:r>
            <a:endParaRPr lang="en-US" sz="1200" dirty="0"/>
          </a:p>
        </p:txBody>
      </p:sp>
      <p:sp>
        <p:nvSpPr>
          <p:cNvPr id="46" name="card-334"/>
          <p:cNvSpPr/>
          <p:nvPr/>
        </p:nvSpPr>
        <p:spPr>
          <a:xfrm>
            <a:off x="9326880" y="2459736"/>
            <a:ext cx="2313432" cy="585216"/>
          </a:xfrm>
          <a:prstGeom prst="roundRect">
            <a:avLst>
              <a:gd name="adj" fmla="val 18750"/>
            </a:avLst>
          </a:prstGeom>
          <a:solidFill>
            <a:schemeClr val="tx2"/>
          </a:solidFill>
          <a:ln w="12700">
            <a:solidFill>
              <a:schemeClr val="tx2"/>
            </a:solidFill>
            <a:prstDash val="solid"/>
          </a:ln>
        </p:spPr>
      </p:sp>
      <p:sp>
        <p:nvSpPr>
          <p:cNvPr id="47" name="box-label-335"/>
          <p:cNvSpPr txBox="1"/>
          <p:nvPr/>
        </p:nvSpPr>
        <p:spPr>
          <a:xfrm>
            <a:off x="9418320" y="2459736"/>
            <a:ext cx="2130552" cy="585216"/>
          </a:xfrm>
          <a:prstGeom prst="rect">
            <a:avLst/>
          </a:prstGeom>
          <a:noFill/>
          <a:ln/>
        </p:spPr>
        <p:txBody>
          <a:bodyPr wrap="square" lIns="0" tIns="0" rIns="0" bIns="0" rtlCol="0" anchor="ctr"/>
          <a:lstStyle/>
          <a:p>
            <a:pPr algn="ctr" indent="0" marL="0">
              <a:buNone/>
            </a:pPr>
            <a:r>
              <a:rPr lang="en-US" sz="1200" b="1" dirty="0">
                <a:solidFill>
                  <a:schemeClr val="bg1"/>
                </a:solidFill>
              </a:rPr>
              <a:t>PostgreSQL</a:t>
            </a:r>
            <a:endParaRPr lang="en-US" sz="1200" dirty="0"/>
          </a:p>
          <a:p>
            <a:pPr algn="ctr" indent="0" marL="0">
              <a:buNone/>
            </a:pPr>
            <a:r>
              <a:rPr lang="en-US" sz="1100" dirty="0">
                <a:solidFill>
                  <a:schemeClr val="accent4"/>
                </a:solidFill>
              </a:rPr>
              <a:t>operational data</a:t>
            </a:r>
            <a:endParaRPr lang="en-US" sz="1200" dirty="0"/>
          </a:p>
        </p:txBody>
      </p:sp>
      <p:sp>
        <p:nvSpPr>
          <p:cNvPr id="48" name="card-336"/>
          <p:cNvSpPr/>
          <p:nvPr/>
        </p:nvSpPr>
        <p:spPr>
          <a:xfrm>
            <a:off x="9326880" y="3136392"/>
            <a:ext cx="2313432" cy="585216"/>
          </a:xfrm>
          <a:prstGeom prst="roundRect">
            <a:avLst>
              <a:gd name="adj" fmla="val 18750"/>
            </a:avLst>
          </a:prstGeom>
          <a:solidFill>
            <a:schemeClr val="tx2"/>
          </a:solidFill>
          <a:ln w="12700">
            <a:solidFill>
              <a:schemeClr val="tx2"/>
            </a:solidFill>
            <a:prstDash val="solid"/>
          </a:ln>
        </p:spPr>
      </p:sp>
      <p:sp>
        <p:nvSpPr>
          <p:cNvPr id="49" name="box-label-337"/>
          <p:cNvSpPr txBox="1"/>
          <p:nvPr/>
        </p:nvSpPr>
        <p:spPr>
          <a:xfrm>
            <a:off x="9418320" y="3136392"/>
            <a:ext cx="2130552" cy="585216"/>
          </a:xfrm>
          <a:prstGeom prst="rect">
            <a:avLst/>
          </a:prstGeom>
          <a:noFill/>
          <a:ln/>
        </p:spPr>
        <p:txBody>
          <a:bodyPr wrap="square" lIns="0" tIns="0" rIns="0" bIns="0" rtlCol="0" anchor="ctr"/>
          <a:lstStyle/>
          <a:p>
            <a:pPr algn="ctr" indent="0" marL="0">
              <a:buNone/>
            </a:pPr>
            <a:r>
              <a:rPr lang="en-US" sz="1200" b="1" dirty="0">
                <a:solidFill>
                  <a:schemeClr val="bg1"/>
                </a:solidFill>
              </a:rPr>
              <a:t>Redis / Valkey</a:t>
            </a:r>
            <a:endParaRPr lang="en-US" sz="1200" dirty="0"/>
          </a:p>
          <a:p>
            <a:pPr algn="ctr" indent="0" marL="0">
              <a:buNone/>
            </a:pPr>
            <a:r>
              <a:rPr lang="en-US" sz="1100" dirty="0">
                <a:solidFill>
                  <a:schemeClr val="accent4"/>
                </a:solidFill>
              </a:rPr>
              <a:t>ingest queue, cache</a:t>
            </a:r>
            <a:endParaRPr lang="en-US" sz="1200" dirty="0"/>
          </a:p>
        </p:txBody>
      </p:sp>
      <p:sp>
        <p:nvSpPr>
          <p:cNvPr id="50" name="card-338"/>
          <p:cNvSpPr/>
          <p:nvPr/>
        </p:nvSpPr>
        <p:spPr>
          <a:xfrm>
            <a:off x="9326880" y="3813048"/>
            <a:ext cx="2313432" cy="585216"/>
          </a:xfrm>
          <a:prstGeom prst="roundRect">
            <a:avLst>
              <a:gd name="adj" fmla="val 18750"/>
            </a:avLst>
          </a:prstGeom>
          <a:solidFill>
            <a:schemeClr val="tx2"/>
          </a:solidFill>
          <a:ln w="12700">
            <a:solidFill>
              <a:schemeClr val="tx2"/>
            </a:solidFill>
            <a:prstDash val="solid"/>
          </a:ln>
        </p:spPr>
      </p:sp>
      <p:sp>
        <p:nvSpPr>
          <p:cNvPr id="51" name="box-label-339"/>
          <p:cNvSpPr txBox="1"/>
          <p:nvPr/>
        </p:nvSpPr>
        <p:spPr>
          <a:xfrm>
            <a:off x="9418320" y="3813048"/>
            <a:ext cx="2130552" cy="585216"/>
          </a:xfrm>
          <a:prstGeom prst="rect">
            <a:avLst/>
          </a:prstGeom>
          <a:noFill/>
          <a:ln/>
        </p:spPr>
        <p:txBody>
          <a:bodyPr wrap="square" lIns="0" tIns="0" rIns="0" bIns="0" rtlCol="0" anchor="ctr"/>
          <a:lstStyle/>
          <a:p>
            <a:pPr algn="ctr" indent="0" marL="0">
              <a:buNone/>
            </a:pPr>
            <a:r>
              <a:rPr lang="en-US" sz="1200" b="1" dirty="0">
                <a:solidFill>
                  <a:schemeClr val="bg1"/>
                </a:solidFill>
              </a:rPr>
              <a:t>Blob storage</a:t>
            </a:r>
            <a:endParaRPr lang="en-US" sz="1200" dirty="0"/>
          </a:p>
          <a:p>
            <a:pPr algn="ctr" indent="0" marL="0">
              <a:buNone/>
            </a:pPr>
            <a:r>
              <a:rPr lang="en-US" sz="1100" dirty="0">
                <a:solidFill>
                  <a:schemeClr val="accent4"/>
                </a:solidFill>
              </a:rPr>
              <a:t>S3 / GCS / Azure: payloads</a:t>
            </a:r>
            <a:endParaRPr lang="en-US" sz="1200" dirty="0"/>
          </a:p>
        </p:txBody>
      </p:sp>
      <p:sp>
        <p:nvSpPr>
          <p:cNvPr id="52" name="card-340"/>
          <p:cNvSpPr/>
          <p:nvPr/>
        </p:nvSpPr>
        <p:spPr>
          <a:xfrm>
            <a:off x="9326880" y="4489704"/>
            <a:ext cx="2313432" cy="585216"/>
          </a:xfrm>
          <a:prstGeom prst="roundRect">
            <a:avLst>
              <a:gd name="adj" fmla="val 18750"/>
            </a:avLst>
          </a:prstGeom>
          <a:solidFill>
            <a:schemeClr val="bg2"/>
          </a:solidFill>
          <a:ln w="12700">
            <a:solidFill>
              <a:schemeClr val="bg2"/>
            </a:solidFill>
            <a:prstDash val="solid"/>
          </a:ln>
        </p:spPr>
      </p:sp>
      <p:sp>
        <p:nvSpPr>
          <p:cNvPr id="53" name="box-label-341"/>
          <p:cNvSpPr txBox="1"/>
          <p:nvPr/>
        </p:nvSpPr>
        <p:spPr>
          <a:xfrm>
            <a:off x="9418320" y="4489704"/>
            <a:ext cx="2130552" cy="585216"/>
          </a:xfrm>
          <a:prstGeom prst="rect">
            <a:avLst/>
          </a:prstGeom>
          <a:noFill/>
          <a:ln/>
        </p:spPr>
        <p:txBody>
          <a:bodyPr wrap="square" lIns="0" tIns="0" rIns="0" bIns="0" rtlCol="0" anchor="ctr"/>
          <a:lstStyle/>
          <a:p>
            <a:pPr algn="ctr" indent="0" marL="0">
              <a:buNone/>
            </a:pPr>
            <a:r>
              <a:rPr lang="en-US" sz="1200" b="1" dirty="0">
                <a:solidFill>
                  <a:schemeClr val="tx1"/>
                </a:solidFill>
              </a:rPr>
              <a:t>Model APIs · IdP</a:t>
            </a:r>
            <a:endParaRPr lang="en-US" sz="1200" dirty="0"/>
          </a:p>
          <a:p>
            <a:pPr algn="ctr" indent="0" marL="0">
              <a:buNone/>
            </a:pPr>
            <a:r>
              <a:rPr lang="en-US" sz="1100" dirty="0">
                <a:solidFill>
                  <a:schemeClr val="accent5"/>
                </a:solidFill>
              </a:rPr>
              <a:t>Bedrock, Vertex, OIDC</a:t>
            </a:r>
            <a:endParaRPr lang="en-US" sz="1200" dirty="0"/>
          </a:p>
        </p:txBody>
      </p:sp>
      <p:sp>
        <p:nvSpPr>
          <p:cNvPr id="54" name="arrow-342"/>
          <p:cNvSpPr/>
          <p:nvPr/>
        </p:nvSpPr>
        <p:spPr>
          <a:xfrm>
            <a:off x="9006840" y="3291840"/>
            <a:ext cx="320040" cy="914"/>
          </a:xfrm>
          <a:prstGeom prst="line">
            <a:avLst/>
          </a:prstGeom>
          <a:noFill/>
          <a:ln w="19050">
            <a:solidFill>
              <a:srgbClr val="5B6B66"/>
            </a:solidFill>
            <a:prstDash val="solid"/>
            <a:tailEnd type="triangle"/>
          </a:ln>
        </p:spPr>
      </p:sp>
      <p:sp>
        <p:nvSpPr>
          <p:cNvPr id="55" name="arrow-343"/>
          <p:cNvSpPr/>
          <p:nvPr/>
        </p:nvSpPr>
        <p:spPr>
          <a:xfrm flipH="1">
            <a:off x="9006840" y="3520440"/>
            <a:ext cx="320040" cy="914"/>
          </a:xfrm>
          <a:prstGeom prst="line">
            <a:avLst/>
          </a:prstGeom>
          <a:noFill/>
          <a:ln w="19050">
            <a:solidFill>
              <a:srgbClr val="5B6B66"/>
            </a:solidFill>
            <a:prstDash val="solid"/>
            <a:tailEnd type="triangle"/>
          </a:ln>
        </p:spPr>
      </p:sp>
      <p:sp>
        <p:nvSpPr>
          <p:cNvPr id="56" name="card-344"/>
          <p:cNvSpPr/>
          <p:nvPr/>
        </p:nvSpPr>
        <p:spPr>
          <a:xfrm>
            <a:off x="548640" y="5285232"/>
            <a:ext cx="2651760" cy="978408"/>
          </a:xfrm>
          <a:prstGeom prst="roundRect">
            <a:avLst>
              <a:gd name="adj" fmla="val 11215"/>
            </a:avLst>
          </a:prstGeom>
          <a:solidFill>
            <a:srgbClr val="FBEBD3"/>
          </a:solidFill>
          <a:ln w="12700">
            <a:solidFill>
              <a:srgbClr val="FBEBD3"/>
            </a:solidFill>
            <a:prstDash val="solid"/>
          </a:ln>
        </p:spPr>
      </p:sp>
      <p:sp>
        <p:nvSpPr>
          <p:cNvPr id="57" name="text-345"/>
          <p:cNvSpPr txBox="1"/>
          <p:nvPr/>
        </p:nvSpPr>
        <p:spPr>
          <a:xfrm>
            <a:off x="685800" y="5376672"/>
            <a:ext cx="2377440" cy="841248"/>
          </a:xfrm>
          <a:prstGeom prst="rect">
            <a:avLst/>
          </a:prstGeom>
          <a:noFill/>
          <a:ln/>
        </p:spPr>
        <p:txBody>
          <a:bodyPr wrap="square" lIns="0" tIns="0" rIns="0" bIns="0" rtlCol="0" anchor="t"/>
          <a:lstStyle/>
          <a:p>
            <a:pPr indent="0" marL="0">
              <a:buNone/>
            </a:pPr>
            <a:r>
              <a:rPr lang="en-US" sz="1300" b="1" dirty="0">
                <a:solidFill>
                  <a:schemeClr val="tx1"/>
                </a:solidFill>
              </a:rPr>
              <a:t>Write path</a:t>
            </a:r>
            <a:endParaRPr lang="en-US" sz="1400" dirty="0"/>
          </a:p>
          <a:p>
            <a:pPr indent="0" marL="0">
              <a:buNone/>
            </a:pPr>
            <a:r>
              <a:rPr lang="en-US" sz="1200" dirty="0">
                <a:solidFill>
                  <a:schemeClr val="tx1"/>
                </a:solidFill>
              </a:rPr>
              <a:t>platform-backend 3→20, ingest queue 3→24; KEDA on Redis backlog</a:t>
            </a:r>
            <a:endParaRPr lang="en-US" sz="1400" dirty="0"/>
          </a:p>
        </p:txBody>
      </p:sp>
      <p:sp>
        <p:nvSpPr>
          <p:cNvPr id="58" name="card-346"/>
          <p:cNvSpPr/>
          <p:nvPr/>
        </p:nvSpPr>
        <p:spPr>
          <a:xfrm>
            <a:off x="3362249" y="5285232"/>
            <a:ext cx="2651760" cy="978408"/>
          </a:xfrm>
          <a:prstGeom prst="roundRect">
            <a:avLst>
              <a:gd name="adj" fmla="val 11215"/>
            </a:avLst>
          </a:prstGeom>
          <a:solidFill>
            <a:schemeClr val="bg2"/>
          </a:solidFill>
          <a:ln w="12700">
            <a:solidFill>
              <a:schemeClr val="bg2"/>
            </a:solidFill>
            <a:prstDash val="solid"/>
          </a:ln>
        </p:spPr>
      </p:sp>
      <p:sp>
        <p:nvSpPr>
          <p:cNvPr id="59" name="text-347"/>
          <p:cNvSpPr txBox="1"/>
          <p:nvPr/>
        </p:nvSpPr>
        <p:spPr>
          <a:xfrm>
            <a:off x="3499409" y="5376672"/>
            <a:ext cx="2377440" cy="841248"/>
          </a:xfrm>
          <a:prstGeom prst="rect">
            <a:avLst/>
          </a:prstGeom>
          <a:noFill/>
          <a:ln/>
        </p:spPr>
        <p:txBody>
          <a:bodyPr wrap="square" lIns="0" tIns="0" rIns="0" bIns="0" rtlCol="0" anchor="t"/>
          <a:lstStyle/>
          <a:p>
            <a:pPr indent="0" marL="0">
              <a:buNone/>
            </a:pPr>
            <a:r>
              <a:rPr lang="en-US" sz="1300" b="1" dirty="0">
                <a:solidFill>
                  <a:schemeClr val="tx1"/>
                </a:solidFill>
              </a:rPr>
              <a:t>Read path</a:t>
            </a:r>
            <a:endParaRPr lang="en-US" sz="1400" dirty="0"/>
          </a:p>
          <a:p>
            <a:pPr indent="0" marL="0">
              <a:buNone/>
            </a:pPr>
            <a:r>
              <a:rPr lang="en-US" sz="1200" dirty="0">
                <a:solidFill>
                  <a:schemeClr val="tx1"/>
                </a:solidFill>
              </a:rPr>
              <a:t>backend 2→50 replicas; replicated ClickHouse cluster (3 nodes)</a:t>
            </a:r>
            <a:endParaRPr lang="en-US" sz="1400" dirty="0"/>
          </a:p>
        </p:txBody>
      </p:sp>
      <p:sp>
        <p:nvSpPr>
          <p:cNvPr id="60" name="card-348"/>
          <p:cNvSpPr/>
          <p:nvPr/>
        </p:nvSpPr>
        <p:spPr>
          <a:xfrm>
            <a:off x="6175858" y="5285232"/>
            <a:ext cx="2651760" cy="978408"/>
          </a:xfrm>
          <a:prstGeom prst="roundRect">
            <a:avLst>
              <a:gd name="adj" fmla="val 11215"/>
            </a:avLst>
          </a:prstGeom>
          <a:solidFill>
            <a:srgbClr val="D7F0E7"/>
          </a:solidFill>
          <a:ln w="12700">
            <a:solidFill>
              <a:srgbClr val="D7F0E7"/>
            </a:solidFill>
            <a:prstDash val="solid"/>
          </a:ln>
        </p:spPr>
      </p:sp>
      <p:sp>
        <p:nvSpPr>
          <p:cNvPr id="61" name="text-349"/>
          <p:cNvSpPr txBox="1"/>
          <p:nvPr/>
        </p:nvSpPr>
        <p:spPr>
          <a:xfrm>
            <a:off x="6313018" y="5376672"/>
            <a:ext cx="2377440" cy="841248"/>
          </a:xfrm>
          <a:prstGeom prst="rect">
            <a:avLst/>
          </a:prstGeom>
          <a:noFill/>
          <a:ln/>
        </p:spPr>
        <p:txBody>
          <a:bodyPr wrap="square" lIns="0" tIns="0" rIns="0" bIns="0" rtlCol="0" anchor="t"/>
          <a:lstStyle/>
          <a:p>
            <a:pPr indent="0" marL="0">
              <a:buNone/>
            </a:pPr>
            <a:r>
              <a:rPr lang="en-US" sz="1300" b="1" dirty="0">
                <a:solidFill>
                  <a:schemeClr val="tx1"/>
                </a:solidFill>
              </a:rPr>
              <a:t>Agent runs</a:t>
            </a:r>
            <a:endParaRPr lang="en-US" sz="1400" dirty="0"/>
          </a:p>
          <a:p>
            <a:pPr indent="0" marL="0">
              <a:buNone/>
            </a:pPr>
            <a:r>
              <a:rPr lang="en-US" sz="1200" dirty="0">
                <a:solidFill>
                  <a:schemeClr val="tx1"/>
                </a:solidFill>
              </a:rPr>
              <a:t>workers = throughput × run time ÷ N_JOBS_PER_WORKER (default 10)</a:t>
            </a:r>
            <a:endParaRPr lang="en-US" sz="1400" dirty="0"/>
          </a:p>
        </p:txBody>
      </p:sp>
      <p:sp>
        <p:nvSpPr>
          <p:cNvPr id="62" name="card-350"/>
          <p:cNvSpPr/>
          <p:nvPr/>
        </p:nvSpPr>
        <p:spPr>
          <a:xfrm>
            <a:off x="8989466" y="5285232"/>
            <a:ext cx="2651760" cy="978408"/>
          </a:xfrm>
          <a:prstGeom prst="roundRect">
            <a:avLst>
              <a:gd name="adj" fmla="val 11215"/>
            </a:avLst>
          </a:prstGeom>
          <a:solidFill>
            <a:schemeClr val="bg2"/>
          </a:solidFill>
          <a:ln w="12700">
            <a:solidFill>
              <a:schemeClr val="bg2"/>
            </a:solidFill>
            <a:prstDash val="solid"/>
          </a:ln>
        </p:spPr>
      </p:sp>
      <p:sp>
        <p:nvSpPr>
          <p:cNvPr id="63" name="text-351"/>
          <p:cNvSpPr txBox="1"/>
          <p:nvPr/>
        </p:nvSpPr>
        <p:spPr>
          <a:xfrm>
            <a:off x="9126626" y="5376672"/>
            <a:ext cx="2377440" cy="841248"/>
          </a:xfrm>
          <a:prstGeom prst="rect">
            <a:avLst/>
          </a:prstGeom>
          <a:noFill/>
          <a:ln/>
        </p:spPr>
        <p:txBody>
          <a:bodyPr wrap="square" lIns="0" tIns="0" rIns="0" bIns="0" rtlCol="0" anchor="t"/>
          <a:lstStyle/>
          <a:p>
            <a:pPr indent="0" marL="0">
              <a:buNone/>
            </a:pPr>
            <a:r>
              <a:rPr lang="en-US" sz="1300" b="1" dirty="0">
                <a:solidFill>
                  <a:schemeClr val="tx1"/>
                </a:solidFill>
              </a:rPr>
              <a:t>Data tier</a:t>
            </a:r>
            <a:endParaRPr lang="en-US" sz="1400" dirty="0"/>
          </a:p>
          <a:p>
            <a:pPr indent="0" marL="0">
              <a:buNone/>
            </a:pPr>
            <a:r>
              <a:rPr lang="en-US" sz="1200" dirty="0">
                <a:solidFill>
                  <a:schemeClr val="tx1"/>
                </a:solidFill>
              </a:rPr>
              <a:t>Redis up to 26 GB (external); ClickHouse disk sized per TTL day</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lstStyle/>
          <a:p>
            <a:pPr indent="0" marL="0">
              <a:buNone/>
            </a:pPr>
            <a:r>
              <a:rPr lang="en-US" sz="1200" b="1" spc="200" kern="0" dirty="0">
                <a:solidFill>
                  <a:schemeClr val="accent3"/>
                </a:solidFill>
              </a:rPr>
              <a:t>LESSONS</a:t>
            </a:r>
            <a:endParaRPr lang="en-US" sz="1200" dirty="0"/>
          </a:p>
        </p:txBody>
      </p:sp>
      <p:sp>
        <p:nvSpPr>
          <p:cNvPr id="3" name="Text 0"/>
          <p:cNvSpPr/>
          <p:nvPr>
            <p:ph idx="101" type="title" hasCustomPrompt="1"/>
          </p:nvPr>
        </p:nvSpPr>
        <p:spPr>
          <a:xfrm>
            <a:off x="548640" y="58521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What broke along the way, and the fix</a:t>
            </a:r>
            <a:endParaRPr lang="en-US" sz="3200" dirty="0"/>
          </a:p>
        </p:txBody>
      </p:sp>
      <p:sp>
        <p:nvSpPr>
          <p:cNvPr id="4" name="card-352"/>
          <p:cNvSpPr/>
          <p:nvPr/>
        </p:nvSpPr>
        <p:spPr>
          <a:xfrm>
            <a:off x="548640" y="1600200"/>
            <a:ext cx="5440680" cy="1920240"/>
          </a:xfrm>
          <a:prstGeom prst="roundRect">
            <a:avLst>
              <a:gd name="adj" fmla="val 5714"/>
            </a:avLst>
          </a:prstGeom>
          <a:solidFill>
            <a:schemeClr val="bg2"/>
          </a:solidFill>
          <a:ln w="12700">
            <a:solidFill>
              <a:schemeClr val="bg2"/>
            </a:solidFill>
            <a:prstDash val="solid"/>
          </a:ln>
        </p:spPr>
      </p:sp>
      <p:sp>
        <p:nvSpPr>
          <p:cNvPr id="5" name="icon-bg-353"/>
          <p:cNvSpPr/>
          <p:nvPr/>
        </p:nvSpPr>
        <p:spPr>
          <a:xfrm>
            <a:off x="777240" y="1828800"/>
            <a:ext cx="457200" cy="457200"/>
          </a:xfrm>
          <a:prstGeom prst="ellipse">
            <a:avLst/>
          </a:prstGeom>
          <a:solidFill>
            <a:schemeClr val="accent2"/>
          </a:solidFill>
          <a:ln w="12700">
            <a:solidFill>
              <a:schemeClr val="accent2"/>
            </a:solidFill>
            <a:prstDash val="solid"/>
          </a:ln>
        </p:spPr>
      </p:sp>
      <p:pic>
        <p:nvPicPr>
          <p:cNvPr id="6" name="icon-354" descr="preencoded.png">    </p:cNvPr>
          <p:cNvPicPr>
            <a:picLocks noChangeAspect="1"/>
          </p:cNvPicPr>
          <p:nvPr/>
        </p:nvPicPr>
        <p:blipFill>
          <a:blip r:embed="rId1"/>
          <a:stretch>
            <a:fillRect/>
          </a:stretch>
        </p:blipFill>
        <p:spPr>
          <a:xfrm>
            <a:off x="886968" y="1938528"/>
            <a:ext cx="237744" cy="237744"/>
          </a:xfrm>
          <a:prstGeom prst="rect">
            <a:avLst/>
          </a:prstGeom>
        </p:spPr>
      </p:pic>
      <p:sp>
        <p:nvSpPr>
          <p:cNvPr id="7" name="text-355"/>
          <p:cNvSpPr txBox="1"/>
          <p:nvPr/>
        </p:nvSpPr>
        <p:spPr>
          <a:xfrm>
            <a:off x="1371600" y="1856232"/>
            <a:ext cx="4434840" cy="411480"/>
          </a:xfrm>
          <a:prstGeom prst="rect">
            <a:avLst/>
          </a:prstGeom>
          <a:noFill/>
          <a:ln/>
        </p:spPr>
        <p:txBody>
          <a:bodyPr wrap="square" lIns="0" tIns="0" rIns="0" bIns="0" rtlCol="0" anchor="ctr"/>
          <a:lstStyle/>
          <a:p>
            <a:pPr indent="0" marL="0">
              <a:buNone/>
            </a:pPr>
            <a:r>
              <a:rPr lang="en-US" sz="1600" b="1" dirty="0">
                <a:solidFill>
                  <a:schemeClr val="tx1"/>
                </a:solidFill>
              </a:rPr>
              <a:t>Server rejected my graph</a:t>
            </a:r>
            <a:endParaRPr lang="en-US" sz="1600" dirty="0"/>
          </a:p>
        </p:txBody>
      </p:sp>
      <p:sp>
        <p:nvSpPr>
          <p:cNvPr id="8" name="text-356"/>
          <p:cNvSpPr txBox="1"/>
          <p:nvPr/>
        </p:nvSpPr>
        <p:spPr>
          <a:xfrm>
            <a:off x="777240" y="2423160"/>
            <a:ext cx="4983480" cy="1005840"/>
          </a:xfrm>
          <a:prstGeom prst="rect">
            <a:avLst/>
          </a:prstGeom>
          <a:noFill/>
          <a:ln/>
        </p:spPr>
        <p:txBody>
          <a:bodyPr wrap="square" lIns="0" tIns="0" rIns="0" bIns="0" rtlCol="0" anchor="t"/>
          <a:lstStyle/>
          <a:p>
            <a:pPr indent="0" marL="0">
              <a:spcAft>
                <a:spcPts val="600"/>
              </a:spcAft>
              <a:buNone/>
            </a:pPr>
            <a:r>
              <a:rPr lang="en-US" sz="1500" dirty="0">
                <a:solidFill>
                  <a:schemeClr val="accent5"/>
                </a:solidFill>
              </a:rPr>
              <a:t>Agent Server refuses graphs compiled with their own checkpointer.</a:t>
            </a:r>
            <a:endParaRPr lang="en-US" sz="1500" dirty="0"/>
          </a:p>
          <a:p>
            <a:pPr indent="0" marL="0">
              <a:spcAft>
                <a:spcPts val="600"/>
              </a:spcAft>
              <a:buNone/>
            </a:pPr>
            <a:r>
              <a:rPr lang="en-US" sz="1500" b="1" dirty="0">
                <a:solidFill>
                  <a:schemeClr val="accent3"/>
                </a:solidFill>
              </a:rPr>
              <a:t>Fix: </a:t>
            </a:r>
            <a:pPr indent="0" marL="0">
              <a:spcAft>
                <a:spcPts val="600"/>
              </a:spcAft>
              <a:buNone/>
            </a:pPr>
            <a:r>
              <a:rPr lang="en-US" sz="1500" dirty="0">
                <a:solidFill>
                  <a:schemeClr val="tx1"/>
                </a:solidFill>
              </a:rPr>
              <a:t>Export via build_*(checkpointer=None); add InMemorySaver only for local runs.</a:t>
            </a:r>
            <a:endParaRPr lang="en-US" sz="1500" dirty="0"/>
          </a:p>
        </p:txBody>
      </p:sp>
      <p:sp>
        <p:nvSpPr>
          <p:cNvPr id="9" name="card-357"/>
          <p:cNvSpPr/>
          <p:nvPr/>
        </p:nvSpPr>
        <p:spPr>
          <a:xfrm>
            <a:off x="6199632" y="1600200"/>
            <a:ext cx="5440680" cy="1920240"/>
          </a:xfrm>
          <a:prstGeom prst="roundRect">
            <a:avLst>
              <a:gd name="adj" fmla="val 5714"/>
            </a:avLst>
          </a:prstGeom>
          <a:solidFill>
            <a:schemeClr val="bg2"/>
          </a:solidFill>
          <a:ln w="12700">
            <a:solidFill>
              <a:schemeClr val="bg2"/>
            </a:solidFill>
            <a:prstDash val="solid"/>
          </a:ln>
        </p:spPr>
      </p:sp>
      <p:sp>
        <p:nvSpPr>
          <p:cNvPr id="10" name="icon-bg-358"/>
          <p:cNvSpPr/>
          <p:nvPr/>
        </p:nvSpPr>
        <p:spPr>
          <a:xfrm>
            <a:off x="6428232" y="1828800"/>
            <a:ext cx="457200" cy="457200"/>
          </a:xfrm>
          <a:prstGeom prst="ellipse">
            <a:avLst/>
          </a:prstGeom>
          <a:solidFill>
            <a:schemeClr val="accent2"/>
          </a:solidFill>
          <a:ln w="12700">
            <a:solidFill>
              <a:schemeClr val="accent2"/>
            </a:solidFill>
            <a:prstDash val="solid"/>
          </a:ln>
        </p:spPr>
      </p:sp>
      <p:pic>
        <p:nvPicPr>
          <p:cNvPr id="11" name="icon-359" descr="preencoded.png">    </p:cNvPr>
          <p:cNvPicPr>
            <a:picLocks noChangeAspect="1"/>
          </p:cNvPicPr>
          <p:nvPr/>
        </p:nvPicPr>
        <p:blipFill>
          <a:blip r:embed="rId2"/>
          <a:stretch>
            <a:fillRect/>
          </a:stretch>
        </p:blipFill>
        <p:spPr>
          <a:xfrm>
            <a:off x="6537960" y="1938528"/>
            <a:ext cx="237744" cy="237744"/>
          </a:xfrm>
          <a:prstGeom prst="rect">
            <a:avLst/>
          </a:prstGeom>
        </p:spPr>
      </p:pic>
      <p:sp>
        <p:nvSpPr>
          <p:cNvPr id="12" name="text-360"/>
          <p:cNvSpPr txBox="1"/>
          <p:nvPr/>
        </p:nvSpPr>
        <p:spPr>
          <a:xfrm>
            <a:off x="7022592" y="1856232"/>
            <a:ext cx="4434840" cy="411480"/>
          </a:xfrm>
          <a:prstGeom prst="rect">
            <a:avLst/>
          </a:prstGeom>
          <a:noFill/>
          <a:ln/>
        </p:spPr>
        <p:txBody>
          <a:bodyPr wrap="square" lIns="0" tIns="0" rIns="0" bIns="0" rtlCol="0" anchor="ctr"/>
          <a:lstStyle/>
          <a:p>
            <a:pPr indent="0" marL="0">
              <a:buNone/>
            </a:pPr>
            <a:r>
              <a:rPr lang="en-US" sz="1600" b="1" dirty="0">
                <a:solidFill>
                  <a:schemeClr val="tx1"/>
                </a:solidFill>
              </a:rPr>
              <a:t>Subagent results vanished</a:t>
            </a:r>
            <a:endParaRPr lang="en-US" sz="1600" dirty="0"/>
          </a:p>
        </p:txBody>
      </p:sp>
      <p:sp>
        <p:nvSpPr>
          <p:cNvPr id="13" name="text-361"/>
          <p:cNvSpPr txBox="1"/>
          <p:nvPr/>
        </p:nvSpPr>
        <p:spPr>
          <a:xfrm>
            <a:off x="6428232" y="2423160"/>
            <a:ext cx="4983480" cy="1005840"/>
          </a:xfrm>
          <a:prstGeom prst="rect">
            <a:avLst/>
          </a:prstGeom>
          <a:noFill/>
          <a:ln/>
        </p:spPr>
        <p:txBody>
          <a:bodyPr wrap="square" lIns="0" tIns="0" rIns="0" bIns="0" rtlCol="0" anchor="t"/>
          <a:lstStyle/>
          <a:p>
            <a:pPr indent="0" marL="0">
              <a:spcAft>
                <a:spcPts val="600"/>
              </a:spcAft>
              <a:buNone/>
            </a:pPr>
            <a:r>
              <a:rPr lang="en-US" sz="1500" dirty="0">
                <a:solidFill>
                  <a:schemeClr val="accent5"/>
                </a:solidFill>
              </a:rPr>
              <a:t>Supervisors only see a subagent's final message, not its tool calls.</a:t>
            </a:r>
            <a:endParaRPr lang="en-US" sz="1500" dirty="0"/>
          </a:p>
          <a:p>
            <a:pPr indent="0" marL="0">
              <a:spcAft>
                <a:spcPts val="600"/>
              </a:spcAft>
              <a:buNone/>
            </a:pPr>
            <a:r>
              <a:rPr lang="en-US" sz="1500" b="1" dirty="0">
                <a:solidFill>
                  <a:schemeClr val="accent3"/>
                </a:solidFill>
              </a:rPr>
              <a:t>Fix: </a:t>
            </a:r>
            <a:pPr indent="0" marL="0">
              <a:spcAft>
                <a:spcPts val="600"/>
              </a:spcAft>
              <a:buNone/>
            </a:pPr>
            <a:r>
              <a:rPr lang="en-US" sz="1500" dirty="0">
                <a:solidFill>
                  <a:schemeClr val="tx1"/>
                </a:solidFill>
              </a:rPr>
              <a:t>A FINAL_ANSWER_RULE in every specialist prompt, guarded by an eval.</a:t>
            </a:r>
            <a:endParaRPr lang="en-US" sz="1500" dirty="0"/>
          </a:p>
        </p:txBody>
      </p:sp>
      <p:sp>
        <p:nvSpPr>
          <p:cNvPr id="14" name="card-362"/>
          <p:cNvSpPr/>
          <p:nvPr/>
        </p:nvSpPr>
        <p:spPr>
          <a:xfrm>
            <a:off x="548640" y="3794760"/>
            <a:ext cx="5440680" cy="1920240"/>
          </a:xfrm>
          <a:prstGeom prst="roundRect">
            <a:avLst>
              <a:gd name="adj" fmla="val 5714"/>
            </a:avLst>
          </a:prstGeom>
          <a:solidFill>
            <a:schemeClr val="bg2"/>
          </a:solidFill>
          <a:ln w="12700">
            <a:solidFill>
              <a:schemeClr val="bg2"/>
            </a:solidFill>
            <a:prstDash val="solid"/>
          </a:ln>
        </p:spPr>
      </p:sp>
      <p:sp>
        <p:nvSpPr>
          <p:cNvPr id="15" name="icon-bg-363"/>
          <p:cNvSpPr/>
          <p:nvPr/>
        </p:nvSpPr>
        <p:spPr>
          <a:xfrm>
            <a:off x="777240" y="4023360"/>
            <a:ext cx="457200" cy="457200"/>
          </a:xfrm>
          <a:prstGeom prst="ellipse">
            <a:avLst/>
          </a:prstGeom>
          <a:solidFill>
            <a:schemeClr val="accent2"/>
          </a:solidFill>
          <a:ln w="12700">
            <a:solidFill>
              <a:schemeClr val="accent2"/>
            </a:solidFill>
            <a:prstDash val="solid"/>
          </a:ln>
        </p:spPr>
      </p:sp>
      <p:pic>
        <p:nvPicPr>
          <p:cNvPr id="16" name="icon-364" descr="preencoded.png">    </p:cNvPr>
          <p:cNvPicPr>
            <a:picLocks noChangeAspect="1"/>
          </p:cNvPicPr>
          <p:nvPr/>
        </p:nvPicPr>
        <p:blipFill>
          <a:blip r:embed="rId3"/>
          <a:stretch>
            <a:fillRect/>
          </a:stretch>
        </p:blipFill>
        <p:spPr>
          <a:xfrm>
            <a:off x="886968" y="4133088"/>
            <a:ext cx="237744" cy="237744"/>
          </a:xfrm>
          <a:prstGeom prst="rect">
            <a:avLst/>
          </a:prstGeom>
        </p:spPr>
      </p:pic>
      <p:sp>
        <p:nvSpPr>
          <p:cNvPr id="17" name="text-365"/>
          <p:cNvSpPr txBox="1"/>
          <p:nvPr/>
        </p:nvSpPr>
        <p:spPr>
          <a:xfrm>
            <a:off x="1371600" y="4050792"/>
            <a:ext cx="4434840" cy="411480"/>
          </a:xfrm>
          <a:prstGeom prst="rect">
            <a:avLst/>
          </a:prstGeom>
          <a:noFill/>
          <a:ln/>
        </p:spPr>
        <p:txBody>
          <a:bodyPr wrap="square" lIns="0" tIns="0" rIns="0" bIns="0" rtlCol="0" anchor="ctr"/>
          <a:lstStyle/>
          <a:p>
            <a:pPr indent="0" marL="0">
              <a:buNone/>
            </a:pPr>
            <a:r>
              <a:rPr lang="en-US" sz="1600" b="1" dirty="0">
                <a:solidFill>
                  <a:schemeClr val="tx1"/>
                </a:solidFill>
              </a:rPr>
              <a:t>Air-gap broke at first call</a:t>
            </a:r>
            <a:endParaRPr lang="en-US" sz="1600" dirty="0"/>
          </a:p>
        </p:txBody>
      </p:sp>
      <p:sp>
        <p:nvSpPr>
          <p:cNvPr id="18" name="text-366"/>
          <p:cNvSpPr txBox="1"/>
          <p:nvPr/>
        </p:nvSpPr>
        <p:spPr>
          <a:xfrm>
            <a:off x="777240" y="4617720"/>
            <a:ext cx="4983480" cy="1005840"/>
          </a:xfrm>
          <a:prstGeom prst="rect">
            <a:avLst/>
          </a:prstGeom>
          <a:noFill/>
          <a:ln/>
        </p:spPr>
        <p:txBody>
          <a:bodyPr wrap="square" lIns="0" tIns="0" rIns="0" bIns="0" rtlCol="0" anchor="t"/>
          <a:lstStyle/>
          <a:p>
            <a:pPr indent="0" marL="0">
              <a:spcAft>
                <a:spcPts val="600"/>
              </a:spcAft>
              <a:buNone/>
            </a:pPr>
            <a:r>
              <a:rPr lang="en-US" sz="1500" dirty="0">
                <a:solidFill>
                  <a:schemeClr val="accent5"/>
                </a:solidFill>
              </a:rPr>
              <a:t>The local embedding model downloads on first use inside the container.</a:t>
            </a:r>
            <a:endParaRPr lang="en-US" sz="1500" dirty="0"/>
          </a:p>
          <a:p>
            <a:pPr indent="0" marL="0">
              <a:spcAft>
                <a:spcPts val="600"/>
              </a:spcAft>
              <a:buNone/>
            </a:pPr>
            <a:r>
              <a:rPr lang="en-US" sz="1500" b="1" dirty="0">
                <a:solidFill>
                  <a:schemeClr val="accent3"/>
                </a:solidFill>
              </a:rPr>
              <a:t>Fix: </a:t>
            </a:r>
            <a:pPr indent="0" marL="0">
              <a:spcAft>
                <a:spcPts val="600"/>
              </a:spcAft>
              <a:buNone/>
            </a:pPr>
            <a:r>
              <a:rPr lang="en-US" sz="1500" dirty="0">
                <a:solidFill>
                  <a:schemeClr val="tx1"/>
                </a:solidFill>
              </a:rPr>
              <a:t>Pre-fetch it at image build with dockerfile_lines.</a:t>
            </a:r>
            <a:endParaRPr lang="en-US" sz="1500" dirty="0"/>
          </a:p>
        </p:txBody>
      </p:sp>
      <p:sp>
        <p:nvSpPr>
          <p:cNvPr id="19" name="card-367"/>
          <p:cNvSpPr/>
          <p:nvPr/>
        </p:nvSpPr>
        <p:spPr>
          <a:xfrm>
            <a:off x="6199632" y="3794760"/>
            <a:ext cx="5440680" cy="1920240"/>
          </a:xfrm>
          <a:prstGeom prst="roundRect">
            <a:avLst>
              <a:gd name="adj" fmla="val 5714"/>
            </a:avLst>
          </a:prstGeom>
          <a:solidFill>
            <a:schemeClr val="bg2"/>
          </a:solidFill>
          <a:ln w="12700">
            <a:solidFill>
              <a:schemeClr val="bg2"/>
            </a:solidFill>
            <a:prstDash val="solid"/>
          </a:ln>
        </p:spPr>
      </p:sp>
      <p:sp>
        <p:nvSpPr>
          <p:cNvPr id="20" name="icon-bg-368"/>
          <p:cNvSpPr/>
          <p:nvPr/>
        </p:nvSpPr>
        <p:spPr>
          <a:xfrm>
            <a:off x="6428232" y="4023360"/>
            <a:ext cx="457200" cy="457200"/>
          </a:xfrm>
          <a:prstGeom prst="ellipse">
            <a:avLst/>
          </a:prstGeom>
          <a:solidFill>
            <a:schemeClr val="accent2"/>
          </a:solidFill>
          <a:ln w="12700">
            <a:solidFill>
              <a:schemeClr val="accent2"/>
            </a:solidFill>
            <a:prstDash val="solid"/>
          </a:ln>
        </p:spPr>
      </p:sp>
      <p:pic>
        <p:nvPicPr>
          <p:cNvPr id="21" name="icon-369" descr="preencoded.png">    </p:cNvPr>
          <p:cNvPicPr>
            <a:picLocks noChangeAspect="1"/>
          </p:cNvPicPr>
          <p:nvPr/>
        </p:nvPicPr>
        <p:blipFill>
          <a:blip r:embed="rId4"/>
          <a:stretch>
            <a:fillRect/>
          </a:stretch>
        </p:blipFill>
        <p:spPr>
          <a:xfrm>
            <a:off x="6537960" y="4133088"/>
            <a:ext cx="237744" cy="237744"/>
          </a:xfrm>
          <a:prstGeom prst="rect">
            <a:avLst/>
          </a:prstGeom>
        </p:spPr>
      </p:pic>
      <p:sp>
        <p:nvSpPr>
          <p:cNvPr id="22" name="text-370"/>
          <p:cNvSpPr txBox="1"/>
          <p:nvPr/>
        </p:nvSpPr>
        <p:spPr>
          <a:xfrm>
            <a:off x="7022592" y="4050792"/>
            <a:ext cx="4434840" cy="411480"/>
          </a:xfrm>
          <a:prstGeom prst="rect">
            <a:avLst/>
          </a:prstGeom>
          <a:noFill/>
          <a:ln/>
        </p:spPr>
        <p:txBody>
          <a:bodyPr wrap="square" lIns="0" tIns="0" rIns="0" bIns="0" rtlCol="0" anchor="ctr"/>
          <a:lstStyle/>
          <a:p>
            <a:pPr indent="0" marL="0">
              <a:buNone/>
            </a:pPr>
            <a:r>
              <a:rPr lang="en-US" sz="1600" b="1" dirty="0">
                <a:solidFill>
                  <a:schemeClr val="tx1"/>
                </a:solidFill>
              </a:rPr>
              <a:t>A dependency was sunsetting</a:t>
            </a:r>
            <a:endParaRPr lang="en-US" sz="1600" dirty="0"/>
          </a:p>
        </p:txBody>
      </p:sp>
      <p:sp>
        <p:nvSpPr>
          <p:cNvPr id="23" name="text-371"/>
          <p:cNvSpPr txBox="1"/>
          <p:nvPr/>
        </p:nvSpPr>
        <p:spPr>
          <a:xfrm>
            <a:off x="6428232" y="4617720"/>
            <a:ext cx="4983480" cy="1005840"/>
          </a:xfrm>
          <a:prstGeom prst="rect">
            <a:avLst/>
          </a:prstGeom>
          <a:noFill/>
          <a:ln/>
        </p:spPr>
        <p:txBody>
          <a:bodyPr wrap="square" lIns="0" tIns="0" rIns="0" bIns="0" rtlCol="0" anchor="t"/>
          <a:lstStyle/>
          <a:p>
            <a:pPr indent="0" marL="0">
              <a:spcAft>
                <a:spcPts val="600"/>
              </a:spcAft>
              <a:buNone/>
            </a:pPr>
            <a:r>
              <a:rPr lang="en-US" sz="1500" dirty="0">
                <a:solidFill>
                  <a:schemeClr val="accent5"/>
                </a:solidFill>
              </a:rPr>
              <a:t>langchain-community is no longer maintained.</a:t>
            </a:r>
            <a:endParaRPr lang="en-US" sz="1500" dirty="0"/>
          </a:p>
          <a:p>
            <a:pPr indent="0" marL="0">
              <a:spcAft>
                <a:spcPts val="600"/>
              </a:spcAft>
              <a:buNone/>
            </a:pPr>
            <a:r>
              <a:rPr lang="en-US" sz="1500" b="1" dirty="0">
                <a:solidFill>
                  <a:schemeClr val="accent3"/>
                </a:solidFill>
              </a:rPr>
              <a:t>Fix: </a:t>
            </a:r>
            <a:pPr indent="0" marL="0">
              <a:spcAft>
                <a:spcPts val="600"/>
              </a:spcAft>
              <a:buNone/>
            </a:pPr>
            <a:r>
              <a:rPr lang="en-US" sz="1500" dirty="0">
                <a:solidFill>
                  <a:schemeClr val="tx1"/>
                </a:solidFill>
              </a:rPr>
              <a:t>Implemented the two-method Embeddings interface directly.</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lstStyle/>
          <a:p>
            <a:pPr indent="0" marL="0">
              <a:buNone/>
            </a:pPr>
            <a:r>
              <a:rPr lang="en-US" sz="1200" b="1" spc="200" kern="0" dirty="0">
                <a:solidFill>
                  <a:schemeClr val="accent3"/>
                </a:solidFill>
              </a:rPr>
              <a:t>LIVE DEMO · 5 MINUTES</a:t>
            </a:r>
            <a:endParaRPr lang="en-US" sz="1200" dirty="0"/>
          </a:p>
        </p:txBody>
      </p:sp>
      <p:sp>
        <p:nvSpPr>
          <p:cNvPr id="3" name="Text 0"/>
          <p:cNvSpPr/>
          <p:nvPr>
            <p:ph idx="101" type="title" hasCustomPrompt="1"/>
          </p:nvPr>
        </p:nvSpPr>
        <p:spPr>
          <a:xfrm>
            <a:off x="548640" y="58521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What I'll show you</a:t>
            </a:r>
            <a:endParaRPr lang="en-US" sz="3200" dirty="0"/>
          </a:p>
        </p:txBody>
      </p:sp>
      <p:sp>
        <p:nvSpPr>
          <p:cNvPr id="4" name="card-372"/>
          <p:cNvSpPr/>
          <p:nvPr/>
        </p:nvSpPr>
        <p:spPr>
          <a:xfrm>
            <a:off x="548640" y="1691640"/>
            <a:ext cx="2606040" cy="3383280"/>
          </a:xfrm>
          <a:prstGeom prst="roundRect">
            <a:avLst>
              <a:gd name="adj" fmla="val 4211"/>
            </a:avLst>
          </a:prstGeom>
          <a:solidFill>
            <a:schemeClr val="tx2"/>
          </a:solidFill>
          <a:ln w="12700">
            <a:solidFill>
              <a:schemeClr val="tx2"/>
            </a:solidFill>
            <a:prstDash val="solid"/>
          </a:ln>
        </p:spPr>
      </p:sp>
      <p:sp>
        <p:nvSpPr>
          <p:cNvPr id="5" name="text-373"/>
          <p:cNvSpPr txBox="1"/>
          <p:nvPr/>
        </p:nvSpPr>
        <p:spPr>
          <a:xfrm>
            <a:off x="777240" y="1920240"/>
            <a:ext cx="1097280" cy="731520"/>
          </a:xfrm>
          <a:prstGeom prst="rect">
            <a:avLst/>
          </a:prstGeom>
          <a:noFill/>
          <a:ln/>
        </p:spPr>
        <p:txBody>
          <a:bodyPr wrap="square" lIns="0" tIns="0" rIns="0" bIns="0" rtlCol="0" anchor="t"/>
          <a:lstStyle/>
          <a:p>
            <a:pPr indent="0" marL="0">
              <a:buNone/>
            </a:pPr>
            <a:r>
              <a:rPr lang="en-US" sz="4000" b="1" dirty="0">
                <a:solidFill>
                  <a:schemeClr val="accent1"/>
                </a:solidFill>
                <a:latin typeface="Arial" pitchFamily="34" charset="0"/>
                <a:ea typeface="Arial" pitchFamily="34" charset="-122"/>
                <a:cs typeface="Arial" pitchFamily="34" charset="-120"/>
              </a:rPr>
              <a:t>01</a:t>
            </a:r>
            <a:endParaRPr lang="en-US" sz="4000" dirty="0"/>
          </a:p>
        </p:txBody>
      </p:sp>
      <p:sp>
        <p:nvSpPr>
          <p:cNvPr id="6" name="icon-bg-374"/>
          <p:cNvSpPr/>
          <p:nvPr/>
        </p:nvSpPr>
        <p:spPr>
          <a:xfrm>
            <a:off x="2377440" y="1965960"/>
            <a:ext cx="548640" cy="548640"/>
          </a:xfrm>
          <a:prstGeom prst="ellipse">
            <a:avLst/>
          </a:prstGeom>
          <a:solidFill>
            <a:schemeClr val="accent1"/>
          </a:solidFill>
          <a:ln w="12700">
            <a:solidFill>
              <a:schemeClr val="accent1"/>
            </a:solidFill>
            <a:prstDash val="solid"/>
          </a:ln>
        </p:spPr>
      </p:sp>
      <p:pic>
        <p:nvPicPr>
          <p:cNvPr id="7" name="icon-375" descr="preencoded.png">    </p:cNvPr>
          <p:cNvPicPr>
            <a:picLocks noChangeAspect="1"/>
          </p:cNvPicPr>
          <p:nvPr/>
        </p:nvPicPr>
        <p:blipFill>
          <a:blip r:embed="rId1"/>
          <a:stretch>
            <a:fillRect/>
          </a:stretch>
        </p:blipFill>
        <p:spPr>
          <a:xfrm>
            <a:off x="2509114" y="2097634"/>
            <a:ext cx="285293" cy="285293"/>
          </a:xfrm>
          <a:prstGeom prst="rect">
            <a:avLst/>
          </a:prstGeom>
        </p:spPr>
      </p:pic>
      <p:sp>
        <p:nvSpPr>
          <p:cNvPr id="8" name="text-376"/>
          <p:cNvSpPr txBox="1"/>
          <p:nvPr/>
        </p:nvSpPr>
        <p:spPr>
          <a:xfrm>
            <a:off x="777240" y="2926080"/>
            <a:ext cx="2148840" cy="1920240"/>
          </a:xfrm>
          <a:prstGeom prst="rect">
            <a:avLst/>
          </a:prstGeom>
          <a:noFill/>
          <a:ln/>
        </p:spPr>
        <p:txBody>
          <a:bodyPr wrap="square" lIns="0" tIns="0" rIns="0" bIns="0" rtlCol="0" anchor="t"/>
          <a:lstStyle/>
          <a:p>
            <a:pPr indent="0" marL="0">
              <a:buNone/>
            </a:pPr>
            <a:r>
              <a:rPr lang="en-US" sz="1600" b="1" dirty="0">
                <a:solidFill>
                  <a:schemeClr val="bg1"/>
                </a:solidFill>
              </a:rPr>
              <a:t>Studio: remediation graph</a:t>
            </a:r>
            <a:endParaRPr lang="en-US" sz="1400" dirty="0"/>
          </a:p>
          <a:p>
            <a:pPr indent="0" marL="0">
              <a:buNone/>
            </a:pPr>
            <a:r>
              <a:rPr lang="en-US" sz="1500" dirty="0">
                <a:solidFill>
                  <a:schemeClr val="accent4"/>
                </a:solidFill>
              </a:rPr>
              <a:t>Run payments-api, pause at human_review, accept the risk, re-run and watch the rule get suppressed.</a:t>
            </a:r>
            <a:endParaRPr lang="en-US" sz="1400" dirty="0"/>
          </a:p>
        </p:txBody>
      </p:sp>
      <p:sp>
        <p:nvSpPr>
          <p:cNvPr id="9" name="card-377"/>
          <p:cNvSpPr/>
          <p:nvPr/>
        </p:nvSpPr>
        <p:spPr>
          <a:xfrm>
            <a:off x="3364992" y="1691640"/>
            <a:ext cx="2606040" cy="3383280"/>
          </a:xfrm>
          <a:prstGeom prst="roundRect">
            <a:avLst>
              <a:gd name="adj" fmla="val 4211"/>
            </a:avLst>
          </a:prstGeom>
          <a:solidFill>
            <a:schemeClr val="bg2"/>
          </a:solidFill>
          <a:ln w="12700">
            <a:solidFill>
              <a:schemeClr val="bg2"/>
            </a:solidFill>
            <a:prstDash val="solid"/>
          </a:ln>
        </p:spPr>
      </p:sp>
      <p:sp>
        <p:nvSpPr>
          <p:cNvPr id="10" name="text-378"/>
          <p:cNvSpPr txBox="1"/>
          <p:nvPr/>
        </p:nvSpPr>
        <p:spPr>
          <a:xfrm>
            <a:off x="3593592" y="1920240"/>
            <a:ext cx="1097280" cy="731520"/>
          </a:xfrm>
          <a:prstGeom prst="rect">
            <a:avLst/>
          </a:prstGeom>
          <a:noFill/>
          <a:ln/>
        </p:spPr>
        <p:txBody>
          <a:bodyPr wrap="square" lIns="0" tIns="0" rIns="0" bIns="0" rtlCol="0" anchor="t"/>
          <a:lstStyle/>
          <a:p>
            <a:pPr indent="0" marL="0">
              <a:buNone/>
            </a:pPr>
            <a:r>
              <a:rPr lang="en-US" sz="4000" b="1" dirty="0">
                <a:solidFill>
                  <a:schemeClr val="accent3"/>
                </a:solidFill>
                <a:latin typeface="Arial" pitchFamily="34" charset="0"/>
                <a:ea typeface="Arial" pitchFamily="34" charset="-122"/>
                <a:cs typeface="Arial" pitchFamily="34" charset="-120"/>
              </a:rPr>
              <a:t>02</a:t>
            </a:r>
            <a:endParaRPr lang="en-US" sz="4000" dirty="0"/>
          </a:p>
        </p:txBody>
      </p:sp>
      <p:sp>
        <p:nvSpPr>
          <p:cNvPr id="11" name="icon-bg-379"/>
          <p:cNvSpPr/>
          <p:nvPr/>
        </p:nvSpPr>
        <p:spPr>
          <a:xfrm>
            <a:off x="5193792" y="1965960"/>
            <a:ext cx="548640" cy="548640"/>
          </a:xfrm>
          <a:prstGeom prst="ellipse">
            <a:avLst/>
          </a:prstGeom>
          <a:solidFill>
            <a:schemeClr val="accent4"/>
          </a:solidFill>
          <a:ln w="12700">
            <a:solidFill>
              <a:schemeClr val="accent4"/>
            </a:solidFill>
            <a:prstDash val="solid"/>
          </a:ln>
        </p:spPr>
      </p:sp>
      <p:pic>
        <p:nvPicPr>
          <p:cNvPr id="12" name="icon-380" descr="preencoded.png">    </p:cNvPr>
          <p:cNvPicPr>
            <a:picLocks noChangeAspect="1"/>
          </p:cNvPicPr>
          <p:nvPr/>
        </p:nvPicPr>
        <p:blipFill>
          <a:blip r:embed="rId2"/>
          <a:stretch>
            <a:fillRect/>
          </a:stretch>
        </p:blipFill>
        <p:spPr>
          <a:xfrm>
            <a:off x="5325466" y="2097634"/>
            <a:ext cx="285293" cy="285293"/>
          </a:xfrm>
          <a:prstGeom prst="rect">
            <a:avLst/>
          </a:prstGeom>
        </p:spPr>
      </p:pic>
      <p:sp>
        <p:nvSpPr>
          <p:cNvPr id="13" name="text-381"/>
          <p:cNvSpPr txBox="1"/>
          <p:nvPr/>
        </p:nvSpPr>
        <p:spPr>
          <a:xfrm>
            <a:off x="3593592" y="2926080"/>
            <a:ext cx="2148840" cy="1920240"/>
          </a:xfrm>
          <a:prstGeom prst="rect">
            <a:avLst/>
          </a:prstGeom>
          <a:noFill/>
          <a:ln/>
        </p:spPr>
        <p:txBody>
          <a:bodyPr wrap="square" lIns="0" tIns="0" rIns="0" bIns="0" rtlCol="0" anchor="t"/>
          <a:lstStyle/>
          <a:p>
            <a:pPr indent="0" marL="0">
              <a:buNone/>
            </a:pPr>
            <a:r>
              <a:rPr lang="en-US" sz="1600" b="1" dirty="0">
                <a:solidFill>
                  <a:schemeClr val="tx1"/>
                </a:solidFill>
              </a:rPr>
              <a:t>LangSmith: supervisor trace</a:t>
            </a:r>
            <a:endParaRPr lang="en-US" sz="1400" dirty="0"/>
          </a:p>
          <a:p>
            <a:pPr indent="0" marL="0">
              <a:buNone/>
            </a:pPr>
            <a:r>
              <a:rPr lang="en-US" sz="1500" dirty="0">
                <a:solidFill>
                  <a:schemeClr val="accent5"/>
                </a:solidFill>
              </a:rPr>
              <a:t>Parallel delegation and nested subagent traces, with tokens and latency per step.</a:t>
            </a:r>
            <a:endParaRPr lang="en-US" sz="1400" dirty="0"/>
          </a:p>
        </p:txBody>
      </p:sp>
      <p:sp>
        <p:nvSpPr>
          <p:cNvPr id="14" name="card-382"/>
          <p:cNvSpPr/>
          <p:nvPr/>
        </p:nvSpPr>
        <p:spPr>
          <a:xfrm>
            <a:off x="6181344" y="1691640"/>
            <a:ext cx="2606040" cy="3383280"/>
          </a:xfrm>
          <a:prstGeom prst="roundRect">
            <a:avLst>
              <a:gd name="adj" fmla="val 4211"/>
            </a:avLst>
          </a:prstGeom>
          <a:solidFill>
            <a:schemeClr val="bg2"/>
          </a:solidFill>
          <a:ln w="12700">
            <a:solidFill>
              <a:schemeClr val="bg2"/>
            </a:solidFill>
            <a:prstDash val="solid"/>
          </a:ln>
        </p:spPr>
      </p:sp>
      <p:sp>
        <p:nvSpPr>
          <p:cNvPr id="15" name="text-383"/>
          <p:cNvSpPr txBox="1"/>
          <p:nvPr/>
        </p:nvSpPr>
        <p:spPr>
          <a:xfrm>
            <a:off x="6409944" y="1920240"/>
            <a:ext cx="1097280" cy="731520"/>
          </a:xfrm>
          <a:prstGeom prst="rect">
            <a:avLst/>
          </a:prstGeom>
          <a:noFill/>
          <a:ln/>
        </p:spPr>
        <p:txBody>
          <a:bodyPr wrap="square" lIns="0" tIns="0" rIns="0" bIns="0" rtlCol="0" anchor="t"/>
          <a:lstStyle/>
          <a:p>
            <a:pPr indent="0" marL="0">
              <a:buNone/>
            </a:pPr>
            <a:r>
              <a:rPr lang="en-US" sz="4000" b="1" dirty="0">
                <a:solidFill>
                  <a:schemeClr val="accent3"/>
                </a:solidFill>
                <a:latin typeface="Arial" pitchFamily="34" charset="0"/>
                <a:ea typeface="Arial" pitchFamily="34" charset="-122"/>
                <a:cs typeface="Arial" pitchFamily="34" charset="-120"/>
              </a:rPr>
              <a:t>03</a:t>
            </a:r>
            <a:endParaRPr lang="en-US" sz="4000" dirty="0"/>
          </a:p>
        </p:txBody>
      </p:sp>
      <p:sp>
        <p:nvSpPr>
          <p:cNvPr id="16" name="icon-bg-384"/>
          <p:cNvSpPr/>
          <p:nvPr/>
        </p:nvSpPr>
        <p:spPr>
          <a:xfrm>
            <a:off x="8010144" y="1965960"/>
            <a:ext cx="548640" cy="548640"/>
          </a:xfrm>
          <a:prstGeom prst="ellipse">
            <a:avLst/>
          </a:prstGeom>
          <a:solidFill>
            <a:schemeClr val="accent4"/>
          </a:solidFill>
          <a:ln w="12700">
            <a:solidFill>
              <a:schemeClr val="accent4"/>
            </a:solidFill>
            <a:prstDash val="solid"/>
          </a:ln>
        </p:spPr>
      </p:sp>
      <p:pic>
        <p:nvPicPr>
          <p:cNvPr id="17" name="icon-385" descr="preencoded.png">    </p:cNvPr>
          <p:cNvPicPr>
            <a:picLocks noChangeAspect="1"/>
          </p:cNvPicPr>
          <p:nvPr/>
        </p:nvPicPr>
        <p:blipFill>
          <a:blip r:embed="rId3"/>
          <a:stretch>
            <a:fillRect/>
          </a:stretch>
        </p:blipFill>
        <p:spPr>
          <a:xfrm>
            <a:off x="8141818" y="2097634"/>
            <a:ext cx="285293" cy="285293"/>
          </a:xfrm>
          <a:prstGeom prst="rect">
            <a:avLst/>
          </a:prstGeom>
        </p:spPr>
      </p:pic>
      <p:sp>
        <p:nvSpPr>
          <p:cNvPr id="18" name="text-386"/>
          <p:cNvSpPr txBox="1"/>
          <p:nvPr/>
        </p:nvSpPr>
        <p:spPr>
          <a:xfrm>
            <a:off x="6409944" y="2926080"/>
            <a:ext cx="2148840" cy="1920240"/>
          </a:xfrm>
          <a:prstGeom prst="rect">
            <a:avLst/>
          </a:prstGeom>
          <a:noFill/>
          <a:ln/>
        </p:spPr>
        <p:txBody>
          <a:bodyPr wrap="square" lIns="0" tIns="0" rIns="0" bIns="0" rtlCol="0" anchor="t"/>
          <a:lstStyle/>
          <a:p>
            <a:pPr indent="0" marL="0">
              <a:buNone/>
            </a:pPr>
            <a:r>
              <a:rPr lang="en-US" sz="1600" b="1" dirty="0">
                <a:solidFill>
                  <a:schemeClr val="tx1"/>
                </a:solidFill>
              </a:rPr>
              <a:t>Prompt A/B experiments</a:t>
            </a:r>
            <a:endParaRPr lang="en-US" sz="1400" dirty="0"/>
          </a:p>
          <a:p>
            <a:pPr indent="0" marL="0">
              <a:buNone/>
            </a:pPr>
            <a:r>
              <a:rPr lang="en-US" sz="1500" dirty="0">
                <a:solidFill>
                  <a:schemeClr val="accent5"/>
                </a:solidFill>
              </a:rPr>
              <a:t>v1-baseline vs. v2-sla-first, compared per example.</a:t>
            </a:r>
            <a:endParaRPr lang="en-US" sz="1400" dirty="0"/>
          </a:p>
        </p:txBody>
      </p:sp>
      <p:sp>
        <p:nvSpPr>
          <p:cNvPr id="19" name="card-387"/>
          <p:cNvSpPr/>
          <p:nvPr/>
        </p:nvSpPr>
        <p:spPr>
          <a:xfrm>
            <a:off x="8997696" y="1691640"/>
            <a:ext cx="2606040" cy="3383280"/>
          </a:xfrm>
          <a:prstGeom prst="roundRect">
            <a:avLst>
              <a:gd name="adj" fmla="val 4211"/>
            </a:avLst>
          </a:prstGeom>
          <a:solidFill>
            <a:schemeClr val="bg2"/>
          </a:solidFill>
          <a:ln w="12700">
            <a:solidFill>
              <a:schemeClr val="bg2"/>
            </a:solidFill>
            <a:prstDash val="solid"/>
          </a:ln>
        </p:spPr>
      </p:sp>
      <p:sp>
        <p:nvSpPr>
          <p:cNvPr id="20" name="text-388"/>
          <p:cNvSpPr txBox="1"/>
          <p:nvPr/>
        </p:nvSpPr>
        <p:spPr>
          <a:xfrm>
            <a:off x="9226296" y="1920240"/>
            <a:ext cx="1097280" cy="731520"/>
          </a:xfrm>
          <a:prstGeom prst="rect">
            <a:avLst/>
          </a:prstGeom>
          <a:noFill/>
          <a:ln/>
        </p:spPr>
        <p:txBody>
          <a:bodyPr wrap="square" lIns="0" tIns="0" rIns="0" bIns="0" rtlCol="0" anchor="t"/>
          <a:lstStyle/>
          <a:p>
            <a:pPr indent="0" marL="0">
              <a:buNone/>
            </a:pPr>
            <a:r>
              <a:rPr lang="en-US" sz="4000" b="1" dirty="0">
                <a:solidFill>
                  <a:schemeClr val="accent3"/>
                </a:solidFill>
                <a:latin typeface="Arial" pitchFamily="34" charset="0"/>
                <a:ea typeface="Arial" pitchFamily="34" charset="-122"/>
                <a:cs typeface="Arial" pitchFamily="34" charset="-120"/>
              </a:rPr>
              <a:t>04</a:t>
            </a:r>
            <a:endParaRPr lang="en-US" sz="4000" dirty="0"/>
          </a:p>
        </p:txBody>
      </p:sp>
      <p:sp>
        <p:nvSpPr>
          <p:cNvPr id="21" name="icon-bg-389"/>
          <p:cNvSpPr/>
          <p:nvPr/>
        </p:nvSpPr>
        <p:spPr>
          <a:xfrm>
            <a:off x="10826496" y="1965960"/>
            <a:ext cx="548640" cy="548640"/>
          </a:xfrm>
          <a:prstGeom prst="ellipse">
            <a:avLst/>
          </a:prstGeom>
          <a:solidFill>
            <a:schemeClr val="accent4"/>
          </a:solidFill>
          <a:ln w="12700">
            <a:solidFill>
              <a:schemeClr val="accent4"/>
            </a:solidFill>
            <a:prstDash val="solid"/>
          </a:ln>
        </p:spPr>
      </p:sp>
      <p:pic>
        <p:nvPicPr>
          <p:cNvPr id="22" name="icon-390" descr="preencoded.png">    </p:cNvPr>
          <p:cNvPicPr>
            <a:picLocks noChangeAspect="1"/>
          </p:cNvPicPr>
          <p:nvPr/>
        </p:nvPicPr>
        <p:blipFill>
          <a:blip r:embed="rId4"/>
          <a:stretch>
            <a:fillRect/>
          </a:stretch>
        </p:blipFill>
        <p:spPr>
          <a:xfrm>
            <a:off x="10958170" y="2097634"/>
            <a:ext cx="285293" cy="285293"/>
          </a:xfrm>
          <a:prstGeom prst="rect">
            <a:avLst/>
          </a:prstGeom>
        </p:spPr>
      </p:pic>
      <p:sp>
        <p:nvSpPr>
          <p:cNvPr id="23" name="text-391"/>
          <p:cNvSpPr txBox="1"/>
          <p:nvPr/>
        </p:nvSpPr>
        <p:spPr>
          <a:xfrm>
            <a:off x="9226296" y="2926080"/>
            <a:ext cx="2148840" cy="1920240"/>
          </a:xfrm>
          <a:prstGeom prst="rect">
            <a:avLst/>
          </a:prstGeom>
          <a:noFill/>
          <a:ln/>
        </p:spPr>
        <p:txBody>
          <a:bodyPr wrap="square" lIns="0" tIns="0" rIns="0" bIns="0" rtlCol="0" anchor="t"/>
          <a:lstStyle/>
          <a:p>
            <a:pPr indent="0" marL="0">
              <a:buNone/>
            </a:pPr>
            <a:r>
              <a:rPr lang="en-US" sz="1600" b="1" dirty="0">
                <a:solidFill>
                  <a:schemeClr val="tx1"/>
                </a:solidFill>
              </a:rPr>
              <a:t>Architecture walkthrough</a:t>
            </a:r>
            <a:endParaRPr lang="en-US" sz="1400" dirty="0"/>
          </a:p>
          <a:p>
            <a:pPr indent="0" marL="0">
              <a:buNone/>
            </a:pPr>
            <a:r>
              <a:rPr lang="en-US" sz="1500" dirty="0">
                <a:solidFill>
                  <a:schemeClr val="accent5"/>
                </a:solidFill>
              </a:rPr>
              <a:t>Where Postgres HA, auth and egress controls live.</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548640"/>
            <a:ext cx="8229600" cy="320040"/>
          </a:xfrm>
          <a:prstGeom prst="rect">
            <a:avLst/>
          </a:prstGeom>
          <a:noFill/>
          <a:ln/>
        </p:spPr>
        <p:txBody>
          <a:bodyPr wrap="square" lIns="0" tIns="0" rIns="0" bIns="0" rtlCol="0"/>
          <a:lstStyle/>
          <a:p>
            <a:pPr indent="0" marL="0">
              <a:buNone/>
            </a:pPr>
            <a:r>
              <a:rPr lang="en-US" sz="1200" b="1" spc="200" kern="0" dirty="0">
                <a:solidFill>
                  <a:schemeClr val="accent1"/>
                </a:solidFill>
              </a:rPr>
              <a:t>HOW I'D RUN THIS WITH A CUSTOMER</a:t>
            </a:r>
            <a:endParaRPr lang="en-US" sz="1200" dirty="0"/>
          </a:p>
        </p:txBody>
      </p:sp>
      <p:sp>
        <p:nvSpPr>
          <p:cNvPr id="3" name="Text 0"/>
          <p:cNvSpPr/>
          <p:nvPr>
            <p:ph idx="101" type="title" hasCustomPrompt="1"/>
          </p:nvPr>
        </p:nvSpPr>
        <p:spPr>
          <a:xfrm>
            <a:off x="548640" y="86868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From maturity assessment to production adoption</a:t>
            </a:r>
            <a:endParaRPr lang="en-US" sz="3600" dirty="0"/>
          </a:p>
        </p:txBody>
      </p:sp>
      <p:sp>
        <p:nvSpPr>
          <p:cNvPr id="4" name="card-392"/>
          <p:cNvSpPr/>
          <p:nvPr/>
        </p:nvSpPr>
        <p:spPr>
          <a:xfrm>
            <a:off x="548640" y="2103120"/>
            <a:ext cx="2615184" cy="2606040"/>
          </a:xfrm>
          <a:prstGeom prst="roundRect">
            <a:avLst>
              <a:gd name="adj" fmla="val 4211"/>
            </a:avLst>
          </a:prstGeom>
          <a:solidFill>
            <a:srgbClr val="1B4A3E"/>
          </a:solidFill>
          <a:ln w="12700">
            <a:solidFill>
              <a:srgbClr val="1B4A3E"/>
            </a:solidFill>
            <a:prstDash val="solid"/>
          </a:ln>
        </p:spPr>
      </p:sp>
      <p:sp>
        <p:nvSpPr>
          <p:cNvPr id="5" name="badge-393"/>
          <p:cNvSpPr/>
          <p:nvPr/>
        </p:nvSpPr>
        <p:spPr>
          <a:xfrm>
            <a:off x="777240" y="2331720"/>
            <a:ext cx="457200" cy="457200"/>
          </a:xfrm>
          <a:prstGeom prst="roundRect">
            <a:avLst>
              <a:gd name="adj" fmla="val 20000"/>
            </a:avLst>
          </a:prstGeom>
          <a:solidFill>
            <a:schemeClr val="accent1"/>
          </a:solidFill>
          <a:ln w="12700">
            <a:solidFill>
              <a:schemeClr val="accent1"/>
            </a:solidFill>
            <a:prstDash val="solid"/>
          </a:ln>
        </p:spPr>
      </p:sp>
      <p:sp>
        <p:nvSpPr>
          <p:cNvPr id="6" name="badge-label-394"/>
          <p:cNvSpPr txBox="1"/>
          <p:nvPr/>
        </p:nvSpPr>
        <p:spPr>
          <a:xfrm>
            <a:off x="777240" y="23317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1</a:t>
            </a:r>
            <a:endParaRPr lang="en-US" sz="1400" dirty="0"/>
          </a:p>
        </p:txBody>
      </p:sp>
      <p:sp>
        <p:nvSpPr>
          <p:cNvPr id="7" name="text-395"/>
          <p:cNvSpPr txBox="1"/>
          <p:nvPr/>
        </p:nvSpPr>
        <p:spPr>
          <a:xfrm>
            <a:off x="777240" y="3017520"/>
            <a:ext cx="2157984" cy="1508760"/>
          </a:xfrm>
          <a:prstGeom prst="rect">
            <a:avLst/>
          </a:prstGeom>
          <a:noFill/>
          <a:ln/>
        </p:spPr>
        <p:txBody>
          <a:bodyPr wrap="square" lIns="0" tIns="0" rIns="0" bIns="0" rtlCol="0" anchor="t"/>
          <a:lstStyle/>
          <a:p>
            <a:pPr indent="0" marL="0">
              <a:buNone/>
            </a:pPr>
            <a:r>
              <a:rPr lang="en-US" sz="1800" b="1" dirty="0">
                <a:solidFill>
                  <a:schemeClr val="bg1"/>
                </a:solidFill>
              </a:rPr>
              <a:t>Assess</a:t>
            </a:r>
            <a:endParaRPr lang="en-US" sz="1400" dirty="0"/>
          </a:p>
          <a:p>
            <a:pPr indent="0" marL="0">
              <a:buNone/>
            </a:pPr>
            <a:r>
              <a:rPr lang="en-US" sz="1500" dirty="0">
                <a:solidFill>
                  <a:schemeClr val="accent4"/>
                </a:solidFill>
              </a:rPr>
              <a:t>Where are they on trace → eval → deploy → improve? Infra, security and data constraints.</a:t>
            </a:r>
            <a:endParaRPr lang="en-US" sz="1400" dirty="0"/>
          </a:p>
        </p:txBody>
      </p:sp>
      <p:sp>
        <p:nvSpPr>
          <p:cNvPr id="8" name="arrow-396"/>
          <p:cNvSpPr/>
          <p:nvPr/>
        </p:nvSpPr>
        <p:spPr>
          <a:xfrm>
            <a:off x="3182112" y="3406140"/>
            <a:ext cx="164592" cy="914"/>
          </a:xfrm>
          <a:prstGeom prst="line">
            <a:avLst/>
          </a:prstGeom>
          <a:noFill/>
          <a:ln w="19050">
            <a:solidFill>
              <a:srgbClr val="14A37F"/>
            </a:solidFill>
            <a:prstDash val="solid"/>
            <a:tailEnd type="triangle"/>
          </a:ln>
        </p:spPr>
      </p:sp>
      <p:sp>
        <p:nvSpPr>
          <p:cNvPr id="9" name="card-397"/>
          <p:cNvSpPr/>
          <p:nvPr/>
        </p:nvSpPr>
        <p:spPr>
          <a:xfrm>
            <a:off x="3364992" y="2103120"/>
            <a:ext cx="2615184" cy="2606040"/>
          </a:xfrm>
          <a:prstGeom prst="roundRect">
            <a:avLst>
              <a:gd name="adj" fmla="val 4211"/>
            </a:avLst>
          </a:prstGeom>
          <a:solidFill>
            <a:srgbClr val="1B4A3E"/>
          </a:solidFill>
          <a:ln w="12700">
            <a:solidFill>
              <a:srgbClr val="1B4A3E"/>
            </a:solidFill>
            <a:prstDash val="solid"/>
          </a:ln>
        </p:spPr>
      </p:sp>
      <p:sp>
        <p:nvSpPr>
          <p:cNvPr id="10" name="badge-398"/>
          <p:cNvSpPr/>
          <p:nvPr/>
        </p:nvSpPr>
        <p:spPr>
          <a:xfrm>
            <a:off x="3593592" y="2331720"/>
            <a:ext cx="457200" cy="457200"/>
          </a:xfrm>
          <a:prstGeom prst="roundRect">
            <a:avLst>
              <a:gd name="adj" fmla="val 20000"/>
            </a:avLst>
          </a:prstGeom>
          <a:solidFill>
            <a:schemeClr val="accent1"/>
          </a:solidFill>
          <a:ln w="12700">
            <a:solidFill>
              <a:schemeClr val="accent1"/>
            </a:solidFill>
            <a:prstDash val="solid"/>
          </a:ln>
        </p:spPr>
      </p:sp>
      <p:sp>
        <p:nvSpPr>
          <p:cNvPr id="11" name="badge-label-399"/>
          <p:cNvSpPr txBox="1"/>
          <p:nvPr/>
        </p:nvSpPr>
        <p:spPr>
          <a:xfrm>
            <a:off x="3593592" y="23317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2</a:t>
            </a:r>
            <a:endParaRPr lang="en-US" sz="1400" dirty="0"/>
          </a:p>
        </p:txBody>
      </p:sp>
      <p:sp>
        <p:nvSpPr>
          <p:cNvPr id="12" name="text-400"/>
          <p:cNvSpPr txBox="1"/>
          <p:nvPr/>
        </p:nvSpPr>
        <p:spPr>
          <a:xfrm>
            <a:off x="3593592" y="3017520"/>
            <a:ext cx="2157984" cy="1508760"/>
          </a:xfrm>
          <a:prstGeom prst="rect">
            <a:avLst/>
          </a:prstGeom>
          <a:noFill/>
          <a:ln/>
        </p:spPr>
        <p:txBody>
          <a:bodyPr wrap="square" lIns="0" tIns="0" rIns="0" bIns="0" rtlCol="0" anchor="t"/>
          <a:lstStyle/>
          <a:p>
            <a:pPr indent="0" marL="0">
              <a:buNone/>
            </a:pPr>
            <a:r>
              <a:rPr lang="en-US" sz="1800" b="1" dirty="0">
                <a:solidFill>
                  <a:schemeClr val="bg1"/>
                </a:solidFill>
              </a:rPr>
              <a:t>Prove value</a:t>
            </a:r>
            <a:endParaRPr lang="en-US" sz="1400" dirty="0"/>
          </a:p>
          <a:p>
            <a:pPr indent="0" marL="0">
              <a:buNone/>
            </a:pPr>
            <a:r>
              <a:rPr lang="en-US" sz="1500" dirty="0">
                <a:solidFill>
                  <a:schemeClr val="accent4"/>
                </a:solidFill>
              </a:rPr>
              <a:t>One workflow end to end, with a golden dataset and agreed success metrics.</a:t>
            </a:r>
            <a:endParaRPr lang="en-US" sz="1400" dirty="0"/>
          </a:p>
        </p:txBody>
      </p:sp>
      <p:sp>
        <p:nvSpPr>
          <p:cNvPr id="13" name="arrow-401"/>
          <p:cNvSpPr/>
          <p:nvPr/>
        </p:nvSpPr>
        <p:spPr>
          <a:xfrm>
            <a:off x="5998464" y="3406140"/>
            <a:ext cx="164592" cy="914"/>
          </a:xfrm>
          <a:prstGeom prst="line">
            <a:avLst/>
          </a:prstGeom>
          <a:noFill/>
          <a:ln w="19050">
            <a:solidFill>
              <a:srgbClr val="14A37F"/>
            </a:solidFill>
            <a:prstDash val="solid"/>
            <a:tailEnd type="triangle"/>
          </a:ln>
        </p:spPr>
      </p:sp>
      <p:sp>
        <p:nvSpPr>
          <p:cNvPr id="14" name="card-402"/>
          <p:cNvSpPr/>
          <p:nvPr/>
        </p:nvSpPr>
        <p:spPr>
          <a:xfrm>
            <a:off x="6181344" y="2103120"/>
            <a:ext cx="2615184" cy="2606040"/>
          </a:xfrm>
          <a:prstGeom prst="roundRect">
            <a:avLst>
              <a:gd name="adj" fmla="val 4211"/>
            </a:avLst>
          </a:prstGeom>
          <a:solidFill>
            <a:srgbClr val="1B4A3E"/>
          </a:solidFill>
          <a:ln w="12700">
            <a:solidFill>
              <a:srgbClr val="1B4A3E"/>
            </a:solidFill>
            <a:prstDash val="solid"/>
          </a:ln>
        </p:spPr>
      </p:sp>
      <p:sp>
        <p:nvSpPr>
          <p:cNvPr id="15" name="badge-403"/>
          <p:cNvSpPr/>
          <p:nvPr/>
        </p:nvSpPr>
        <p:spPr>
          <a:xfrm>
            <a:off x="6409944" y="2331720"/>
            <a:ext cx="457200" cy="457200"/>
          </a:xfrm>
          <a:prstGeom prst="roundRect">
            <a:avLst>
              <a:gd name="adj" fmla="val 20000"/>
            </a:avLst>
          </a:prstGeom>
          <a:solidFill>
            <a:schemeClr val="accent1"/>
          </a:solidFill>
          <a:ln w="12700">
            <a:solidFill>
              <a:schemeClr val="accent1"/>
            </a:solidFill>
            <a:prstDash val="solid"/>
          </a:ln>
        </p:spPr>
      </p:sp>
      <p:sp>
        <p:nvSpPr>
          <p:cNvPr id="16" name="badge-label-404"/>
          <p:cNvSpPr txBox="1"/>
          <p:nvPr/>
        </p:nvSpPr>
        <p:spPr>
          <a:xfrm>
            <a:off x="6409944" y="23317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3</a:t>
            </a:r>
            <a:endParaRPr lang="en-US" sz="1400" dirty="0"/>
          </a:p>
        </p:txBody>
      </p:sp>
      <p:sp>
        <p:nvSpPr>
          <p:cNvPr id="17" name="text-405"/>
          <p:cNvSpPr txBox="1"/>
          <p:nvPr/>
        </p:nvSpPr>
        <p:spPr>
          <a:xfrm>
            <a:off x="6409944" y="3017520"/>
            <a:ext cx="2157984" cy="1508760"/>
          </a:xfrm>
          <a:prstGeom prst="rect">
            <a:avLst/>
          </a:prstGeom>
          <a:noFill/>
          <a:ln/>
        </p:spPr>
        <p:txBody>
          <a:bodyPr wrap="square" lIns="0" tIns="0" rIns="0" bIns="0" rtlCol="0" anchor="t"/>
          <a:lstStyle/>
          <a:p>
            <a:pPr indent="0" marL="0">
              <a:buNone/>
            </a:pPr>
            <a:r>
              <a:rPr lang="en-US" sz="1800" b="1" dirty="0">
                <a:solidFill>
                  <a:schemeClr val="bg1"/>
                </a:solidFill>
              </a:rPr>
              <a:t>Productionize</a:t>
            </a:r>
            <a:endParaRPr lang="en-US" sz="1400" dirty="0"/>
          </a:p>
          <a:p>
            <a:pPr indent="0" marL="0">
              <a:buNone/>
            </a:pPr>
            <a:r>
              <a:rPr lang="en-US" sz="1500" dirty="0">
                <a:solidFill>
                  <a:schemeClr val="accent4"/>
                </a:solidFill>
              </a:rPr>
              <a:t>Deployment shape, HA/DR, auth, CI eval gate, runbooks for their platform team.</a:t>
            </a:r>
            <a:endParaRPr lang="en-US" sz="1400" dirty="0"/>
          </a:p>
        </p:txBody>
      </p:sp>
      <p:sp>
        <p:nvSpPr>
          <p:cNvPr id="18" name="arrow-406"/>
          <p:cNvSpPr/>
          <p:nvPr/>
        </p:nvSpPr>
        <p:spPr>
          <a:xfrm>
            <a:off x="8814816" y="3406140"/>
            <a:ext cx="164592" cy="914"/>
          </a:xfrm>
          <a:prstGeom prst="line">
            <a:avLst/>
          </a:prstGeom>
          <a:noFill/>
          <a:ln w="19050">
            <a:solidFill>
              <a:srgbClr val="14A37F"/>
            </a:solidFill>
            <a:prstDash val="solid"/>
            <a:tailEnd type="triangle"/>
          </a:ln>
        </p:spPr>
      </p:sp>
      <p:sp>
        <p:nvSpPr>
          <p:cNvPr id="19" name="card-407"/>
          <p:cNvSpPr/>
          <p:nvPr/>
        </p:nvSpPr>
        <p:spPr>
          <a:xfrm>
            <a:off x="8997696" y="2103120"/>
            <a:ext cx="2615184" cy="2606040"/>
          </a:xfrm>
          <a:prstGeom prst="roundRect">
            <a:avLst>
              <a:gd name="adj" fmla="val 4211"/>
            </a:avLst>
          </a:prstGeom>
          <a:solidFill>
            <a:srgbClr val="1B4A3E"/>
          </a:solidFill>
          <a:ln w="12700">
            <a:solidFill>
              <a:srgbClr val="1B4A3E"/>
            </a:solidFill>
            <a:prstDash val="solid"/>
          </a:ln>
        </p:spPr>
      </p:sp>
      <p:sp>
        <p:nvSpPr>
          <p:cNvPr id="20" name="badge-408"/>
          <p:cNvSpPr/>
          <p:nvPr/>
        </p:nvSpPr>
        <p:spPr>
          <a:xfrm>
            <a:off x="9226296" y="2331720"/>
            <a:ext cx="457200" cy="457200"/>
          </a:xfrm>
          <a:prstGeom prst="roundRect">
            <a:avLst>
              <a:gd name="adj" fmla="val 20000"/>
            </a:avLst>
          </a:prstGeom>
          <a:solidFill>
            <a:schemeClr val="accent1"/>
          </a:solidFill>
          <a:ln w="12700">
            <a:solidFill>
              <a:schemeClr val="accent1"/>
            </a:solidFill>
            <a:prstDash val="solid"/>
          </a:ln>
        </p:spPr>
      </p:sp>
      <p:sp>
        <p:nvSpPr>
          <p:cNvPr id="21" name="badge-label-409"/>
          <p:cNvSpPr txBox="1"/>
          <p:nvPr/>
        </p:nvSpPr>
        <p:spPr>
          <a:xfrm>
            <a:off x="9226296" y="23317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4</a:t>
            </a:r>
            <a:endParaRPr lang="en-US" sz="1400" dirty="0"/>
          </a:p>
        </p:txBody>
      </p:sp>
      <p:sp>
        <p:nvSpPr>
          <p:cNvPr id="22" name="text-410"/>
          <p:cNvSpPr txBox="1"/>
          <p:nvPr/>
        </p:nvSpPr>
        <p:spPr>
          <a:xfrm>
            <a:off x="9226296" y="3017520"/>
            <a:ext cx="2157984" cy="1508760"/>
          </a:xfrm>
          <a:prstGeom prst="rect">
            <a:avLst/>
          </a:prstGeom>
          <a:noFill/>
          <a:ln/>
        </p:spPr>
        <p:txBody>
          <a:bodyPr wrap="square" lIns="0" tIns="0" rIns="0" bIns="0" rtlCol="0" anchor="t"/>
          <a:lstStyle/>
          <a:p>
            <a:pPr indent="0" marL="0">
              <a:buNone/>
            </a:pPr>
            <a:r>
              <a:rPr lang="en-US" sz="1800" b="1" dirty="0">
                <a:solidFill>
                  <a:schemeClr val="bg1"/>
                </a:solidFill>
              </a:rPr>
              <a:t>Improve</a:t>
            </a:r>
            <a:endParaRPr lang="en-US" sz="1400" dirty="0"/>
          </a:p>
          <a:p>
            <a:pPr indent="0" marL="0">
              <a:buNone/>
            </a:pPr>
            <a:r>
              <a:rPr lang="en-US" sz="1500" dirty="0">
                <a:solidFill>
                  <a:schemeClr val="accent4"/>
                </a:solidFill>
              </a:rPr>
              <a:t>Online evals and annotation queues feeding the dataset; prompt and model A/B tests.</a:t>
            </a:r>
            <a:endParaRPr lang="en-US" sz="1400" dirty="0"/>
          </a:p>
        </p:txBody>
      </p:sp>
      <p:sp>
        <p:nvSpPr>
          <p:cNvPr id="23" name="text-411"/>
          <p:cNvSpPr txBox="1"/>
          <p:nvPr/>
        </p:nvSpPr>
        <p:spPr>
          <a:xfrm>
            <a:off x="548640" y="5440680"/>
            <a:ext cx="5486400" cy="73152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Questions?</a:t>
            </a:r>
            <a:endParaRPr lang="en-US" sz="3200" dirty="0"/>
          </a:p>
        </p:txBody>
      </p:sp>
      <p:sp>
        <p:nvSpPr>
          <p:cNvPr id="24" name="text-412"/>
          <p:cNvSpPr txBox="1"/>
          <p:nvPr/>
        </p:nvSpPr>
        <p:spPr>
          <a:xfrm>
            <a:off x="6153912" y="5669280"/>
            <a:ext cx="5486400" cy="365760"/>
          </a:xfrm>
          <a:prstGeom prst="rect">
            <a:avLst/>
          </a:prstGeom>
          <a:noFill/>
          <a:ln/>
        </p:spPr>
        <p:txBody>
          <a:bodyPr wrap="square" lIns="0" tIns="0" rIns="0" bIns="0" rtlCol="0" anchor="t"/>
          <a:lstStyle/>
          <a:p>
            <a:pPr algn="r" indent="0" marL="0">
              <a:buNone/>
            </a:pPr>
            <a:r>
              <a:rPr lang="en-US" sz="1400" dirty="0">
                <a:solidFill>
                  <a:schemeClr val="accent4"/>
                </a:solidFill>
              </a:rPr>
              <a:t>Adam Gantt  ·  gantta@gmail.com</a:t>
            </a:r>
            <a:endParaRPr lang="en-US" sz="1400" dirty="0"/>
          </a:p>
        </p:txBody>
      </p:sp>
    </p:spTree>
  </p:cSld>
  <p:clrMapOvr>
    <a:masterClrMapping/>
  </p:clrMapOvr>
</p:sld>
</file>

<file path=ppt/theme/theme1.xml><?xml version="1.0" encoding="utf-8"?>
<a:theme xmlns:a="http://schemas.openxmlformats.org/drawingml/2006/main" name="PSC Evergreen">
  <a:themeElements>
    <a:clrScheme name="PSC Evergreen">
      <a:dk1>
        <a:srgbClr val="0E1A17"/>
      </a:dk1>
      <a:lt1>
        <a:srgbClr val="FFFFFF"/>
      </a:lt1>
      <a:dk2>
        <a:srgbClr val="12332B"/>
      </a:dk2>
      <a:lt2>
        <a:srgbClr val="EEF5F1"/>
      </a:lt2>
      <a:accent1>
        <a:srgbClr val="14A37F"/>
      </a:accent1>
      <a:accent2>
        <a:srgbClr val="E8A33D"/>
      </a:accent2>
      <a:accent3>
        <a:srgbClr val="2F6F5E"/>
      </a:accent3>
      <a:accent4>
        <a:srgbClr val="C6E8DB"/>
      </a:accent4>
      <a:accent5>
        <a:srgbClr val="5B6B66"/>
      </a:accent5>
      <a:accent6>
        <a:srgbClr val="D9534F"/>
      </a:accent6>
      <a:hlink>
        <a:srgbClr val="14A37F"/>
      </a:hlink>
      <a:folHlink>
        <a:srgbClr val="2F6F5E"/>
      </a:folHlink>
    </a:clrScheme>
    <a:fontScheme name="PSC Evergreen">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Platform Security Copilot</dc:title>
  <dc:subject>PptxGenJS Presentation</dc:subject>
  <dc:creator>Adam Gantt</dc:creator>
  <cp:lastModifiedBy>Adam Gantt</cp:lastModifiedBy>
  <cp:revision>1</cp:revision>
  <dcterms:created xsi:type="dcterms:W3CDTF">2026-10-07T16:09:46Z</dcterms:created>
  <dcterms:modified xsi:type="dcterms:W3CDTF">2026-10-07T16:09:46Z</dcterms:modified>
</cp:coreProperties>
</file>