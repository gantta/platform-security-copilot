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E1A17"/>
        </a:fontRef>
        <a:srgbClr val="0E1A1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D7"/>
          </a:solidFill>
        </a:fill>
      </a:tcStyle>
    </a:wholeTbl>
    <a:band2H>
      <a:tcTxStyle b="def" i="def"/>
      <a:tcStyle>
        <a:tcBdr/>
        <a:fill>
          <a:solidFill>
            <a:srgbClr val="E7F0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E1A17"/>
        </a:fontRef>
        <a:srgbClr val="0E1A1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4D1"/>
          </a:solidFill>
        </a:fill>
      </a:tcStyle>
    </a:wholeTbl>
    <a:band2H>
      <a:tcTxStyle b="def" i="def"/>
      <a:tcStyle>
        <a:tcBdr/>
        <a:fill>
          <a:solidFill>
            <a:srgbClr val="E7EB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E1A17"/>
        </a:fontRef>
        <a:srgbClr val="0E1A1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1CFCF"/>
          </a:solidFill>
        </a:fill>
      </a:tcStyle>
    </a:wholeTbl>
    <a:band2H>
      <a:tcTxStyle b="def" i="def"/>
      <a:tcStyle>
        <a:tcBdr/>
        <a:fill>
          <a:solidFill>
            <a:srgbClr val="F8E9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E1A17"/>
        </a:fontRef>
        <a:srgbClr val="0E1A1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E1A17"/>
        </a:fontRef>
        <a:srgbClr val="0E1A17"/>
      </a:tcTxStyle>
      <a:tcStyle>
        <a:tcBdr>
          <a:left>
            <a:ln w="12700" cap="flat">
              <a:noFill/>
              <a:miter lim="400000"/>
            </a:ln>
          </a:left>
          <a:right>
            <a:ln w="12700" cap="flat">
              <a:noFill/>
              <a:miter lim="400000"/>
            </a:ln>
          </a:right>
          <a:top>
            <a:ln w="50800" cap="flat">
              <a:solidFill>
                <a:srgbClr val="0E1A17"/>
              </a:solidFill>
              <a:prstDash val="solid"/>
              <a:round/>
            </a:ln>
          </a:top>
          <a:bottom>
            <a:ln w="25400" cap="flat">
              <a:solidFill>
                <a:srgbClr val="0E1A17"/>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E1A17"/>
              </a:solidFill>
              <a:prstDash val="solid"/>
              <a:round/>
            </a:ln>
          </a:top>
          <a:bottom>
            <a:ln w="25400" cap="flat">
              <a:solidFill>
                <a:srgbClr val="0E1A17"/>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E1A17"/>
        </a:fontRef>
        <a:srgbClr val="0E1A1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A"/>
          </a:solidFill>
        </a:fill>
      </a:tcStyle>
    </a:wholeTbl>
    <a:band2H>
      <a:tcTxStyle b="def" i="def"/>
      <a:tcStyle>
        <a:tcBdr/>
        <a:fill>
          <a:solidFill>
            <a:srgbClr val="E6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E1A17"/>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E1A17"/>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E1A17"/>
          </a:solidFill>
        </a:fill>
      </a:tcStyle>
    </a:firstRow>
  </a:tblStyle>
  <a:tblStyle styleId="{2708684C-4D16-4618-839F-0558EEFCDFE6}" styleName="">
    <a:tblBg/>
    <a:wholeTbl>
      <a:tcTxStyle b="off" i="off">
        <a:fontRef idx="major">
          <a:srgbClr val="0E1A17"/>
        </a:fontRef>
        <a:srgbClr val="0E1A17"/>
      </a:tcTxStyle>
      <a:tcStyle>
        <a:tcBdr>
          <a:left>
            <a:ln w="12700" cap="flat">
              <a:solidFill>
                <a:srgbClr val="0E1A17"/>
              </a:solidFill>
              <a:prstDash val="solid"/>
              <a:round/>
            </a:ln>
          </a:left>
          <a:right>
            <a:ln w="12700" cap="flat">
              <a:solidFill>
                <a:srgbClr val="0E1A17"/>
              </a:solidFill>
              <a:prstDash val="solid"/>
              <a:round/>
            </a:ln>
          </a:right>
          <a:top>
            <a:ln w="12700" cap="flat">
              <a:solidFill>
                <a:srgbClr val="0E1A17"/>
              </a:solidFill>
              <a:prstDash val="solid"/>
              <a:round/>
            </a:ln>
          </a:top>
          <a:bottom>
            <a:ln w="12700" cap="flat">
              <a:solidFill>
                <a:srgbClr val="0E1A17"/>
              </a:solidFill>
              <a:prstDash val="solid"/>
              <a:round/>
            </a:ln>
          </a:bottom>
          <a:insideH>
            <a:ln w="12700" cap="flat">
              <a:solidFill>
                <a:srgbClr val="0E1A17"/>
              </a:solidFill>
              <a:prstDash val="solid"/>
              <a:round/>
            </a:ln>
          </a:insideH>
          <a:insideV>
            <a:ln w="12700" cap="flat">
              <a:solidFill>
                <a:srgbClr val="0E1A17"/>
              </a:solidFill>
              <a:prstDash val="solid"/>
              <a:round/>
            </a:ln>
          </a:insideV>
        </a:tcBdr>
        <a:fill>
          <a:solidFill>
            <a:srgbClr val="0E1A17">
              <a:alpha val="20000"/>
            </a:srgbClr>
          </a:solidFill>
        </a:fill>
      </a:tcStyle>
    </a:wholeTbl>
    <a:band2H>
      <a:tcTxStyle b="def" i="def"/>
      <a:tcStyle>
        <a:tcBdr/>
        <a:fill>
          <a:solidFill>
            <a:srgbClr val="FFFFFF"/>
          </a:solidFill>
        </a:fill>
      </a:tcStyle>
    </a:band2H>
    <a:firstCol>
      <a:tcTxStyle b="on" i="off">
        <a:fontRef idx="major">
          <a:srgbClr val="0E1A17"/>
        </a:fontRef>
        <a:srgbClr val="0E1A17"/>
      </a:tcTxStyle>
      <a:tcStyle>
        <a:tcBdr>
          <a:left>
            <a:ln w="12700" cap="flat">
              <a:solidFill>
                <a:srgbClr val="0E1A17"/>
              </a:solidFill>
              <a:prstDash val="solid"/>
              <a:round/>
            </a:ln>
          </a:left>
          <a:right>
            <a:ln w="12700" cap="flat">
              <a:solidFill>
                <a:srgbClr val="0E1A17"/>
              </a:solidFill>
              <a:prstDash val="solid"/>
              <a:round/>
            </a:ln>
          </a:right>
          <a:top>
            <a:ln w="12700" cap="flat">
              <a:solidFill>
                <a:srgbClr val="0E1A17"/>
              </a:solidFill>
              <a:prstDash val="solid"/>
              <a:round/>
            </a:ln>
          </a:top>
          <a:bottom>
            <a:ln w="12700" cap="flat">
              <a:solidFill>
                <a:srgbClr val="0E1A17"/>
              </a:solidFill>
              <a:prstDash val="solid"/>
              <a:round/>
            </a:ln>
          </a:bottom>
          <a:insideH>
            <a:ln w="12700" cap="flat">
              <a:solidFill>
                <a:srgbClr val="0E1A17"/>
              </a:solidFill>
              <a:prstDash val="solid"/>
              <a:round/>
            </a:ln>
          </a:insideH>
          <a:insideV>
            <a:ln w="12700" cap="flat">
              <a:solidFill>
                <a:srgbClr val="0E1A17"/>
              </a:solidFill>
              <a:prstDash val="solid"/>
              <a:round/>
            </a:ln>
          </a:insideV>
        </a:tcBdr>
        <a:fill>
          <a:solidFill>
            <a:srgbClr val="0E1A17">
              <a:alpha val="20000"/>
            </a:srgbClr>
          </a:solidFill>
        </a:fill>
      </a:tcStyle>
    </a:firstCol>
    <a:lastRow>
      <a:tcTxStyle b="on" i="off">
        <a:fontRef idx="major">
          <a:srgbClr val="0E1A17"/>
        </a:fontRef>
        <a:srgbClr val="0E1A17"/>
      </a:tcTxStyle>
      <a:tcStyle>
        <a:tcBdr>
          <a:left>
            <a:ln w="12700" cap="flat">
              <a:solidFill>
                <a:srgbClr val="0E1A17"/>
              </a:solidFill>
              <a:prstDash val="solid"/>
              <a:round/>
            </a:ln>
          </a:left>
          <a:right>
            <a:ln w="12700" cap="flat">
              <a:solidFill>
                <a:srgbClr val="0E1A17"/>
              </a:solidFill>
              <a:prstDash val="solid"/>
              <a:round/>
            </a:ln>
          </a:right>
          <a:top>
            <a:ln w="50800" cap="flat">
              <a:solidFill>
                <a:srgbClr val="0E1A17"/>
              </a:solidFill>
              <a:prstDash val="solid"/>
              <a:round/>
            </a:ln>
          </a:top>
          <a:bottom>
            <a:ln w="12700" cap="flat">
              <a:solidFill>
                <a:srgbClr val="0E1A17"/>
              </a:solidFill>
              <a:prstDash val="solid"/>
              <a:round/>
            </a:ln>
          </a:bottom>
          <a:insideH>
            <a:ln w="12700" cap="flat">
              <a:solidFill>
                <a:srgbClr val="0E1A17"/>
              </a:solidFill>
              <a:prstDash val="solid"/>
              <a:round/>
            </a:ln>
          </a:insideH>
          <a:insideV>
            <a:ln w="12700" cap="flat">
              <a:solidFill>
                <a:srgbClr val="0E1A17"/>
              </a:solidFill>
              <a:prstDash val="solid"/>
              <a:round/>
            </a:ln>
          </a:insideV>
        </a:tcBdr>
        <a:fill>
          <a:noFill/>
        </a:fill>
      </a:tcStyle>
    </a:lastRow>
    <a:firstRow>
      <a:tcTxStyle b="on" i="off">
        <a:fontRef idx="major">
          <a:srgbClr val="0E1A17"/>
        </a:fontRef>
        <a:srgbClr val="0E1A17"/>
      </a:tcTxStyle>
      <a:tcStyle>
        <a:tcBdr>
          <a:left>
            <a:ln w="12700" cap="flat">
              <a:solidFill>
                <a:srgbClr val="0E1A17"/>
              </a:solidFill>
              <a:prstDash val="solid"/>
              <a:round/>
            </a:ln>
          </a:left>
          <a:right>
            <a:ln w="12700" cap="flat">
              <a:solidFill>
                <a:srgbClr val="0E1A17"/>
              </a:solidFill>
              <a:prstDash val="solid"/>
              <a:round/>
            </a:ln>
          </a:right>
          <a:top>
            <a:ln w="12700" cap="flat">
              <a:solidFill>
                <a:srgbClr val="0E1A17"/>
              </a:solidFill>
              <a:prstDash val="solid"/>
              <a:round/>
            </a:ln>
          </a:top>
          <a:bottom>
            <a:ln w="25400" cap="flat">
              <a:solidFill>
                <a:srgbClr val="0E1A17"/>
              </a:solidFill>
              <a:prstDash val="solid"/>
              <a:round/>
            </a:ln>
          </a:bottom>
          <a:insideH>
            <a:ln w="12700" cap="flat">
              <a:solidFill>
                <a:srgbClr val="0E1A17"/>
              </a:solidFill>
              <a:prstDash val="solid"/>
              <a:round/>
            </a:ln>
          </a:insideH>
          <a:insideV>
            <a:ln w="12700" cap="flat">
              <a:solidFill>
                <a:srgbClr val="0E1A17"/>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7" name="Shape 47"/>
          <p:cNvSpPr/>
          <p:nvPr>
            <p:ph type="sldImg"/>
          </p:nvPr>
        </p:nvSpPr>
        <p:spPr>
          <a:xfrm>
            <a:off x="1143000" y="685800"/>
            <a:ext cx="4572000" cy="3429000"/>
          </a:xfrm>
          <a:prstGeom prst="rect">
            <a:avLst/>
          </a:prstGeom>
        </p:spPr>
        <p:txBody>
          <a:bodyPr/>
          <a:lstStyle/>
          <a:p>
            <a:pPr/>
          </a:p>
        </p:txBody>
      </p:sp>
      <p:sp>
        <p:nvSpPr>
          <p:cNvPr id="48" name="Shape 4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0E1A17"/>
        </a:solidFill>
        <a:latin typeface="+mj-lt"/>
        <a:ea typeface="+mj-ea"/>
        <a:cs typeface="+mj-cs"/>
        <a:sym typeface="Calibri"/>
      </a:defRPr>
    </a:lvl1pPr>
    <a:lvl2pPr indent="228600" latinLnBrk="0">
      <a:defRPr sz="1200">
        <a:solidFill>
          <a:srgbClr val="0E1A17"/>
        </a:solidFill>
        <a:latin typeface="+mj-lt"/>
        <a:ea typeface="+mj-ea"/>
        <a:cs typeface="+mj-cs"/>
        <a:sym typeface="Calibri"/>
      </a:defRPr>
    </a:lvl2pPr>
    <a:lvl3pPr indent="457200" latinLnBrk="0">
      <a:defRPr sz="1200">
        <a:solidFill>
          <a:srgbClr val="0E1A17"/>
        </a:solidFill>
        <a:latin typeface="+mj-lt"/>
        <a:ea typeface="+mj-ea"/>
        <a:cs typeface="+mj-cs"/>
        <a:sym typeface="Calibri"/>
      </a:defRPr>
    </a:lvl3pPr>
    <a:lvl4pPr indent="685800" latinLnBrk="0">
      <a:defRPr sz="1200">
        <a:solidFill>
          <a:srgbClr val="0E1A17"/>
        </a:solidFill>
        <a:latin typeface="+mj-lt"/>
        <a:ea typeface="+mj-ea"/>
        <a:cs typeface="+mj-cs"/>
        <a:sym typeface="Calibri"/>
      </a:defRPr>
    </a:lvl4pPr>
    <a:lvl5pPr indent="914400" latinLnBrk="0">
      <a:defRPr sz="1200">
        <a:solidFill>
          <a:srgbClr val="0E1A17"/>
        </a:solidFill>
        <a:latin typeface="+mj-lt"/>
        <a:ea typeface="+mj-ea"/>
        <a:cs typeface="+mj-cs"/>
        <a:sym typeface="Calibri"/>
      </a:defRPr>
    </a:lvl5pPr>
    <a:lvl6pPr indent="1143000" latinLnBrk="0">
      <a:defRPr sz="1200">
        <a:solidFill>
          <a:srgbClr val="0E1A17"/>
        </a:solidFill>
        <a:latin typeface="+mj-lt"/>
        <a:ea typeface="+mj-ea"/>
        <a:cs typeface="+mj-cs"/>
        <a:sym typeface="Calibri"/>
      </a:defRPr>
    </a:lvl6pPr>
    <a:lvl7pPr indent="1371600" latinLnBrk="0">
      <a:defRPr sz="1200">
        <a:solidFill>
          <a:srgbClr val="0E1A17"/>
        </a:solidFill>
        <a:latin typeface="+mj-lt"/>
        <a:ea typeface="+mj-ea"/>
        <a:cs typeface="+mj-cs"/>
        <a:sym typeface="Calibri"/>
      </a:defRPr>
    </a:lvl7pPr>
    <a:lvl8pPr indent="1600200" latinLnBrk="0">
      <a:defRPr sz="1200">
        <a:solidFill>
          <a:srgbClr val="0E1A17"/>
        </a:solidFill>
        <a:latin typeface="+mj-lt"/>
        <a:ea typeface="+mj-ea"/>
        <a:cs typeface="+mj-cs"/>
        <a:sym typeface="Calibri"/>
      </a:defRPr>
    </a:lvl8pPr>
    <a:lvl9pPr indent="1828800" latinLnBrk="0">
      <a:defRPr sz="1200">
        <a:solidFill>
          <a:srgbClr val="0E1A17"/>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Open: I built one system, Platform Security Copilot, across seven modules so that every competency in the posting maps to working code. In the next 25 minutes: the problem, the stack mental model, each module with the design decision I would defend with a customer, then evaluation, deployment, and what broke along the way. I'll close with a short live demo and how I'd run this as a customer engagement.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The use case is deliberately close to my DoD DevSecOps work. A manifest like payments-api has a privileged container, hostNetwork and a latest tag; the image also bundles Log4Shell. PSC scans deterministically, triages into a typed report, grounds each fix in our runbooks with the SLA, stops for human approval on HIGH or CRITICAL, and writes the report. That shape, deterministic plus LLM plus human, is what most enterprise customers actually want.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The one picture to keep in mind: LangGraph is the runtime; LangChain's create_agent and Deep Agents' create_deep_agent are higher-level ways to build LangGraph graphs; LangSmith observes, evaluates and hosts them. Three things I'd say to any customer: create_agent is a compiled graph, middleware replaced chain subclassing as the customization surface, and LangSmith is useful even if they don't use our frameworks.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I structured the build so each module adds one piece of the stack to the same codebase and maps to a line in the job description. Modules 1 through 5 are the agent-engineering half, 6 is evaluation, 7 is the infrastructure half. I'll go through each one with the design decision behind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Module 1 is the foundation every customer build starts with. Three choices: tools return errors as data so the model can recover; the output is a typed TriageReport, never free text, so downstream systems can consume it; and middleware supplies production behavior: a call limit as a circuit breaker, retries scoped to the one flaky network tool, and a custom guardrail that converts unexpected tool exceptions into an error message. In LangSmith you see model call, parallel tool calls, then the structured-output step.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r>
              <a:t>Module 2 gives the agent our own runbooks. I chunk on markdown headers so one chunk is one procedure and the heading becomes a citation. Embeddings are just an interface; I used a local ONNX model, which means no key and no data egress, the right default for regulated customers, and production would swap to pgvector. Retrieval is a tool the agent chooses to call. Test question: ask something the runbooks don't cover and check that the agent admits the gap; that becomes an eval in Module 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This is the module I'd lead with for an enterprise customer: nobody wants a free-roaming agent touching production. Scan and routing are plain Python; the LLM only writes the plan. HIGH or CRITICAL findings hit interrupt(), the state is checkpointed, and the resume can come hours later from Slack. If the reviewer accepts a risk, that's written to the long-term store under the team's namespace, and the next run on a new thread suppresses that rule. Four memory concepts: state, checkpointer, store, and runtime context.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Shape 273"/>
          <p:cNvSpPr/>
          <p:nvPr>
            <p:ph type="sldImg"/>
          </p:nvPr>
        </p:nvSpPr>
        <p:spPr>
          <a:prstGeom prst="rect">
            <a:avLst/>
          </a:prstGeom>
        </p:spPr>
        <p:txBody>
          <a:bodyPr/>
          <a:lstStyle/>
          <a:p>
            <a:pPr/>
          </a:p>
        </p:txBody>
      </p:sp>
      <p:sp>
        <p:nvSpPr>
          <p:cNvPr id="274" name="Shape 274"/>
          <p:cNvSpPr/>
          <p:nvPr>
            <p:ph type="body" sz="quarter" idx="1"/>
          </p:nvPr>
        </p:nvSpPr>
        <p:spPr>
          <a:prstGeom prst="rect">
            <a:avLst/>
          </a:prstGeom>
        </p:spPr>
        <p:txBody>
          <a:bodyPr/>
          <a:lstStyle/>
          <a:p>
            <a:pPr/>
            <a:r>
              <a:t>Module 4 splits the agent into a supervisor and three specialists wrapped as tools: the subagents pattern. The benefit is context isolation and cost: mechanical work runs on Haiku. The classic failure mode is a subagent that does the work but leaves it out of its final message, because the supervisor only sees that message; I fix it in the prompt and guard it with an eval. Expect the panel to ask which pattern and why: handoffs when the user talks to the specialist, router for clear categories, a custom workflow when compliance needs auditability. And I'd always measure multi-agent against the single-agent baseline first.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Shape 308"/>
          <p:cNvSpPr/>
          <p:nvPr>
            <p:ph type="sldImg"/>
          </p:nvPr>
        </p:nvSpPr>
        <p:spPr>
          <a:prstGeom prst="rect">
            <a:avLst/>
          </a:prstGeom>
        </p:spPr>
        <p:txBody>
          <a:bodyPr/>
          <a:lstStyle/>
          <a:p>
            <a:pPr/>
          </a:p>
        </p:txBody>
      </p:sp>
      <p:sp>
        <p:nvSpPr>
          <p:cNvPr id="309" name="Shape 309"/>
          <p:cNvSpPr/>
          <p:nvPr>
            <p:ph type="body" sz="quarter" idx="1"/>
          </p:nvPr>
        </p:nvSpPr>
        <p:spPr>
          <a:prstGeom prst="rect">
            <a:avLst/>
          </a:prstGeom>
        </p:spPr>
        <p:txBody>
          <a:bodyPr/>
          <a:lstStyle/>
          <a:p>
            <a:pPr/>
            <a:r>
              <a:t>Module 5 is the cluster-wide audit. The deep agent plans with write_todos, sends each manifest to a manifest-auditor subagent, reads the k8s-hardening skill only when it gets to patching, follows the report format in AGENTS.md, and writes the report to disk. The security points: the FilesystemBackend runs in virtual mode so paths can't escape the workspace, edits to existing files need human approval, and code execution belongs in a sandbox backend, never a local shell in production.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hape 350"/>
          <p:cNvSpPr/>
          <p:nvPr>
            <p:ph type="sldImg"/>
          </p:nvPr>
        </p:nvSpPr>
        <p:spPr>
          <a:prstGeom prst="rect">
            <a:avLst/>
          </a:prstGeom>
        </p:spPr>
        <p:txBody>
          <a:bodyPr/>
          <a:lstStyle/>
          <a:p>
            <a:pPr/>
          </a:p>
        </p:txBody>
      </p:sp>
      <p:sp>
        <p:nvSpPr>
          <p:cNvPr id="351" name="Shape 351"/>
          <p:cNvSpPr/>
          <p:nvPr>
            <p:ph type="body" sz="quarter" idx="1"/>
          </p:nvPr>
        </p:nvSpPr>
        <p:spPr>
          <a:prstGeom prst="rect">
            <a:avLst/>
          </a:prstGeom>
        </p:spPr>
        <p:txBody>
          <a:bodyPr/>
          <a:lstStyle/>
          <a:p>
            <a:pPr/>
            <a:r>
              <a:t>Evaluation is where most customer engagements stall, so I spent the most time here. Deterministic checks first because they're free and exact; an LLM judge only for the fuzzy part; trajectory evals for agent behavior; humans to calibrate the judge. The A/B test compares two system prompts on the same dataset with repetitions, and I read per-example regressions, not just averages. If I've run it with live keys before the panel, replace this note with the actual scores. I'm honest that five examples is a smoke test.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Shape 367"/>
          <p:cNvSpPr/>
          <p:nvPr>
            <p:ph type="sldImg"/>
          </p:nvPr>
        </p:nvSpPr>
        <p:spPr>
          <a:prstGeom prst="rect">
            <a:avLst/>
          </a:prstGeom>
        </p:spPr>
        <p:txBody>
          <a:bodyPr/>
          <a:lstStyle/>
          <a:p>
            <a:pPr/>
          </a:p>
        </p:txBody>
      </p:sp>
      <p:sp>
        <p:nvSpPr>
          <p:cNvPr id="368" name="Shape 368"/>
          <p:cNvSpPr/>
          <p:nvPr>
            <p:ph type="body" sz="quarter" idx="1"/>
          </p:nvPr>
        </p:nvSpPr>
        <p:spPr>
          <a:prstGeom prst="rect">
            <a:avLst/>
          </a:prstGeom>
        </p:spPr>
        <p:txBody>
          <a:bodyPr/>
          <a:lstStyle/>
          <a:p>
            <a:pPr/>
            <a:r>
              <a:t>All four graphs are served from one Agent Server defined by langgraph.json. Dev mode gives Studio for running graphs and answering interrupts; build produces the image; deploy ships it to LangSmith Deployment. A real gotcha: the server refused my supervisor graph because I'd compiled it with an in-memory checkpointer; the platform owns persistence, so I export graphs without one. For deployment shape: cloud is fastest, hybrid keeps agents and data in the customer's cluster but traces still go to the control plane, self-hosted for regulated or air-gapped.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Shape 433"/>
          <p:cNvSpPr/>
          <p:nvPr>
            <p:ph type="sldImg"/>
          </p:nvPr>
        </p:nvSpPr>
        <p:spPr>
          <a:prstGeom prst="rect">
            <a:avLst/>
          </a:prstGeom>
        </p:spPr>
        <p:txBody>
          <a:bodyPr/>
          <a:lstStyle/>
          <a:p>
            <a:pPr/>
          </a:p>
        </p:txBody>
      </p:sp>
      <p:sp>
        <p:nvSpPr>
          <p:cNvPr id="434" name="Shape 434"/>
          <p:cNvSpPr/>
          <p:nvPr>
            <p:ph type="body" sz="quarter" idx="1"/>
          </p:nvPr>
        </p:nvSpPr>
        <p:spPr>
          <a:prstGeom prst="rect">
            <a:avLst/>
          </a:prstGeom>
        </p:spPr>
        <p:txBody>
          <a:bodyPr/>
          <a:lstStyle/>
          <a:p>
            <a:pPr/>
            <a:r>
              <a:t>Architecture documentation slide. LangSmith self-hosted is six services on Kubernetes: the frontend serves the UI and routes API calls; the backend handles CRUD and trace queries; the platform backend handles auth and high-volume run ingestion; the ingest queue persists traces to ClickHouse asynchronously with retries; the playground proxies LLM calls; ACE runs code in a sandbox. External services: ClickHouse for traces and feedback, Postgres for operational data, Redis or Valkey for queuing and caching, blob storage for large payloads. Managed services are strongly recommended over in-cluster. Deployment is an optional add-on: a control plane plus Agent Servers, which have their own Postgres and Redis. Scalability: the write path is platform backend to Redis to ingest queue to ClickHouse, so scale platform-backend and queue replicas, ideally with KEDA on Redis backlog. The read path is backend to ClickHouse: scale backend replicas and move ClickHouse to a 3-node replicated cluster. Replica numbers are from LangChain's published example configurations, low to high load. Baseline cluster is about 16 vCPU and 64 GB. Agent Server: API servers scale request concurrency; queue workers times N_JOBS_PER_WORKER sets run concurrency.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Shape 459"/>
          <p:cNvSpPr/>
          <p:nvPr>
            <p:ph type="sldImg"/>
          </p:nvPr>
        </p:nvSpPr>
        <p:spPr>
          <a:prstGeom prst="rect">
            <a:avLst/>
          </a:prstGeom>
        </p:spPr>
        <p:txBody>
          <a:bodyPr/>
          <a:lstStyle/>
          <a:p>
            <a:pPr/>
          </a:p>
        </p:txBody>
      </p:sp>
      <p:sp>
        <p:nvSpPr>
          <p:cNvPr id="460" name="Shape 460"/>
          <p:cNvSpPr/>
          <p:nvPr>
            <p:ph type="body" sz="quarter" idx="1"/>
          </p:nvPr>
        </p:nvSpPr>
        <p:spPr>
          <a:prstGeom prst="rect">
            <a:avLst/>
          </a:prstGeom>
        </p:spPr>
        <p:txBody>
          <a:bodyPr/>
          <a:lstStyle/>
          <a:p>
            <a:pPr/>
            <a:r>
              <a:t>Close by turning the project into the job: assess maturity, prove value on one workflow with a golden dataset, productionize with the right deployment shape and HA, then keep improving with online evals. That's the Professional Services motion. Then open for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SC Title">
    <p:bg>
      <p:bgPr>
        <a:solidFill>
          <a:srgbClr val="12332B"/>
        </a:solidFill>
      </p:bgPr>
    </p:bg>
    <p:spTree>
      <p:nvGrpSpPr>
        <p:cNvPr id="1" name=""/>
        <p:cNvGrpSpPr/>
        <p:nvPr/>
      </p:nvGrpSpPr>
      <p:grpSpPr>
        <a:xfrm>
          <a:off x="0" y="0"/>
          <a:ext cx="0" cy="0"/>
          <a:chOff x="0" y="0"/>
          <a:chExt cx="0" cy="0"/>
        </a:xfrm>
      </p:grpSpPr>
      <p:sp>
        <p:nvSpPr>
          <p:cNvPr id="18" name="Body Level One…"/>
          <p:cNvSpPr txBox="1"/>
          <p:nvPr>
            <p:ph type="body" sz="quarter" idx="1" hasCustomPrompt="1"/>
          </p:nvPr>
        </p:nvSpPr>
        <p:spPr>
          <a:xfrm>
            <a:off x="548640" y="1097280"/>
            <a:ext cx="6583681" cy="365761"/>
          </a:xfrm>
          <a:prstGeom prst="rect">
            <a:avLst/>
          </a:prstGeom>
        </p:spPr>
        <p:txBody>
          <a:bodyPr>
            <a:normAutofit fontScale="100000" lnSpcReduction="0"/>
          </a:bodyPr>
          <a:lstStyle>
            <a:lvl1pPr marL="0" indent="0">
              <a:spcBef>
                <a:spcPts val="300"/>
              </a:spcBef>
              <a:buSzTx/>
              <a:buFontTx/>
              <a:buNone/>
              <a:defRPr b="1" spc="200" sz="1400">
                <a:solidFill>
                  <a:schemeClr val="accent1"/>
                </a:solidFill>
              </a:defRPr>
            </a:lvl1pPr>
            <a:lvl2pPr marL="600075" indent="-142875">
              <a:spcBef>
                <a:spcPts val="300"/>
              </a:spcBef>
              <a:buFontTx/>
              <a:defRPr b="1" spc="200" sz="1400">
                <a:solidFill>
                  <a:schemeClr val="accent1"/>
                </a:solidFill>
              </a:defRPr>
            </a:lvl2pPr>
            <a:lvl3pPr marL="1047750" indent="-133350">
              <a:spcBef>
                <a:spcPts val="300"/>
              </a:spcBef>
              <a:buFontTx/>
              <a:defRPr b="1" spc="200" sz="1400">
                <a:solidFill>
                  <a:schemeClr val="accent1"/>
                </a:solidFill>
              </a:defRPr>
            </a:lvl3pPr>
            <a:lvl4pPr marL="1531619" indent="-160019">
              <a:spcBef>
                <a:spcPts val="300"/>
              </a:spcBef>
              <a:buFontTx/>
              <a:defRPr b="1" spc="200" sz="1400">
                <a:solidFill>
                  <a:schemeClr val="accent1"/>
                </a:solidFill>
              </a:defRPr>
            </a:lvl4pPr>
            <a:lvl5pPr marL="1988820" indent="-160020">
              <a:spcBef>
                <a:spcPts val="300"/>
              </a:spcBef>
              <a:buFontTx/>
              <a:defRPr b="1" spc="200" sz="1400">
                <a:solidFill>
                  <a:schemeClr val="accent1"/>
                </a:solidFill>
              </a:defRPr>
            </a:lvl5pPr>
          </a:lstStyle>
          <a:p>
            <a:pPr/>
            <a:r>
              <a:t>Click to add text</a:t>
            </a:r>
          </a:p>
          <a:p>
            <a:pPr lvl="1"/>
            <a:r>
              <a:t/>
            </a:r>
          </a:p>
          <a:p>
            <a:pPr lvl="2"/>
            <a:r>
              <a:t/>
            </a:r>
          </a:p>
          <a:p>
            <a:pPr lvl="3"/>
            <a:r>
              <a:t/>
            </a:r>
          </a:p>
          <a:p>
            <a:pPr lvl="4"/>
            <a:r>
              <a:t/>
            </a:r>
          </a:p>
        </p:txBody>
      </p:sp>
      <p:sp>
        <p:nvSpPr>
          <p:cNvPr id="19" name="Click to add title"/>
          <p:cNvSpPr txBox="1"/>
          <p:nvPr>
            <p:ph type="title" hasCustomPrompt="1"/>
          </p:nvPr>
        </p:nvSpPr>
        <p:spPr>
          <a:xfrm>
            <a:off x="548640" y="1554480"/>
            <a:ext cx="6583681" cy="1737361"/>
          </a:xfrm>
          <a:prstGeom prst="rect">
            <a:avLst/>
          </a:prstGeom>
        </p:spPr>
        <p:txBody>
          <a:bodyPr anchor="t">
            <a:normAutofit fontScale="100000" lnSpcReduction="0"/>
          </a:bodyPr>
          <a:lstStyle>
            <a:lvl1pPr algn="l">
              <a:defRPr b="1" sz="4800">
                <a:solidFill>
                  <a:srgbClr val="FFFFFF"/>
                </a:solidFill>
              </a:defRPr>
            </a:lvl1pPr>
          </a:lstStyle>
          <a:p>
            <a:pPr/>
            <a:r>
              <a:t>Click to add title</a:t>
            </a:r>
          </a:p>
        </p:txBody>
      </p:sp>
      <p:sp>
        <p:nvSpPr>
          <p:cNvPr id="20" name="Text 0"/>
          <p:cNvSpPr/>
          <p:nvPr>
            <p:ph type="body" sz="quarter" idx="21" hasCustomPrompt="1"/>
          </p:nvPr>
        </p:nvSpPr>
        <p:spPr>
          <a:xfrm>
            <a:off x="548639" y="3383279"/>
            <a:ext cx="6035042" cy="1280161"/>
          </a:xfrm>
          <a:prstGeom prst="rect">
            <a:avLst/>
          </a:prstGeom>
        </p:spPr>
        <p:txBody>
          <a:bodyPr>
            <a:normAutofit fontScale="100000" lnSpcReduction="0"/>
          </a:bodyPr>
          <a:lstStyle>
            <a:lvl1pPr marL="0" indent="0">
              <a:spcBef>
                <a:spcPts val="400"/>
              </a:spcBef>
              <a:buSzTx/>
              <a:buFontTx/>
              <a:buNone/>
              <a:defRPr sz="1800">
                <a:solidFill>
                  <a:schemeClr val="accent4"/>
                </a:solidFill>
              </a:defRPr>
            </a:lvl1pPr>
          </a:lstStyle>
          <a:p>
            <a:pPr/>
            <a:r>
              <a:t>Click to add text</a:t>
            </a:r>
          </a:p>
        </p:txBody>
      </p:sp>
      <p:sp>
        <p:nvSpPr>
          <p:cNvPr id="21" name="Text 0"/>
          <p:cNvSpPr/>
          <p:nvPr>
            <p:ph type="body" sz="quarter" idx="22" hasCustomPrompt="1"/>
          </p:nvPr>
        </p:nvSpPr>
        <p:spPr>
          <a:xfrm>
            <a:off x="548639" y="5669279"/>
            <a:ext cx="6035042" cy="457201"/>
          </a:xfrm>
          <a:prstGeom prst="rect">
            <a:avLst/>
          </a:prstGeom>
        </p:spPr>
        <p:txBody>
          <a:bodyPr>
            <a:normAutofit fontScale="100000" lnSpcReduction="0"/>
          </a:bodyPr>
          <a:lstStyle>
            <a:lvl1pPr marL="0" indent="0">
              <a:spcBef>
                <a:spcPts val="300"/>
              </a:spcBef>
              <a:buSzTx/>
              <a:buFontTx/>
              <a:buNone/>
              <a:defRPr sz="1400">
                <a:solidFill>
                  <a:srgbClr val="FFFFFF"/>
                </a:solidFill>
              </a:defRPr>
            </a:lvl1pPr>
          </a:lstStyle>
          <a:p>
            <a:pPr/>
            <a:r>
              <a:t>Click to add text</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SC Content">
    <p:spTree>
      <p:nvGrpSpPr>
        <p:cNvPr id="1" name=""/>
        <p:cNvGrpSpPr/>
        <p:nvPr/>
      </p:nvGrpSpPr>
      <p:grpSpPr>
        <a:xfrm>
          <a:off x="0" y="0"/>
          <a:ext cx="0" cy="0"/>
          <a:chOff x="0" y="0"/>
          <a:chExt cx="0" cy="0"/>
        </a:xfrm>
      </p:grpSpPr>
      <p:sp>
        <p:nvSpPr>
          <p:cNvPr id="29" name="Body Level One…"/>
          <p:cNvSpPr txBox="1"/>
          <p:nvPr>
            <p:ph type="body" sz="quarter" idx="1" hasCustomPrompt="1"/>
          </p:nvPr>
        </p:nvSpPr>
        <p:spPr>
          <a:xfrm>
            <a:off x="548640" y="292608"/>
            <a:ext cx="8229601" cy="292609"/>
          </a:xfrm>
          <a:prstGeom prst="rect">
            <a:avLst/>
          </a:prstGeom>
        </p:spPr>
        <p:txBody>
          <a:bodyPr>
            <a:normAutofit fontScale="100000" lnSpcReduction="0"/>
          </a:bodyPr>
          <a:lstStyle>
            <a:lvl1pPr marL="0" indent="0">
              <a:spcBef>
                <a:spcPts val="200"/>
              </a:spcBef>
              <a:buSzTx/>
              <a:buFontTx/>
              <a:buNone/>
              <a:defRPr b="1" spc="200" sz="1200">
                <a:solidFill>
                  <a:schemeClr val="accent3"/>
                </a:solidFill>
              </a:defRPr>
            </a:lvl1pPr>
            <a:lvl2pPr marL="579664" indent="-122464">
              <a:spcBef>
                <a:spcPts val="200"/>
              </a:spcBef>
              <a:buFontTx/>
              <a:defRPr b="1" spc="200" sz="1200">
                <a:solidFill>
                  <a:schemeClr val="accent3"/>
                </a:solidFill>
              </a:defRPr>
            </a:lvl2pPr>
            <a:lvl3pPr marL="1028700" indent="-114300">
              <a:spcBef>
                <a:spcPts val="200"/>
              </a:spcBef>
              <a:buFontTx/>
              <a:defRPr b="1" spc="200" sz="1200">
                <a:solidFill>
                  <a:schemeClr val="accent3"/>
                </a:solidFill>
              </a:defRPr>
            </a:lvl3pPr>
            <a:lvl4pPr marL="1508760" indent="-137160">
              <a:spcBef>
                <a:spcPts val="200"/>
              </a:spcBef>
              <a:buFontTx/>
              <a:defRPr b="1" spc="200" sz="1200">
                <a:solidFill>
                  <a:schemeClr val="accent3"/>
                </a:solidFill>
              </a:defRPr>
            </a:lvl4pPr>
            <a:lvl5pPr marL="1965960" indent="-137160">
              <a:spcBef>
                <a:spcPts val="200"/>
              </a:spcBef>
              <a:buFontTx/>
              <a:defRPr b="1" spc="200" sz="1200">
                <a:solidFill>
                  <a:schemeClr val="accent3"/>
                </a:solidFill>
              </a:defRPr>
            </a:lvl5pPr>
          </a:lstStyle>
          <a:p>
            <a:pPr/>
            <a:r>
              <a:t>Click to add text</a:t>
            </a:r>
          </a:p>
          <a:p>
            <a:pPr lvl="1"/>
            <a:r>
              <a:t/>
            </a:r>
          </a:p>
          <a:p>
            <a:pPr lvl="2"/>
            <a:r>
              <a:t/>
            </a:r>
          </a:p>
          <a:p>
            <a:pPr lvl="3"/>
            <a:r>
              <a:t/>
            </a:r>
          </a:p>
          <a:p>
            <a:pPr lvl="4"/>
            <a:r>
              <a:t/>
            </a:r>
          </a:p>
        </p:txBody>
      </p:sp>
      <p:sp>
        <p:nvSpPr>
          <p:cNvPr id="30" name="Click to add title"/>
          <p:cNvSpPr txBox="1"/>
          <p:nvPr>
            <p:ph type="title" hasCustomPrompt="1"/>
          </p:nvPr>
        </p:nvSpPr>
        <p:spPr>
          <a:xfrm>
            <a:off x="548640" y="585216"/>
            <a:ext cx="11094416" cy="731521"/>
          </a:xfrm>
          <a:prstGeom prst="rect">
            <a:avLst/>
          </a:prstGeom>
        </p:spPr>
        <p:txBody>
          <a:bodyPr anchor="t">
            <a:normAutofit fontScale="100000" lnSpcReduction="0"/>
          </a:bodyPr>
          <a:lstStyle>
            <a:lvl1pPr algn="l">
              <a:defRPr b="1" sz="3200"/>
            </a:lvl1pPr>
          </a:lstStyle>
          <a:p>
            <a:pPr/>
            <a:r>
              <a:t>Click to add title</a:t>
            </a:r>
          </a:p>
        </p:txBody>
      </p:sp>
      <p:sp>
        <p:nvSpPr>
          <p:cNvPr id="31" name="Text 0"/>
          <p:cNvSpPr txBox="1"/>
          <p:nvPr/>
        </p:nvSpPr>
        <p:spPr>
          <a:xfrm>
            <a:off x="548640" y="6469424"/>
            <a:ext cx="54864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5"/>
                </a:solidFill>
              </a:defRPr>
            </a:lvl1pPr>
          </a:lstStyle>
          <a:p>
            <a:pPr/>
            <a:r>
              <a:t>Platform Security Copilot  ·  Adam Gantt</a:t>
            </a:r>
          </a:p>
        </p:txBody>
      </p:sp>
      <p:sp>
        <p:nvSpPr>
          <p:cNvPr id="32" name="Slide Number"/>
          <p:cNvSpPr txBox="1"/>
          <p:nvPr>
            <p:ph type="sldNum" sz="quarter" idx="2"/>
          </p:nvPr>
        </p:nvSpPr>
        <p:spPr>
          <a:xfrm>
            <a:off x="11410178" y="6400800"/>
            <a:ext cx="232878"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SC Closing">
    <p:bg>
      <p:bgPr>
        <a:solidFill>
          <a:srgbClr val="12332B"/>
        </a:solidFill>
      </p:bgPr>
    </p:bg>
    <p:spTree>
      <p:nvGrpSpPr>
        <p:cNvPr id="1" name=""/>
        <p:cNvGrpSpPr/>
        <p:nvPr/>
      </p:nvGrpSpPr>
      <p:grpSpPr>
        <a:xfrm>
          <a:off x="0" y="0"/>
          <a:ext cx="0" cy="0"/>
          <a:chOff x="0" y="0"/>
          <a:chExt cx="0" cy="0"/>
        </a:xfrm>
      </p:grpSpPr>
      <p:sp>
        <p:nvSpPr>
          <p:cNvPr id="39" name="Body Level One…"/>
          <p:cNvSpPr txBox="1"/>
          <p:nvPr>
            <p:ph type="body" sz="quarter" idx="1" hasCustomPrompt="1"/>
          </p:nvPr>
        </p:nvSpPr>
        <p:spPr>
          <a:xfrm>
            <a:off x="548640" y="548640"/>
            <a:ext cx="8229601" cy="320041"/>
          </a:xfrm>
          <a:prstGeom prst="rect">
            <a:avLst/>
          </a:prstGeom>
        </p:spPr>
        <p:txBody>
          <a:bodyPr>
            <a:normAutofit fontScale="100000" lnSpcReduction="0"/>
          </a:bodyPr>
          <a:lstStyle>
            <a:lvl1pPr marL="0" indent="0">
              <a:spcBef>
                <a:spcPts val="200"/>
              </a:spcBef>
              <a:buSzTx/>
              <a:buFontTx/>
              <a:buNone/>
              <a:defRPr b="1" spc="200" sz="1200">
                <a:solidFill>
                  <a:schemeClr val="accent1"/>
                </a:solidFill>
              </a:defRPr>
            </a:lvl1pPr>
            <a:lvl2pPr marL="579664" indent="-122464">
              <a:spcBef>
                <a:spcPts val="200"/>
              </a:spcBef>
              <a:buFontTx/>
              <a:defRPr b="1" spc="200" sz="1200">
                <a:solidFill>
                  <a:schemeClr val="accent1"/>
                </a:solidFill>
              </a:defRPr>
            </a:lvl2pPr>
            <a:lvl3pPr marL="1028700" indent="-114300">
              <a:spcBef>
                <a:spcPts val="200"/>
              </a:spcBef>
              <a:buFontTx/>
              <a:defRPr b="1" spc="200" sz="1200">
                <a:solidFill>
                  <a:schemeClr val="accent1"/>
                </a:solidFill>
              </a:defRPr>
            </a:lvl3pPr>
            <a:lvl4pPr marL="1508760" indent="-137160">
              <a:spcBef>
                <a:spcPts val="200"/>
              </a:spcBef>
              <a:buFontTx/>
              <a:defRPr b="1" spc="200" sz="1200">
                <a:solidFill>
                  <a:schemeClr val="accent1"/>
                </a:solidFill>
              </a:defRPr>
            </a:lvl4pPr>
            <a:lvl5pPr marL="1965960" indent="-137160">
              <a:spcBef>
                <a:spcPts val="200"/>
              </a:spcBef>
              <a:buFontTx/>
              <a:defRPr b="1" spc="200" sz="1200">
                <a:solidFill>
                  <a:schemeClr val="accent1"/>
                </a:solidFill>
              </a:defRPr>
            </a:lvl5pPr>
          </a:lstStyle>
          <a:p>
            <a:pPr/>
            <a:r>
              <a:t>Click to add text</a:t>
            </a:r>
          </a:p>
          <a:p>
            <a:pPr lvl="1"/>
            <a:r>
              <a:t/>
            </a:r>
          </a:p>
          <a:p>
            <a:pPr lvl="2"/>
            <a:r>
              <a:t/>
            </a:r>
          </a:p>
          <a:p>
            <a:pPr lvl="3"/>
            <a:r>
              <a:t/>
            </a:r>
          </a:p>
          <a:p>
            <a:pPr lvl="4"/>
            <a:r>
              <a:t/>
            </a:r>
          </a:p>
        </p:txBody>
      </p:sp>
      <p:sp>
        <p:nvSpPr>
          <p:cNvPr id="40" name="Click to add title"/>
          <p:cNvSpPr txBox="1"/>
          <p:nvPr>
            <p:ph type="title" hasCustomPrompt="1"/>
          </p:nvPr>
        </p:nvSpPr>
        <p:spPr>
          <a:xfrm>
            <a:off x="548640" y="868680"/>
            <a:ext cx="11094416" cy="822961"/>
          </a:xfrm>
          <a:prstGeom prst="rect">
            <a:avLst/>
          </a:prstGeom>
        </p:spPr>
        <p:txBody>
          <a:bodyPr anchor="t">
            <a:normAutofit fontScale="100000" lnSpcReduction="0"/>
          </a:bodyPr>
          <a:lstStyle>
            <a:lvl1pPr algn="l">
              <a:defRPr b="1" sz="3600">
                <a:solidFill>
                  <a:srgbClr val="FFFFFF"/>
                </a:solidFill>
              </a:defRPr>
            </a:lvl1pPr>
          </a:lstStyle>
          <a:p>
            <a:pPr/>
            <a:r>
              <a:t>Click to add title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chemeClr val="accent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E1A17"/>
          </a:solidFill>
          <a:uFillTx/>
          <a:latin typeface="Arial"/>
          <a:ea typeface="Arial"/>
          <a:cs typeface="Arial"/>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E1A17"/>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Text 0"/>
          <p:cNvSpPr txBox="1"/>
          <p:nvPr>
            <p:ph type="body" sz="quarter" idx="1"/>
          </p:nvPr>
        </p:nvSpPr>
        <p:spPr>
          <a:xfrm>
            <a:off x="548639" y="1097280"/>
            <a:ext cx="6583682" cy="365761"/>
          </a:xfrm>
          <a:prstGeom prst="rect">
            <a:avLst/>
          </a:prstGeom>
        </p:spPr>
        <p:txBody>
          <a:bodyPr lIns="0" tIns="0" rIns="0" bIns="0"/>
          <a:lstStyle/>
          <a:p>
            <a:pPr/>
            <a:r>
              <a:t>DEPLOYED ARCHITECT PANEL</a:t>
            </a:r>
          </a:p>
        </p:txBody>
      </p:sp>
      <p:sp>
        <p:nvSpPr>
          <p:cNvPr id="51" name="Text 0"/>
          <p:cNvSpPr txBox="1"/>
          <p:nvPr>
            <p:ph type="title"/>
          </p:nvPr>
        </p:nvSpPr>
        <p:spPr>
          <a:xfrm>
            <a:off x="548639" y="1554480"/>
            <a:ext cx="6583682" cy="1737361"/>
          </a:xfrm>
          <a:prstGeom prst="rect">
            <a:avLst/>
          </a:prstGeom>
        </p:spPr>
        <p:txBody>
          <a:bodyPr lIns="0" tIns="0" rIns="0" bIns="0"/>
          <a:lstStyle/>
          <a:p>
            <a:pPr/>
            <a:r>
              <a:t>Platform Security Copilot</a:t>
            </a:r>
          </a:p>
        </p:txBody>
      </p:sp>
      <p:sp>
        <p:nvSpPr>
          <p:cNvPr id="52" name="Text 0"/>
          <p:cNvSpPr/>
          <p:nvPr>
            <p:ph type="body" idx="21"/>
          </p:nvPr>
        </p:nvSpPr>
        <p:spPr>
          <a:prstGeom prst="rect">
            <a:avLst/>
          </a:prstGeom>
          <a:extLst>
            <a:ext uri="{C572A759-6A51-4108-AA02-DFA0A04FC94B}">
              <ma14:wrappingTextBoxFlag xmlns:ma14="http://schemas.microsoft.com/office/mac/drawingml/2011/main" val="1"/>
            </a:ext>
          </a:extLst>
        </p:spPr>
        <p:txBody>
          <a:bodyPr lIns="0" tIns="0" rIns="0" bIns="0"/>
          <a:lstStyle/>
          <a:p>
            <a:pPr/>
            <a:r>
              <a:t>A DevSecOps agent system built end to end on LangChain, LangGraph, Deep Agents and LangSmith</a:t>
            </a:r>
          </a:p>
        </p:txBody>
      </p:sp>
      <p:sp>
        <p:nvSpPr>
          <p:cNvPr id="53" name="Text 0"/>
          <p:cNvSpPr/>
          <p:nvPr>
            <p:ph type="body" idx="22"/>
          </p:nvPr>
        </p:nvSpPr>
        <p:spPr>
          <a:prstGeom prst="rect">
            <a:avLst/>
          </a:prstGeom>
          <a:extLst>
            <a:ext uri="{C572A759-6A51-4108-AA02-DFA0A04FC94B}">
              <ma14:wrappingTextBoxFlag xmlns:ma14="http://schemas.microsoft.com/office/mac/drawingml/2011/main" val="1"/>
            </a:ext>
          </a:extLst>
        </p:spPr>
        <p:txBody>
          <a:bodyPr lIns="0" tIns="0" rIns="0" bIns="0"/>
          <a:lstStyle/>
          <a:p>
            <a:pPr/>
            <a:r>
              <a:t>Adam Gantt  ·  October 2026</a:t>
            </a:r>
          </a:p>
        </p:txBody>
      </p:sp>
      <p:sp>
        <p:nvSpPr>
          <p:cNvPr id="54" name="card-1"/>
          <p:cNvSpPr/>
          <p:nvPr/>
        </p:nvSpPr>
        <p:spPr>
          <a:xfrm>
            <a:off x="7726680" y="960119"/>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55" name="badge-2"/>
          <p:cNvSpPr/>
          <p:nvPr/>
        </p:nvSpPr>
        <p:spPr>
          <a:xfrm>
            <a:off x="7818119" y="1024127"/>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56" name="badge-label-3"/>
          <p:cNvSpPr txBox="1"/>
          <p:nvPr/>
        </p:nvSpPr>
        <p:spPr>
          <a:xfrm>
            <a:off x="7818119" y="1132746"/>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01</a:t>
            </a:r>
          </a:p>
        </p:txBody>
      </p:sp>
      <p:sp>
        <p:nvSpPr>
          <p:cNvPr id="57" name="text-4"/>
          <p:cNvSpPr txBox="1"/>
          <p:nvPr/>
        </p:nvSpPr>
        <p:spPr>
          <a:xfrm>
            <a:off x="8366759" y="1132017"/>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Triage agent</a:t>
            </a:r>
          </a:p>
        </p:txBody>
      </p:sp>
      <p:sp>
        <p:nvSpPr>
          <p:cNvPr id="58" name="card-5"/>
          <p:cNvSpPr/>
          <p:nvPr/>
        </p:nvSpPr>
        <p:spPr>
          <a:xfrm>
            <a:off x="7726680" y="1618488"/>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59" name="badge-6"/>
          <p:cNvSpPr/>
          <p:nvPr/>
        </p:nvSpPr>
        <p:spPr>
          <a:xfrm>
            <a:off x="7818119" y="1682495"/>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60" name="badge-label-7"/>
          <p:cNvSpPr txBox="1"/>
          <p:nvPr/>
        </p:nvSpPr>
        <p:spPr>
          <a:xfrm>
            <a:off x="7818119" y="1791114"/>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02</a:t>
            </a:r>
          </a:p>
        </p:txBody>
      </p:sp>
      <p:sp>
        <p:nvSpPr>
          <p:cNvPr id="61" name="text-8"/>
          <p:cNvSpPr txBox="1"/>
          <p:nvPr/>
        </p:nvSpPr>
        <p:spPr>
          <a:xfrm>
            <a:off x="8366759" y="1790386"/>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Runbook RAG</a:t>
            </a:r>
          </a:p>
        </p:txBody>
      </p:sp>
      <p:sp>
        <p:nvSpPr>
          <p:cNvPr id="62" name="card-9"/>
          <p:cNvSpPr/>
          <p:nvPr/>
        </p:nvSpPr>
        <p:spPr>
          <a:xfrm>
            <a:off x="7726680" y="2276855"/>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63" name="badge-10"/>
          <p:cNvSpPr/>
          <p:nvPr/>
        </p:nvSpPr>
        <p:spPr>
          <a:xfrm>
            <a:off x="7818119" y="2340864"/>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64" name="badge-label-11"/>
          <p:cNvSpPr txBox="1"/>
          <p:nvPr/>
        </p:nvSpPr>
        <p:spPr>
          <a:xfrm>
            <a:off x="7818119" y="2449482"/>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03</a:t>
            </a:r>
          </a:p>
        </p:txBody>
      </p:sp>
      <p:sp>
        <p:nvSpPr>
          <p:cNvPr id="65" name="text-12"/>
          <p:cNvSpPr txBox="1"/>
          <p:nvPr/>
        </p:nvSpPr>
        <p:spPr>
          <a:xfrm>
            <a:off x="8366759" y="2448754"/>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Approval workflow</a:t>
            </a:r>
          </a:p>
        </p:txBody>
      </p:sp>
      <p:sp>
        <p:nvSpPr>
          <p:cNvPr id="66" name="card-13"/>
          <p:cNvSpPr/>
          <p:nvPr/>
        </p:nvSpPr>
        <p:spPr>
          <a:xfrm>
            <a:off x="7726680" y="2935223"/>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67" name="badge-14"/>
          <p:cNvSpPr/>
          <p:nvPr/>
        </p:nvSpPr>
        <p:spPr>
          <a:xfrm>
            <a:off x="7818119" y="2999232"/>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68" name="badge-label-15"/>
          <p:cNvSpPr txBox="1"/>
          <p:nvPr/>
        </p:nvSpPr>
        <p:spPr>
          <a:xfrm>
            <a:off x="7818119" y="3107850"/>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04</a:t>
            </a:r>
          </a:p>
        </p:txBody>
      </p:sp>
      <p:sp>
        <p:nvSpPr>
          <p:cNvPr id="69" name="text-16"/>
          <p:cNvSpPr txBox="1"/>
          <p:nvPr/>
        </p:nvSpPr>
        <p:spPr>
          <a:xfrm>
            <a:off x="8366759" y="3107121"/>
            <a:ext cx="32004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Supervisor + specialists</a:t>
            </a:r>
          </a:p>
        </p:txBody>
      </p:sp>
      <p:sp>
        <p:nvSpPr>
          <p:cNvPr id="70" name="card-17"/>
          <p:cNvSpPr/>
          <p:nvPr/>
        </p:nvSpPr>
        <p:spPr>
          <a:xfrm>
            <a:off x="7726680" y="3593591"/>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71" name="badge-18"/>
          <p:cNvSpPr/>
          <p:nvPr/>
        </p:nvSpPr>
        <p:spPr>
          <a:xfrm>
            <a:off x="7818119" y="3657600"/>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72" name="badge-label-19"/>
          <p:cNvSpPr txBox="1"/>
          <p:nvPr/>
        </p:nvSpPr>
        <p:spPr>
          <a:xfrm>
            <a:off x="7818119" y="3766218"/>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05</a:t>
            </a:r>
          </a:p>
        </p:txBody>
      </p:sp>
      <p:sp>
        <p:nvSpPr>
          <p:cNvPr id="73" name="text-20"/>
          <p:cNvSpPr txBox="1"/>
          <p:nvPr/>
        </p:nvSpPr>
        <p:spPr>
          <a:xfrm>
            <a:off x="8366759" y="3765489"/>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Deep audit agent</a:t>
            </a:r>
          </a:p>
        </p:txBody>
      </p:sp>
      <p:sp>
        <p:nvSpPr>
          <p:cNvPr id="74" name="card-21"/>
          <p:cNvSpPr/>
          <p:nvPr/>
        </p:nvSpPr>
        <p:spPr>
          <a:xfrm>
            <a:off x="7726680" y="4251959"/>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75" name="badge-22"/>
          <p:cNvSpPr/>
          <p:nvPr/>
        </p:nvSpPr>
        <p:spPr>
          <a:xfrm>
            <a:off x="7818119" y="4315967"/>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76" name="badge-label-23"/>
          <p:cNvSpPr txBox="1"/>
          <p:nvPr/>
        </p:nvSpPr>
        <p:spPr>
          <a:xfrm>
            <a:off x="7818119" y="4424586"/>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06</a:t>
            </a:r>
          </a:p>
        </p:txBody>
      </p:sp>
      <p:sp>
        <p:nvSpPr>
          <p:cNvPr id="77" name="text-24"/>
          <p:cNvSpPr txBox="1"/>
          <p:nvPr/>
        </p:nvSpPr>
        <p:spPr>
          <a:xfrm>
            <a:off x="8366759" y="4423857"/>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Evals + A/B test</a:t>
            </a:r>
          </a:p>
        </p:txBody>
      </p:sp>
      <p:sp>
        <p:nvSpPr>
          <p:cNvPr id="78" name="card-25"/>
          <p:cNvSpPr/>
          <p:nvPr/>
        </p:nvSpPr>
        <p:spPr>
          <a:xfrm>
            <a:off x="7726680" y="4910328"/>
            <a:ext cx="3931921" cy="530353"/>
          </a:xfrm>
          <a:prstGeom prst="roundRect">
            <a:avLst>
              <a:gd name="adj" fmla="val 20690"/>
            </a:avLst>
          </a:prstGeom>
          <a:solidFill>
            <a:srgbClr val="1B4A3E"/>
          </a:solidFill>
          <a:ln w="12700">
            <a:solidFill>
              <a:srgbClr val="1B4A3E"/>
            </a:solidFill>
          </a:ln>
        </p:spPr>
        <p:txBody>
          <a:bodyPr lIns="45719" rIns="45719"/>
          <a:lstStyle/>
          <a:p>
            <a:pPr/>
          </a:p>
        </p:txBody>
      </p:sp>
      <p:sp>
        <p:nvSpPr>
          <p:cNvPr id="79" name="badge-26"/>
          <p:cNvSpPr/>
          <p:nvPr/>
        </p:nvSpPr>
        <p:spPr>
          <a:xfrm>
            <a:off x="7818119" y="4974335"/>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80" name="badge-label-27"/>
          <p:cNvSpPr txBox="1"/>
          <p:nvPr/>
        </p:nvSpPr>
        <p:spPr>
          <a:xfrm>
            <a:off x="7818119" y="5082954"/>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07</a:t>
            </a:r>
          </a:p>
        </p:txBody>
      </p:sp>
      <p:sp>
        <p:nvSpPr>
          <p:cNvPr id="81" name="text-28"/>
          <p:cNvSpPr txBox="1"/>
          <p:nvPr/>
        </p:nvSpPr>
        <p:spPr>
          <a:xfrm>
            <a:off x="8366759" y="5082226"/>
            <a:ext cx="3200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Agent Server on K8s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Text 0"/>
          <p:cNvSpPr txBox="1"/>
          <p:nvPr>
            <p:ph type="body" sz="quarter" idx="1"/>
          </p:nvPr>
        </p:nvSpPr>
        <p:spPr>
          <a:prstGeom prst="rect">
            <a:avLst/>
          </a:prstGeom>
        </p:spPr>
        <p:txBody>
          <a:bodyPr lIns="0" tIns="0" rIns="0" bIns="0"/>
          <a:lstStyle/>
          <a:p>
            <a:pPr/>
            <a:r>
              <a:t>THE PROBLEM</a:t>
            </a:r>
          </a:p>
        </p:txBody>
      </p:sp>
      <p:sp>
        <p:nvSpPr>
          <p:cNvPr id="86" name="Text 0"/>
          <p:cNvSpPr txBox="1"/>
          <p:nvPr>
            <p:ph type="title"/>
          </p:nvPr>
        </p:nvSpPr>
        <p:spPr>
          <a:xfrm>
            <a:off x="548639" y="585216"/>
            <a:ext cx="11094417" cy="731521"/>
          </a:xfrm>
          <a:prstGeom prst="rect">
            <a:avLst/>
          </a:prstGeom>
        </p:spPr>
        <p:txBody>
          <a:bodyPr lIns="0" tIns="0" rIns="0" bIns="0"/>
          <a:lstStyle/>
          <a:p>
            <a:pPr/>
            <a:r>
              <a:t>PSC turns scanner noise into approved remediation</a:t>
            </a:r>
          </a:p>
        </p:txBody>
      </p:sp>
      <p:sp>
        <p:nvSpPr>
          <p:cNvPr id="87" name="text-29"/>
          <p:cNvSpPr txBox="1"/>
          <p:nvPr/>
        </p:nvSpPr>
        <p:spPr>
          <a:xfrm>
            <a:off x="548640" y="1600200"/>
            <a:ext cx="4754880" cy="935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Security teams drown in findings</a:t>
            </a:r>
            <a:endParaRPr sz="1400"/>
          </a:p>
          <a:p>
            <a:pPr>
              <a:defRPr sz="1500">
                <a:solidFill>
                  <a:schemeClr val="accent5"/>
                </a:solidFill>
              </a:defRPr>
            </a:pPr>
            <a:r>
              <a:t>Scanners flag hundreds of misconfigurations and CVEs. Engineers re-derive severity, hunt for the runbook, and chase approvals by hand.</a:t>
            </a:r>
          </a:p>
        </p:txBody>
      </p:sp>
      <p:sp>
        <p:nvSpPr>
          <p:cNvPr id="88" name="text-30"/>
          <p:cNvSpPr txBox="1"/>
          <p:nvPr/>
        </p:nvSpPr>
        <p:spPr>
          <a:xfrm>
            <a:off x="548640" y="3246120"/>
            <a:ext cx="4754880" cy="935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What PSC does instead</a:t>
            </a:r>
            <a:endParaRPr sz="1400"/>
          </a:p>
          <a:p>
            <a:pPr>
              <a:defRPr sz="1500">
                <a:solidFill>
                  <a:schemeClr val="accent5"/>
                </a:solidFill>
              </a:defRPr>
            </a:pPr>
            <a:r>
              <a:t>Grounds every fix in the team's own runbooks, keeps a human gate before anything touches production, and writes the report.</a:t>
            </a:r>
          </a:p>
        </p:txBody>
      </p:sp>
      <p:sp>
        <p:nvSpPr>
          <p:cNvPr id="89" name="text-31"/>
          <p:cNvSpPr txBox="1"/>
          <p:nvPr/>
        </p:nvSpPr>
        <p:spPr>
          <a:xfrm>
            <a:off x="548640" y="5029200"/>
            <a:ext cx="4754880"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400">
                <a:solidFill>
                  <a:schemeClr val="accent3"/>
                </a:solidFill>
              </a:defRPr>
            </a:lvl1pPr>
          </a:lstStyle>
          <a:p>
            <a:pPr/>
            <a:r>
              <a:t>Same pattern customers ask for: deterministic where possible, LLM judgment where it helps, humans where it matters.</a:t>
            </a:r>
          </a:p>
        </p:txBody>
      </p:sp>
      <p:sp>
        <p:nvSpPr>
          <p:cNvPr id="90" name="card-32"/>
          <p:cNvSpPr/>
          <p:nvPr/>
        </p:nvSpPr>
        <p:spPr>
          <a:xfrm>
            <a:off x="5852159" y="1600200"/>
            <a:ext cx="5788153" cy="749809"/>
          </a:xfrm>
          <a:prstGeom prst="roundRect">
            <a:avLst>
              <a:gd name="adj" fmla="val 14634"/>
            </a:avLst>
          </a:prstGeom>
          <a:solidFill>
            <a:srgbClr val="EEF5F1"/>
          </a:solidFill>
          <a:ln w="12700">
            <a:solidFill>
              <a:srgbClr val="EEF5F1"/>
            </a:solidFill>
          </a:ln>
        </p:spPr>
        <p:txBody>
          <a:bodyPr lIns="45719" rIns="45719"/>
          <a:lstStyle/>
          <a:p>
            <a:pPr/>
          </a:p>
        </p:txBody>
      </p:sp>
      <p:sp>
        <p:nvSpPr>
          <p:cNvPr id="91" name="icon-bg-33"/>
          <p:cNvSpPr/>
          <p:nvPr/>
        </p:nvSpPr>
        <p:spPr>
          <a:xfrm>
            <a:off x="6016752" y="1728216"/>
            <a:ext cx="493777" cy="493777"/>
          </a:xfrm>
          <a:prstGeom prst="ellipse">
            <a:avLst/>
          </a:prstGeom>
          <a:solidFill>
            <a:schemeClr val="accent1"/>
          </a:solidFill>
          <a:ln w="12700">
            <a:solidFill>
              <a:schemeClr val="accent1"/>
            </a:solidFill>
          </a:ln>
        </p:spPr>
        <p:txBody>
          <a:bodyPr lIns="45719" rIns="45719"/>
          <a:lstStyle/>
          <a:p>
            <a:pPr/>
          </a:p>
        </p:txBody>
      </p:sp>
      <p:pic>
        <p:nvPicPr>
          <p:cNvPr id="92" name="icon-34" descr="icon-34"/>
          <p:cNvPicPr>
            <a:picLocks noChangeAspect="1"/>
          </p:cNvPicPr>
          <p:nvPr/>
        </p:nvPicPr>
        <p:blipFill>
          <a:blip r:embed="rId3">
            <a:extLst/>
          </a:blip>
          <a:stretch>
            <a:fillRect/>
          </a:stretch>
        </p:blipFill>
        <p:spPr>
          <a:xfrm>
            <a:off x="6135258" y="1846721"/>
            <a:ext cx="256765" cy="256765"/>
          </a:xfrm>
          <a:prstGeom prst="rect">
            <a:avLst/>
          </a:prstGeom>
          <a:ln w="12700">
            <a:miter lim="400000"/>
          </a:ln>
        </p:spPr>
      </p:pic>
      <p:sp>
        <p:nvSpPr>
          <p:cNvPr id="93" name="text-35"/>
          <p:cNvSpPr txBox="1"/>
          <p:nvPr/>
        </p:nvSpPr>
        <p:spPr>
          <a:xfrm>
            <a:off x="6720840" y="1691639"/>
            <a:ext cx="47548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Scan</a:t>
            </a:r>
            <a:endParaRPr sz="1400"/>
          </a:p>
          <a:p>
            <a:pPr>
              <a:defRPr sz="1300">
                <a:solidFill>
                  <a:schemeClr val="accent5"/>
                </a:solidFill>
              </a:defRPr>
            </a:pPr>
            <a:r>
              <a:t>K8s manifests + CVE lookup</a:t>
            </a:r>
          </a:p>
        </p:txBody>
      </p:sp>
      <p:sp>
        <p:nvSpPr>
          <p:cNvPr id="94" name="card-36"/>
          <p:cNvSpPr/>
          <p:nvPr/>
        </p:nvSpPr>
        <p:spPr>
          <a:xfrm>
            <a:off x="5852159" y="2532888"/>
            <a:ext cx="5788153" cy="749809"/>
          </a:xfrm>
          <a:prstGeom prst="roundRect">
            <a:avLst>
              <a:gd name="adj" fmla="val 14634"/>
            </a:avLst>
          </a:prstGeom>
          <a:solidFill>
            <a:srgbClr val="EEF5F1"/>
          </a:solidFill>
          <a:ln w="12700">
            <a:solidFill>
              <a:srgbClr val="EEF5F1"/>
            </a:solidFill>
          </a:ln>
        </p:spPr>
        <p:txBody>
          <a:bodyPr lIns="45719" rIns="45719"/>
          <a:lstStyle/>
          <a:p>
            <a:pPr/>
          </a:p>
        </p:txBody>
      </p:sp>
      <p:sp>
        <p:nvSpPr>
          <p:cNvPr id="95" name="icon-bg-37"/>
          <p:cNvSpPr/>
          <p:nvPr/>
        </p:nvSpPr>
        <p:spPr>
          <a:xfrm>
            <a:off x="6016752" y="2660904"/>
            <a:ext cx="493777" cy="493777"/>
          </a:xfrm>
          <a:prstGeom prst="ellipse">
            <a:avLst/>
          </a:prstGeom>
          <a:solidFill>
            <a:schemeClr val="accent1"/>
          </a:solidFill>
          <a:ln w="12700">
            <a:solidFill>
              <a:schemeClr val="accent1"/>
            </a:solidFill>
          </a:ln>
        </p:spPr>
        <p:txBody>
          <a:bodyPr lIns="45719" rIns="45719"/>
          <a:lstStyle/>
          <a:p>
            <a:pPr/>
          </a:p>
        </p:txBody>
      </p:sp>
      <p:pic>
        <p:nvPicPr>
          <p:cNvPr id="96" name="icon-38" descr="icon-38"/>
          <p:cNvPicPr>
            <a:picLocks noChangeAspect="1"/>
          </p:cNvPicPr>
          <p:nvPr/>
        </p:nvPicPr>
        <p:blipFill>
          <a:blip r:embed="rId4">
            <a:extLst/>
          </a:blip>
          <a:stretch>
            <a:fillRect/>
          </a:stretch>
        </p:blipFill>
        <p:spPr>
          <a:xfrm>
            <a:off x="6135258" y="2779409"/>
            <a:ext cx="256765" cy="256766"/>
          </a:xfrm>
          <a:prstGeom prst="rect">
            <a:avLst/>
          </a:prstGeom>
          <a:ln w="12700">
            <a:miter lim="400000"/>
          </a:ln>
        </p:spPr>
      </p:pic>
      <p:sp>
        <p:nvSpPr>
          <p:cNvPr id="97" name="text-39"/>
          <p:cNvSpPr txBox="1"/>
          <p:nvPr/>
        </p:nvSpPr>
        <p:spPr>
          <a:xfrm>
            <a:off x="6720840" y="2624327"/>
            <a:ext cx="47548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Triage</a:t>
            </a:r>
            <a:endParaRPr sz="1400"/>
          </a:p>
          <a:p>
            <a:pPr>
              <a:defRPr sz="1300">
                <a:solidFill>
                  <a:schemeClr val="accent5"/>
                </a:solidFill>
              </a:defRPr>
            </a:pPr>
            <a:r>
              <a:t>Typed severity report</a:t>
            </a:r>
          </a:p>
        </p:txBody>
      </p:sp>
      <p:sp>
        <p:nvSpPr>
          <p:cNvPr id="98" name="card-40"/>
          <p:cNvSpPr/>
          <p:nvPr/>
        </p:nvSpPr>
        <p:spPr>
          <a:xfrm>
            <a:off x="5852159" y="3465576"/>
            <a:ext cx="5788153" cy="749809"/>
          </a:xfrm>
          <a:prstGeom prst="roundRect">
            <a:avLst>
              <a:gd name="adj" fmla="val 14634"/>
            </a:avLst>
          </a:prstGeom>
          <a:solidFill>
            <a:srgbClr val="EEF5F1"/>
          </a:solidFill>
          <a:ln w="12700">
            <a:solidFill>
              <a:srgbClr val="EEF5F1"/>
            </a:solidFill>
          </a:ln>
        </p:spPr>
        <p:txBody>
          <a:bodyPr lIns="45719" rIns="45719"/>
          <a:lstStyle/>
          <a:p>
            <a:pPr/>
          </a:p>
        </p:txBody>
      </p:sp>
      <p:sp>
        <p:nvSpPr>
          <p:cNvPr id="99" name="icon-bg-41"/>
          <p:cNvSpPr/>
          <p:nvPr/>
        </p:nvSpPr>
        <p:spPr>
          <a:xfrm>
            <a:off x="6016752" y="3593591"/>
            <a:ext cx="493777" cy="493777"/>
          </a:xfrm>
          <a:prstGeom prst="ellipse">
            <a:avLst/>
          </a:prstGeom>
          <a:solidFill>
            <a:schemeClr val="accent1"/>
          </a:solidFill>
          <a:ln w="12700">
            <a:solidFill>
              <a:schemeClr val="accent1"/>
            </a:solidFill>
          </a:ln>
        </p:spPr>
        <p:txBody>
          <a:bodyPr lIns="45719" rIns="45719"/>
          <a:lstStyle/>
          <a:p>
            <a:pPr/>
          </a:p>
        </p:txBody>
      </p:sp>
      <p:pic>
        <p:nvPicPr>
          <p:cNvPr id="100" name="icon-42" descr="icon-42"/>
          <p:cNvPicPr>
            <a:picLocks noChangeAspect="1"/>
          </p:cNvPicPr>
          <p:nvPr/>
        </p:nvPicPr>
        <p:blipFill>
          <a:blip r:embed="rId5">
            <a:extLst/>
          </a:blip>
          <a:stretch>
            <a:fillRect/>
          </a:stretch>
        </p:blipFill>
        <p:spPr>
          <a:xfrm>
            <a:off x="6135258" y="3712097"/>
            <a:ext cx="256765" cy="256765"/>
          </a:xfrm>
          <a:prstGeom prst="rect">
            <a:avLst/>
          </a:prstGeom>
          <a:ln w="12700">
            <a:miter lim="400000"/>
          </a:ln>
        </p:spPr>
      </p:pic>
      <p:sp>
        <p:nvSpPr>
          <p:cNvPr id="101" name="text-43"/>
          <p:cNvSpPr txBox="1"/>
          <p:nvPr/>
        </p:nvSpPr>
        <p:spPr>
          <a:xfrm>
            <a:off x="6720840" y="3557015"/>
            <a:ext cx="47548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Ground</a:t>
            </a:r>
            <a:endParaRPr sz="1400"/>
          </a:p>
          <a:p>
            <a:pPr>
              <a:defRPr sz="1300">
                <a:solidFill>
                  <a:schemeClr val="accent5"/>
                </a:solidFill>
              </a:defRPr>
            </a:pPr>
            <a:r>
              <a:t>Cite runbook + SLA</a:t>
            </a:r>
          </a:p>
        </p:txBody>
      </p:sp>
      <p:sp>
        <p:nvSpPr>
          <p:cNvPr id="102" name="card-44"/>
          <p:cNvSpPr/>
          <p:nvPr/>
        </p:nvSpPr>
        <p:spPr>
          <a:xfrm>
            <a:off x="5852159" y="4398264"/>
            <a:ext cx="5788153" cy="749809"/>
          </a:xfrm>
          <a:prstGeom prst="roundRect">
            <a:avLst>
              <a:gd name="adj" fmla="val 14634"/>
            </a:avLst>
          </a:prstGeom>
          <a:solidFill>
            <a:srgbClr val="FBEBD3"/>
          </a:solidFill>
          <a:ln w="12700">
            <a:solidFill>
              <a:srgbClr val="FBEBD3"/>
            </a:solidFill>
          </a:ln>
        </p:spPr>
        <p:txBody>
          <a:bodyPr lIns="45719" rIns="45719"/>
          <a:lstStyle/>
          <a:p>
            <a:pPr/>
          </a:p>
        </p:txBody>
      </p:sp>
      <p:sp>
        <p:nvSpPr>
          <p:cNvPr id="103" name="icon-bg-45"/>
          <p:cNvSpPr/>
          <p:nvPr/>
        </p:nvSpPr>
        <p:spPr>
          <a:xfrm>
            <a:off x="6016752" y="4526279"/>
            <a:ext cx="493777" cy="493777"/>
          </a:xfrm>
          <a:prstGeom prst="ellipse">
            <a:avLst/>
          </a:prstGeom>
          <a:solidFill>
            <a:schemeClr val="accent2"/>
          </a:solidFill>
          <a:ln w="12700">
            <a:solidFill>
              <a:schemeClr val="accent2"/>
            </a:solidFill>
          </a:ln>
        </p:spPr>
        <p:txBody>
          <a:bodyPr lIns="45719" rIns="45719"/>
          <a:lstStyle/>
          <a:p>
            <a:pPr/>
          </a:p>
        </p:txBody>
      </p:sp>
      <p:pic>
        <p:nvPicPr>
          <p:cNvPr id="104" name="icon-46" descr="icon-46"/>
          <p:cNvPicPr>
            <a:picLocks noChangeAspect="1"/>
          </p:cNvPicPr>
          <p:nvPr/>
        </p:nvPicPr>
        <p:blipFill>
          <a:blip r:embed="rId6">
            <a:extLst/>
          </a:blip>
          <a:stretch>
            <a:fillRect/>
          </a:stretch>
        </p:blipFill>
        <p:spPr>
          <a:xfrm>
            <a:off x="6135258" y="4644785"/>
            <a:ext cx="256765" cy="256765"/>
          </a:xfrm>
          <a:prstGeom prst="rect">
            <a:avLst/>
          </a:prstGeom>
          <a:ln w="12700">
            <a:miter lim="400000"/>
          </a:ln>
        </p:spPr>
      </p:pic>
      <p:sp>
        <p:nvSpPr>
          <p:cNvPr id="105" name="text-47"/>
          <p:cNvSpPr txBox="1"/>
          <p:nvPr/>
        </p:nvSpPr>
        <p:spPr>
          <a:xfrm>
            <a:off x="6720840" y="4489703"/>
            <a:ext cx="47548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Approve</a:t>
            </a:r>
            <a:endParaRPr sz="1400"/>
          </a:p>
          <a:p>
            <a:pPr>
              <a:defRPr sz="1300">
                <a:solidFill>
                  <a:schemeClr val="accent5"/>
                </a:solidFill>
              </a:defRPr>
            </a:pPr>
            <a:r>
              <a:t>Human gate on HIGH+</a:t>
            </a:r>
          </a:p>
        </p:txBody>
      </p:sp>
      <p:sp>
        <p:nvSpPr>
          <p:cNvPr id="106" name="card-48"/>
          <p:cNvSpPr/>
          <p:nvPr/>
        </p:nvSpPr>
        <p:spPr>
          <a:xfrm>
            <a:off x="5852159" y="5330952"/>
            <a:ext cx="5788153" cy="749809"/>
          </a:xfrm>
          <a:prstGeom prst="roundRect">
            <a:avLst>
              <a:gd name="adj" fmla="val 14634"/>
            </a:avLst>
          </a:prstGeom>
          <a:solidFill>
            <a:srgbClr val="EEF5F1"/>
          </a:solidFill>
          <a:ln w="12700">
            <a:solidFill>
              <a:srgbClr val="EEF5F1"/>
            </a:solidFill>
          </a:ln>
        </p:spPr>
        <p:txBody>
          <a:bodyPr lIns="45719" rIns="45719"/>
          <a:lstStyle/>
          <a:p>
            <a:pPr/>
          </a:p>
        </p:txBody>
      </p:sp>
      <p:sp>
        <p:nvSpPr>
          <p:cNvPr id="107" name="icon-bg-49"/>
          <p:cNvSpPr/>
          <p:nvPr/>
        </p:nvSpPr>
        <p:spPr>
          <a:xfrm>
            <a:off x="6016752" y="5458967"/>
            <a:ext cx="493777" cy="493777"/>
          </a:xfrm>
          <a:prstGeom prst="ellipse">
            <a:avLst/>
          </a:prstGeom>
          <a:solidFill>
            <a:schemeClr val="accent1"/>
          </a:solidFill>
          <a:ln w="12700">
            <a:solidFill>
              <a:schemeClr val="accent1"/>
            </a:solidFill>
          </a:ln>
        </p:spPr>
        <p:txBody>
          <a:bodyPr lIns="45719" rIns="45719"/>
          <a:lstStyle/>
          <a:p>
            <a:pPr/>
          </a:p>
        </p:txBody>
      </p:sp>
      <p:pic>
        <p:nvPicPr>
          <p:cNvPr id="108" name="icon-50" descr="icon-50"/>
          <p:cNvPicPr>
            <a:picLocks noChangeAspect="1"/>
          </p:cNvPicPr>
          <p:nvPr/>
        </p:nvPicPr>
        <p:blipFill>
          <a:blip r:embed="rId7">
            <a:extLst/>
          </a:blip>
          <a:stretch>
            <a:fillRect/>
          </a:stretch>
        </p:blipFill>
        <p:spPr>
          <a:xfrm>
            <a:off x="6135258" y="5577473"/>
            <a:ext cx="256765" cy="256765"/>
          </a:xfrm>
          <a:prstGeom prst="rect">
            <a:avLst/>
          </a:prstGeom>
          <a:ln w="12700">
            <a:miter lim="400000"/>
          </a:ln>
        </p:spPr>
      </p:pic>
      <p:sp>
        <p:nvSpPr>
          <p:cNvPr id="109" name="text-51"/>
          <p:cNvSpPr txBox="1"/>
          <p:nvPr/>
        </p:nvSpPr>
        <p:spPr>
          <a:xfrm>
            <a:off x="6720840" y="5422391"/>
            <a:ext cx="47548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Report</a:t>
            </a:r>
            <a:endParaRPr sz="1400"/>
          </a:p>
          <a:p>
            <a:pPr>
              <a:defRPr sz="1300">
                <a:solidFill>
                  <a:schemeClr val="accent5"/>
                </a:solidFill>
              </a:defRPr>
            </a:pPr>
            <a:r>
              <a:t>Ticket-ready output</a:t>
            </a:r>
          </a:p>
        </p:txBody>
      </p:sp>
      <p:sp>
        <p:nvSpPr>
          <p:cNvPr id="110"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ext 0"/>
          <p:cNvSpPr txBox="1"/>
          <p:nvPr>
            <p:ph type="body" sz="quarter" idx="1"/>
          </p:nvPr>
        </p:nvSpPr>
        <p:spPr>
          <a:prstGeom prst="rect">
            <a:avLst/>
          </a:prstGeom>
        </p:spPr>
        <p:txBody>
          <a:bodyPr lIns="0" tIns="0" rIns="0" bIns="0"/>
          <a:lstStyle/>
          <a:p>
            <a:pPr/>
            <a:r>
              <a:t>MENTAL MODEL</a:t>
            </a:r>
          </a:p>
        </p:txBody>
      </p:sp>
      <p:sp>
        <p:nvSpPr>
          <p:cNvPr id="115" name="Text 0"/>
          <p:cNvSpPr txBox="1"/>
          <p:nvPr>
            <p:ph type="title"/>
          </p:nvPr>
        </p:nvSpPr>
        <p:spPr>
          <a:xfrm>
            <a:off x="548639" y="585216"/>
            <a:ext cx="11094417" cy="731521"/>
          </a:xfrm>
          <a:prstGeom prst="rect">
            <a:avLst/>
          </a:prstGeom>
        </p:spPr>
        <p:txBody>
          <a:bodyPr lIns="0" tIns="0" rIns="0" bIns="0"/>
          <a:lstStyle/>
          <a:p>
            <a:pPr/>
            <a:r>
              <a:t>Four layers, one runtime</a:t>
            </a:r>
          </a:p>
        </p:txBody>
      </p:sp>
      <p:sp>
        <p:nvSpPr>
          <p:cNvPr id="116" name="card-52"/>
          <p:cNvSpPr/>
          <p:nvPr/>
        </p:nvSpPr>
        <p:spPr>
          <a:xfrm>
            <a:off x="548640" y="1600200"/>
            <a:ext cx="5486401" cy="777241"/>
          </a:xfrm>
          <a:prstGeom prst="roundRect">
            <a:avLst>
              <a:gd name="adj" fmla="val 14118"/>
            </a:avLst>
          </a:prstGeom>
          <a:solidFill>
            <a:schemeClr val="accent4"/>
          </a:solidFill>
          <a:ln w="12700">
            <a:solidFill>
              <a:schemeClr val="accent4"/>
            </a:solidFill>
          </a:ln>
        </p:spPr>
        <p:txBody>
          <a:bodyPr lIns="45719" rIns="45719"/>
          <a:lstStyle/>
          <a:p>
            <a:pPr/>
          </a:p>
        </p:txBody>
      </p:sp>
      <p:sp>
        <p:nvSpPr>
          <p:cNvPr id="117" name="text-53"/>
          <p:cNvSpPr txBox="1"/>
          <p:nvPr/>
        </p:nvSpPr>
        <p:spPr>
          <a:xfrm>
            <a:off x="822959" y="1709927"/>
            <a:ext cx="4937762"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pPr>
            <a:r>
              <a:t>Deep Agents</a:t>
            </a:r>
            <a:endParaRPr sz="1400"/>
          </a:p>
          <a:p>
            <a:pPr>
              <a:defRPr sz="1300"/>
            </a:pPr>
            <a:r>
              <a:t>Harness: planning, files, subagents, skills</a:t>
            </a:r>
          </a:p>
        </p:txBody>
      </p:sp>
      <p:sp>
        <p:nvSpPr>
          <p:cNvPr id="118" name="card-54"/>
          <p:cNvSpPr/>
          <p:nvPr/>
        </p:nvSpPr>
        <p:spPr>
          <a:xfrm>
            <a:off x="548640" y="2514600"/>
            <a:ext cx="5486401" cy="777241"/>
          </a:xfrm>
          <a:prstGeom prst="roundRect">
            <a:avLst>
              <a:gd name="adj" fmla="val 14118"/>
            </a:avLst>
          </a:prstGeom>
          <a:solidFill>
            <a:srgbClr val="8FD3BB"/>
          </a:solidFill>
          <a:ln w="12700">
            <a:solidFill>
              <a:srgbClr val="8FD3BB"/>
            </a:solidFill>
          </a:ln>
        </p:spPr>
        <p:txBody>
          <a:bodyPr lIns="45719" rIns="45719"/>
          <a:lstStyle/>
          <a:p>
            <a:pPr/>
          </a:p>
        </p:txBody>
      </p:sp>
      <p:sp>
        <p:nvSpPr>
          <p:cNvPr id="119" name="text-55"/>
          <p:cNvSpPr txBox="1"/>
          <p:nvPr/>
        </p:nvSpPr>
        <p:spPr>
          <a:xfrm>
            <a:off x="822959" y="2624327"/>
            <a:ext cx="4937762"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pPr>
            <a:r>
              <a:t>LangChain v1</a:t>
            </a:r>
            <a:endParaRPr sz="1400"/>
          </a:p>
          <a:p>
            <a:pPr>
              <a:defRPr sz="1300"/>
            </a:pPr>
            <a:r>
              <a:t>create_agent + middleware</a:t>
            </a:r>
          </a:p>
        </p:txBody>
      </p:sp>
      <p:sp>
        <p:nvSpPr>
          <p:cNvPr id="120" name="card-56"/>
          <p:cNvSpPr/>
          <p:nvPr/>
        </p:nvSpPr>
        <p:spPr>
          <a:xfrm>
            <a:off x="548640" y="3429000"/>
            <a:ext cx="5486401" cy="777241"/>
          </a:xfrm>
          <a:prstGeom prst="roundRect">
            <a:avLst>
              <a:gd name="adj" fmla="val 14118"/>
            </a:avLst>
          </a:prstGeom>
          <a:solidFill>
            <a:schemeClr val="accent1"/>
          </a:solidFill>
          <a:ln w="12700">
            <a:solidFill>
              <a:schemeClr val="accent1"/>
            </a:solidFill>
          </a:ln>
        </p:spPr>
        <p:txBody>
          <a:bodyPr lIns="45719" rIns="45719"/>
          <a:lstStyle/>
          <a:p>
            <a:pPr/>
          </a:p>
        </p:txBody>
      </p:sp>
      <p:sp>
        <p:nvSpPr>
          <p:cNvPr id="121" name="text-57"/>
          <p:cNvSpPr txBox="1"/>
          <p:nvPr/>
        </p:nvSpPr>
        <p:spPr>
          <a:xfrm>
            <a:off x="822959" y="3538728"/>
            <a:ext cx="4937762"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FFFFFF"/>
                </a:solidFill>
              </a:defRPr>
            </a:pPr>
            <a:r>
              <a:t>LangGraph</a:t>
            </a:r>
            <a:endParaRPr sz="1400"/>
          </a:p>
          <a:p>
            <a:pPr>
              <a:defRPr sz="1300">
                <a:solidFill>
                  <a:srgbClr val="FFFFFF"/>
                </a:solidFill>
              </a:defRPr>
            </a:pPr>
            <a:r>
              <a:t>StateGraph, checkpoints, interrupts, store</a:t>
            </a:r>
          </a:p>
        </p:txBody>
      </p:sp>
      <p:sp>
        <p:nvSpPr>
          <p:cNvPr id="122" name="card-58"/>
          <p:cNvSpPr/>
          <p:nvPr/>
        </p:nvSpPr>
        <p:spPr>
          <a:xfrm>
            <a:off x="548640" y="4343400"/>
            <a:ext cx="5486401" cy="777241"/>
          </a:xfrm>
          <a:prstGeom prst="roundRect">
            <a:avLst>
              <a:gd name="adj" fmla="val 14118"/>
            </a:avLst>
          </a:prstGeom>
          <a:solidFill>
            <a:schemeClr val="accent3"/>
          </a:solidFill>
          <a:ln w="12700">
            <a:solidFill>
              <a:schemeClr val="accent3"/>
            </a:solidFill>
          </a:ln>
        </p:spPr>
        <p:txBody>
          <a:bodyPr lIns="45719" rIns="45719"/>
          <a:lstStyle/>
          <a:p>
            <a:pPr/>
          </a:p>
        </p:txBody>
      </p:sp>
      <p:sp>
        <p:nvSpPr>
          <p:cNvPr id="123" name="text-59"/>
          <p:cNvSpPr txBox="1"/>
          <p:nvPr/>
        </p:nvSpPr>
        <p:spPr>
          <a:xfrm>
            <a:off x="822959" y="4453128"/>
            <a:ext cx="4937762"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FFFFFF"/>
                </a:solidFill>
              </a:defRPr>
            </a:pPr>
            <a:r>
              <a:t>Agent Server</a:t>
            </a:r>
            <a:endParaRPr sz="1400"/>
          </a:p>
          <a:p>
            <a:pPr>
              <a:defRPr sz="1300">
                <a:solidFill>
                  <a:srgbClr val="FFFFFF"/>
                </a:solidFill>
              </a:defRPr>
            </a:pPr>
            <a:r>
              <a:t>Threads, runs, crons, persistence</a:t>
            </a:r>
          </a:p>
        </p:txBody>
      </p:sp>
      <p:sp>
        <p:nvSpPr>
          <p:cNvPr id="124" name="card-60"/>
          <p:cNvSpPr/>
          <p:nvPr/>
        </p:nvSpPr>
        <p:spPr>
          <a:xfrm>
            <a:off x="6217920" y="1600200"/>
            <a:ext cx="1005841" cy="3520441"/>
          </a:xfrm>
          <a:prstGeom prst="roundRect">
            <a:avLst>
              <a:gd name="adj" fmla="val 10909"/>
            </a:avLst>
          </a:prstGeom>
          <a:solidFill>
            <a:srgbClr val="12332B"/>
          </a:solidFill>
          <a:ln w="12700">
            <a:solidFill>
              <a:srgbClr val="12332B"/>
            </a:solidFill>
          </a:ln>
        </p:spPr>
        <p:txBody>
          <a:bodyPr lIns="45719" rIns="45719"/>
          <a:lstStyle/>
          <a:p>
            <a:pPr/>
          </a:p>
        </p:txBody>
      </p:sp>
      <p:sp>
        <p:nvSpPr>
          <p:cNvPr id="125" name="langsmith-label-61"/>
          <p:cNvSpPr txBox="1"/>
          <p:nvPr/>
        </p:nvSpPr>
        <p:spPr>
          <a:xfrm rot="16200000">
            <a:off x="6217920" y="3239596"/>
            <a:ext cx="1005840"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defRPr>
            </a:lvl1pPr>
          </a:lstStyle>
          <a:p>
            <a:pPr/>
            <a:r>
              <a:t>LangSmith</a:t>
            </a:r>
          </a:p>
        </p:txBody>
      </p:sp>
      <p:sp>
        <p:nvSpPr>
          <p:cNvPr id="126" name="text-62"/>
          <p:cNvSpPr txBox="1"/>
          <p:nvPr/>
        </p:nvSpPr>
        <p:spPr>
          <a:xfrm>
            <a:off x="548640" y="5349240"/>
            <a:ext cx="6675119"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5"/>
                </a:solidFill>
              </a:defRPr>
            </a:lvl1pPr>
          </a:lstStyle>
          <a:p>
            <a:pPr/>
            <a:r>
              <a:t>Each layer is built from the one below it. Everything ships to the same Agent Server and is traced, evaluated and deployed in LangSmith.</a:t>
            </a:r>
          </a:p>
        </p:txBody>
      </p:sp>
      <p:sp>
        <p:nvSpPr>
          <p:cNvPr id="127" name="text-63"/>
          <p:cNvSpPr txBox="1"/>
          <p:nvPr/>
        </p:nvSpPr>
        <p:spPr>
          <a:xfrm>
            <a:off x="7635240" y="1600200"/>
            <a:ext cx="4023360" cy="671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create_agent returns a LangGraph graph</a:t>
            </a:r>
            <a:endParaRPr sz="1400"/>
          </a:p>
          <a:p>
            <a:pPr>
              <a:defRPr sz="1400">
                <a:solidFill>
                  <a:schemeClr val="accent5"/>
                </a:solidFill>
              </a:defRPr>
            </a:pPr>
            <a:r>
              <a:t>So a LangChain agent gets checkpoints, streaming, interrupts and Agent Server deployment for free.</a:t>
            </a:r>
          </a:p>
        </p:txBody>
      </p:sp>
      <p:sp>
        <p:nvSpPr>
          <p:cNvPr id="128" name="text-64"/>
          <p:cNvSpPr txBox="1"/>
          <p:nvPr/>
        </p:nvSpPr>
        <p:spPr>
          <a:xfrm>
            <a:off x="7635240" y="3017520"/>
            <a:ext cx="4023360"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Middleware is the v1 customization story</a:t>
            </a:r>
            <a:endParaRPr sz="1400"/>
          </a:p>
          <a:p>
            <a:pPr>
              <a:defRPr sz="1400">
                <a:solidFill>
                  <a:schemeClr val="accent5"/>
                </a:solidFill>
              </a:defRPr>
            </a:pPr>
            <a:r>
              <a:t>Summarization, PII redaction, retries, fallbacks and human approval are all middleware hooks.</a:t>
            </a:r>
          </a:p>
        </p:txBody>
      </p:sp>
      <p:sp>
        <p:nvSpPr>
          <p:cNvPr id="129" name="text-65"/>
          <p:cNvSpPr txBox="1"/>
          <p:nvPr/>
        </p:nvSpPr>
        <p:spPr>
          <a:xfrm>
            <a:off x="7635240" y="4434840"/>
            <a:ext cx="4023360"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LangSmith is framework-agnostic</a:t>
            </a:r>
            <a:endParaRPr sz="1400"/>
          </a:p>
          <a:p>
            <a:pPr>
              <a:defRPr sz="1400">
                <a:solidFill>
                  <a:schemeClr val="accent5"/>
                </a:solidFill>
              </a:defRPr>
            </a:pPr>
            <a:r>
              <a:t>It traces raw OpenAI or Anthropic SDK code too: not every customer is all-in on LangChain.</a:t>
            </a:r>
          </a:p>
        </p:txBody>
      </p:sp>
      <p:sp>
        <p:nvSpPr>
          <p:cNvPr id="130"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ext 0"/>
          <p:cNvSpPr txBox="1"/>
          <p:nvPr>
            <p:ph type="body" sz="quarter" idx="1"/>
          </p:nvPr>
        </p:nvSpPr>
        <p:spPr>
          <a:prstGeom prst="rect">
            <a:avLst/>
          </a:prstGeom>
        </p:spPr>
        <p:txBody>
          <a:bodyPr lIns="0" tIns="0" rIns="0" bIns="0"/>
          <a:lstStyle/>
          <a:p>
            <a:pPr/>
            <a:r>
              <a:t>THE BUILD</a:t>
            </a:r>
          </a:p>
        </p:txBody>
      </p:sp>
      <p:sp>
        <p:nvSpPr>
          <p:cNvPr id="135" name="Text 0"/>
          <p:cNvSpPr txBox="1"/>
          <p:nvPr>
            <p:ph type="title"/>
          </p:nvPr>
        </p:nvSpPr>
        <p:spPr>
          <a:xfrm>
            <a:off x="548639" y="585216"/>
            <a:ext cx="11094417" cy="731521"/>
          </a:xfrm>
          <a:prstGeom prst="rect">
            <a:avLst/>
          </a:prstGeom>
        </p:spPr>
        <p:txBody>
          <a:bodyPr lIns="0" tIns="0" rIns="0" bIns="0"/>
          <a:lstStyle/>
          <a:p>
            <a:pPr/>
            <a:r>
              <a:t>Seven modules, each mapped to the role</a:t>
            </a:r>
          </a:p>
        </p:txBody>
      </p:sp>
      <p:sp>
        <p:nvSpPr>
          <p:cNvPr id="136" name="card-66"/>
          <p:cNvSpPr/>
          <p:nvPr/>
        </p:nvSpPr>
        <p:spPr>
          <a:xfrm>
            <a:off x="548640" y="1554480"/>
            <a:ext cx="2606040" cy="2148840"/>
          </a:xfrm>
          <a:prstGeom prst="roundRect">
            <a:avLst>
              <a:gd name="adj" fmla="val 5106"/>
            </a:avLst>
          </a:prstGeom>
          <a:solidFill>
            <a:srgbClr val="EEF5F1"/>
          </a:solidFill>
          <a:ln w="12700">
            <a:solidFill>
              <a:srgbClr val="EEF5F1"/>
            </a:solidFill>
          </a:ln>
        </p:spPr>
        <p:txBody>
          <a:bodyPr lIns="45719" rIns="45719"/>
          <a:lstStyle/>
          <a:p>
            <a:pPr/>
          </a:p>
        </p:txBody>
      </p:sp>
      <p:sp>
        <p:nvSpPr>
          <p:cNvPr id="137" name="badge-67"/>
          <p:cNvSpPr/>
          <p:nvPr/>
        </p:nvSpPr>
        <p:spPr>
          <a:xfrm>
            <a:off x="731519" y="173736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38" name="badge-label-68"/>
          <p:cNvSpPr txBox="1"/>
          <p:nvPr/>
        </p:nvSpPr>
        <p:spPr>
          <a:xfrm>
            <a:off x="731519" y="186426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01</a:t>
            </a:r>
          </a:p>
        </p:txBody>
      </p:sp>
      <p:pic>
        <p:nvPicPr>
          <p:cNvPr id="139" name="icon-69" descr="icon-69"/>
          <p:cNvPicPr>
            <a:picLocks noChangeAspect="1"/>
          </p:cNvPicPr>
          <p:nvPr/>
        </p:nvPicPr>
        <p:blipFill>
          <a:blip r:embed="rId3">
            <a:extLst/>
          </a:blip>
          <a:stretch>
            <a:fillRect/>
          </a:stretch>
        </p:blipFill>
        <p:spPr>
          <a:xfrm>
            <a:off x="2587751" y="1792223"/>
            <a:ext cx="347473" cy="347473"/>
          </a:xfrm>
          <a:prstGeom prst="rect">
            <a:avLst/>
          </a:prstGeom>
          <a:ln w="12700">
            <a:miter lim="400000"/>
          </a:ln>
        </p:spPr>
      </p:pic>
      <p:sp>
        <p:nvSpPr>
          <p:cNvPr id="140" name="text-70"/>
          <p:cNvSpPr txBox="1"/>
          <p:nvPr/>
        </p:nvSpPr>
        <p:spPr>
          <a:xfrm>
            <a:off x="731520" y="2331720"/>
            <a:ext cx="2240280" cy="928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Triage agent</a:t>
            </a:r>
            <a:endParaRPr sz="1400"/>
          </a:p>
          <a:p>
            <a:pPr>
              <a:defRPr sz="1300">
                <a:solidFill>
                  <a:schemeClr val="accent5"/>
                </a:solidFill>
              </a:defRPr>
            </a:pPr>
            <a:r>
              <a:t>create_agent, structured output, middleware</a:t>
            </a:r>
            <a:endParaRPr sz="1400"/>
          </a:p>
          <a:p>
            <a:pPr>
              <a:defRPr sz="600"/>
            </a:pPr>
            <a:r>
              <a:t> </a:t>
            </a:r>
            <a:endParaRPr sz="1400"/>
          </a:p>
          <a:p>
            <a:pPr>
              <a:defRPr b="1" sz="1300">
                <a:solidFill>
                  <a:schemeClr val="accent3"/>
                </a:solidFill>
              </a:defRPr>
            </a:pPr>
            <a:r>
              <a:t>Tools, APIs, error handling</a:t>
            </a:r>
          </a:p>
        </p:txBody>
      </p:sp>
      <p:sp>
        <p:nvSpPr>
          <p:cNvPr id="141" name="card-71"/>
          <p:cNvSpPr/>
          <p:nvPr/>
        </p:nvSpPr>
        <p:spPr>
          <a:xfrm>
            <a:off x="3367735" y="1554480"/>
            <a:ext cx="2606041" cy="2148840"/>
          </a:xfrm>
          <a:prstGeom prst="roundRect">
            <a:avLst>
              <a:gd name="adj" fmla="val 5106"/>
            </a:avLst>
          </a:prstGeom>
          <a:solidFill>
            <a:srgbClr val="EEF5F1"/>
          </a:solidFill>
          <a:ln w="12700">
            <a:solidFill>
              <a:srgbClr val="EEF5F1"/>
            </a:solidFill>
          </a:ln>
        </p:spPr>
        <p:txBody>
          <a:bodyPr lIns="45719" rIns="45719"/>
          <a:lstStyle/>
          <a:p>
            <a:pPr/>
          </a:p>
        </p:txBody>
      </p:sp>
      <p:sp>
        <p:nvSpPr>
          <p:cNvPr id="142" name="badge-72"/>
          <p:cNvSpPr/>
          <p:nvPr/>
        </p:nvSpPr>
        <p:spPr>
          <a:xfrm>
            <a:off x="3550615" y="173736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43" name="badge-label-73"/>
          <p:cNvSpPr txBox="1"/>
          <p:nvPr/>
        </p:nvSpPr>
        <p:spPr>
          <a:xfrm>
            <a:off x="3550615" y="186426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02</a:t>
            </a:r>
          </a:p>
        </p:txBody>
      </p:sp>
      <p:pic>
        <p:nvPicPr>
          <p:cNvPr id="144" name="icon-74" descr="icon-74"/>
          <p:cNvPicPr>
            <a:picLocks noChangeAspect="1"/>
          </p:cNvPicPr>
          <p:nvPr/>
        </p:nvPicPr>
        <p:blipFill>
          <a:blip r:embed="rId4">
            <a:extLst/>
          </a:blip>
          <a:stretch>
            <a:fillRect/>
          </a:stretch>
        </p:blipFill>
        <p:spPr>
          <a:xfrm>
            <a:off x="5406847" y="1792223"/>
            <a:ext cx="347473" cy="347473"/>
          </a:xfrm>
          <a:prstGeom prst="rect">
            <a:avLst/>
          </a:prstGeom>
          <a:ln w="12700">
            <a:miter lim="400000"/>
          </a:ln>
        </p:spPr>
      </p:pic>
      <p:sp>
        <p:nvSpPr>
          <p:cNvPr id="145" name="text-75"/>
          <p:cNvSpPr txBox="1"/>
          <p:nvPr/>
        </p:nvSpPr>
        <p:spPr>
          <a:xfrm>
            <a:off x="3550615" y="2331720"/>
            <a:ext cx="2240280" cy="928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Runbook RAG</a:t>
            </a:r>
            <a:endParaRPr sz="1400"/>
          </a:p>
          <a:p>
            <a:pPr>
              <a:defRPr sz="1300">
                <a:solidFill>
                  <a:schemeClr val="accent5"/>
                </a:solidFill>
              </a:defRPr>
            </a:pPr>
            <a:r>
              <a:t>Embeddings, vector store, retriever tool</a:t>
            </a:r>
            <a:endParaRPr sz="1400"/>
          </a:p>
          <a:p>
            <a:pPr>
              <a:defRPr sz="600"/>
            </a:pPr>
            <a:r>
              <a:t> </a:t>
            </a:r>
            <a:endParaRPr sz="1400"/>
          </a:p>
          <a:p>
            <a:pPr>
              <a:defRPr b="1" sz="1300">
                <a:solidFill>
                  <a:schemeClr val="accent3"/>
                </a:solidFill>
              </a:defRPr>
            </a:pPr>
            <a:r>
              <a:t>RAG, knowledge organization</a:t>
            </a:r>
          </a:p>
        </p:txBody>
      </p:sp>
      <p:sp>
        <p:nvSpPr>
          <p:cNvPr id="146" name="card-76"/>
          <p:cNvSpPr/>
          <p:nvPr/>
        </p:nvSpPr>
        <p:spPr>
          <a:xfrm>
            <a:off x="6186830" y="1554480"/>
            <a:ext cx="2606041" cy="2148840"/>
          </a:xfrm>
          <a:prstGeom prst="roundRect">
            <a:avLst>
              <a:gd name="adj" fmla="val 5106"/>
            </a:avLst>
          </a:prstGeom>
          <a:solidFill>
            <a:srgbClr val="EEF5F1"/>
          </a:solidFill>
          <a:ln w="12700">
            <a:solidFill>
              <a:srgbClr val="EEF5F1"/>
            </a:solidFill>
          </a:ln>
        </p:spPr>
        <p:txBody>
          <a:bodyPr lIns="45719" rIns="45719"/>
          <a:lstStyle/>
          <a:p>
            <a:pPr/>
          </a:p>
        </p:txBody>
      </p:sp>
      <p:sp>
        <p:nvSpPr>
          <p:cNvPr id="147" name="badge-77"/>
          <p:cNvSpPr/>
          <p:nvPr/>
        </p:nvSpPr>
        <p:spPr>
          <a:xfrm>
            <a:off x="6369710" y="173736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48" name="badge-label-78"/>
          <p:cNvSpPr txBox="1"/>
          <p:nvPr/>
        </p:nvSpPr>
        <p:spPr>
          <a:xfrm>
            <a:off x="6369710" y="186426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03</a:t>
            </a:r>
          </a:p>
        </p:txBody>
      </p:sp>
      <p:pic>
        <p:nvPicPr>
          <p:cNvPr id="149" name="icon-79" descr="icon-79"/>
          <p:cNvPicPr>
            <a:picLocks noChangeAspect="1"/>
          </p:cNvPicPr>
          <p:nvPr/>
        </p:nvPicPr>
        <p:blipFill>
          <a:blip r:embed="rId5">
            <a:extLst/>
          </a:blip>
          <a:stretch>
            <a:fillRect/>
          </a:stretch>
        </p:blipFill>
        <p:spPr>
          <a:xfrm>
            <a:off x="8225942" y="1792223"/>
            <a:ext cx="347473" cy="347473"/>
          </a:xfrm>
          <a:prstGeom prst="rect">
            <a:avLst/>
          </a:prstGeom>
          <a:ln w="12700">
            <a:miter lim="400000"/>
          </a:ln>
        </p:spPr>
      </p:pic>
      <p:sp>
        <p:nvSpPr>
          <p:cNvPr id="150" name="text-80"/>
          <p:cNvSpPr txBox="1"/>
          <p:nvPr/>
        </p:nvSpPr>
        <p:spPr>
          <a:xfrm>
            <a:off x="6369710" y="2331720"/>
            <a:ext cx="2240280" cy="928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Approval workflow</a:t>
            </a:r>
            <a:endParaRPr sz="1400"/>
          </a:p>
          <a:p>
            <a:pPr>
              <a:defRPr sz="1300">
                <a:solidFill>
                  <a:schemeClr val="accent5"/>
                </a:solidFill>
              </a:defRPr>
            </a:pPr>
            <a:r>
              <a:t>StateGraph, checkpointer, store, interrupt</a:t>
            </a:r>
            <a:endParaRPr sz="1400"/>
          </a:p>
          <a:p>
            <a:pPr>
              <a:defRPr sz="600"/>
            </a:pPr>
            <a:r>
              <a:t> </a:t>
            </a:r>
            <a:endParaRPr sz="1400"/>
          </a:p>
          <a:p>
            <a:pPr>
              <a:defRPr b="1" sz="1300">
                <a:solidFill>
                  <a:schemeClr val="accent3"/>
                </a:solidFill>
              </a:defRPr>
            </a:pPr>
            <a:r>
              <a:t>Short- and long-term memory</a:t>
            </a:r>
          </a:p>
        </p:txBody>
      </p:sp>
      <p:sp>
        <p:nvSpPr>
          <p:cNvPr id="151" name="card-81"/>
          <p:cNvSpPr/>
          <p:nvPr/>
        </p:nvSpPr>
        <p:spPr>
          <a:xfrm>
            <a:off x="9005926" y="1554480"/>
            <a:ext cx="2606041" cy="2148840"/>
          </a:xfrm>
          <a:prstGeom prst="roundRect">
            <a:avLst>
              <a:gd name="adj" fmla="val 5106"/>
            </a:avLst>
          </a:prstGeom>
          <a:solidFill>
            <a:srgbClr val="EEF5F1"/>
          </a:solidFill>
          <a:ln w="12700">
            <a:solidFill>
              <a:srgbClr val="EEF5F1"/>
            </a:solidFill>
          </a:ln>
        </p:spPr>
        <p:txBody>
          <a:bodyPr lIns="45719" rIns="45719"/>
          <a:lstStyle/>
          <a:p>
            <a:pPr/>
          </a:p>
        </p:txBody>
      </p:sp>
      <p:sp>
        <p:nvSpPr>
          <p:cNvPr id="152" name="badge-82"/>
          <p:cNvSpPr/>
          <p:nvPr/>
        </p:nvSpPr>
        <p:spPr>
          <a:xfrm>
            <a:off x="9188805" y="173736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53" name="badge-label-83"/>
          <p:cNvSpPr txBox="1"/>
          <p:nvPr/>
        </p:nvSpPr>
        <p:spPr>
          <a:xfrm>
            <a:off x="9188805" y="186426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04</a:t>
            </a:r>
          </a:p>
        </p:txBody>
      </p:sp>
      <p:pic>
        <p:nvPicPr>
          <p:cNvPr id="154" name="icon-84" descr="icon-84"/>
          <p:cNvPicPr>
            <a:picLocks noChangeAspect="1"/>
          </p:cNvPicPr>
          <p:nvPr/>
        </p:nvPicPr>
        <p:blipFill>
          <a:blip r:embed="rId6">
            <a:extLst/>
          </a:blip>
          <a:stretch>
            <a:fillRect/>
          </a:stretch>
        </p:blipFill>
        <p:spPr>
          <a:xfrm>
            <a:off x="11045038" y="1792223"/>
            <a:ext cx="347473" cy="347473"/>
          </a:xfrm>
          <a:prstGeom prst="rect">
            <a:avLst/>
          </a:prstGeom>
          <a:ln w="12700">
            <a:miter lim="400000"/>
          </a:ln>
        </p:spPr>
      </p:pic>
      <p:sp>
        <p:nvSpPr>
          <p:cNvPr id="155" name="text-85"/>
          <p:cNvSpPr txBox="1"/>
          <p:nvPr/>
        </p:nvSpPr>
        <p:spPr>
          <a:xfrm>
            <a:off x="9188805" y="2331720"/>
            <a:ext cx="2240281" cy="7255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Supervisor + specialists</a:t>
            </a:r>
            <a:endParaRPr sz="1400"/>
          </a:p>
          <a:p>
            <a:pPr>
              <a:defRPr sz="1300">
                <a:solidFill>
                  <a:schemeClr val="accent5"/>
                </a:solidFill>
              </a:defRPr>
            </a:pPr>
            <a:r>
              <a:t>Subagents as tools</a:t>
            </a:r>
            <a:endParaRPr sz="1400"/>
          </a:p>
          <a:p>
            <a:pPr>
              <a:defRPr sz="600"/>
            </a:pPr>
            <a:r>
              <a:t> </a:t>
            </a:r>
            <a:endParaRPr sz="1400"/>
          </a:p>
          <a:p>
            <a:pPr>
              <a:defRPr b="1" sz="1300">
                <a:solidFill>
                  <a:schemeClr val="accent3"/>
                </a:solidFill>
              </a:defRPr>
            </a:pPr>
            <a:r>
              <a:t>Multi-agent patterns</a:t>
            </a:r>
          </a:p>
        </p:txBody>
      </p:sp>
      <p:sp>
        <p:nvSpPr>
          <p:cNvPr id="156" name="card-86"/>
          <p:cNvSpPr/>
          <p:nvPr/>
        </p:nvSpPr>
        <p:spPr>
          <a:xfrm>
            <a:off x="548640" y="3977640"/>
            <a:ext cx="2606040" cy="2148841"/>
          </a:xfrm>
          <a:prstGeom prst="roundRect">
            <a:avLst>
              <a:gd name="adj" fmla="val 5106"/>
            </a:avLst>
          </a:prstGeom>
          <a:solidFill>
            <a:srgbClr val="EEF5F1"/>
          </a:solidFill>
          <a:ln w="12700">
            <a:solidFill>
              <a:srgbClr val="EEF5F1"/>
            </a:solidFill>
          </a:ln>
        </p:spPr>
        <p:txBody>
          <a:bodyPr lIns="45719" rIns="45719"/>
          <a:lstStyle/>
          <a:p>
            <a:pPr/>
          </a:p>
        </p:txBody>
      </p:sp>
      <p:sp>
        <p:nvSpPr>
          <p:cNvPr id="157" name="badge-87"/>
          <p:cNvSpPr/>
          <p:nvPr/>
        </p:nvSpPr>
        <p:spPr>
          <a:xfrm>
            <a:off x="731519" y="416052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58" name="badge-label-88"/>
          <p:cNvSpPr txBox="1"/>
          <p:nvPr/>
        </p:nvSpPr>
        <p:spPr>
          <a:xfrm>
            <a:off x="731519" y="428742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05</a:t>
            </a:r>
          </a:p>
        </p:txBody>
      </p:sp>
      <p:pic>
        <p:nvPicPr>
          <p:cNvPr id="159" name="icon-89" descr="icon-89"/>
          <p:cNvPicPr>
            <a:picLocks noChangeAspect="1"/>
          </p:cNvPicPr>
          <p:nvPr/>
        </p:nvPicPr>
        <p:blipFill>
          <a:blip r:embed="rId7">
            <a:extLst/>
          </a:blip>
          <a:stretch>
            <a:fillRect/>
          </a:stretch>
        </p:blipFill>
        <p:spPr>
          <a:xfrm>
            <a:off x="2587751" y="4215384"/>
            <a:ext cx="347473" cy="347473"/>
          </a:xfrm>
          <a:prstGeom prst="rect">
            <a:avLst/>
          </a:prstGeom>
          <a:ln w="12700">
            <a:miter lim="400000"/>
          </a:ln>
        </p:spPr>
      </p:pic>
      <p:sp>
        <p:nvSpPr>
          <p:cNvPr id="160" name="text-90"/>
          <p:cNvSpPr txBox="1"/>
          <p:nvPr/>
        </p:nvSpPr>
        <p:spPr>
          <a:xfrm>
            <a:off x="731520" y="4754879"/>
            <a:ext cx="2240280" cy="928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Deep audit agent</a:t>
            </a:r>
            <a:endParaRPr sz="1400"/>
          </a:p>
          <a:p>
            <a:pPr>
              <a:defRPr sz="1300">
                <a:solidFill>
                  <a:schemeClr val="accent5"/>
                </a:solidFill>
              </a:defRPr>
            </a:pPr>
            <a:r>
              <a:t>create_deep_agent, skills, backends</a:t>
            </a:r>
            <a:endParaRPr sz="1400"/>
          </a:p>
          <a:p>
            <a:pPr>
              <a:defRPr sz="600"/>
            </a:pPr>
            <a:r>
              <a:t> </a:t>
            </a:r>
            <a:endParaRPr sz="1400"/>
          </a:p>
          <a:p>
            <a:pPr>
              <a:defRPr b="1" sz="1300">
                <a:solidFill>
                  <a:schemeClr val="accent3"/>
                </a:solidFill>
              </a:defRPr>
            </a:pPr>
            <a:r>
              <a:t>Long-horizon agents</a:t>
            </a:r>
          </a:p>
        </p:txBody>
      </p:sp>
      <p:sp>
        <p:nvSpPr>
          <p:cNvPr id="161" name="card-91"/>
          <p:cNvSpPr/>
          <p:nvPr/>
        </p:nvSpPr>
        <p:spPr>
          <a:xfrm>
            <a:off x="3367735" y="3977640"/>
            <a:ext cx="2606041" cy="2148841"/>
          </a:xfrm>
          <a:prstGeom prst="roundRect">
            <a:avLst>
              <a:gd name="adj" fmla="val 5106"/>
            </a:avLst>
          </a:prstGeom>
          <a:solidFill>
            <a:srgbClr val="EEF5F1"/>
          </a:solidFill>
          <a:ln w="12700">
            <a:solidFill>
              <a:srgbClr val="EEF5F1"/>
            </a:solidFill>
          </a:ln>
        </p:spPr>
        <p:txBody>
          <a:bodyPr lIns="45719" rIns="45719"/>
          <a:lstStyle/>
          <a:p>
            <a:pPr/>
          </a:p>
        </p:txBody>
      </p:sp>
      <p:sp>
        <p:nvSpPr>
          <p:cNvPr id="162" name="badge-92"/>
          <p:cNvSpPr/>
          <p:nvPr/>
        </p:nvSpPr>
        <p:spPr>
          <a:xfrm>
            <a:off x="3550615" y="416052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63" name="badge-label-93"/>
          <p:cNvSpPr txBox="1"/>
          <p:nvPr/>
        </p:nvSpPr>
        <p:spPr>
          <a:xfrm>
            <a:off x="3550615" y="428742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06</a:t>
            </a:r>
          </a:p>
        </p:txBody>
      </p:sp>
      <p:pic>
        <p:nvPicPr>
          <p:cNvPr id="164" name="icon-94" descr="icon-94"/>
          <p:cNvPicPr>
            <a:picLocks noChangeAspect="1"/>
          </p:cNvPicPr>
          <p:nvPr/>
        </p:nvPicPr>
        <p:blipFill>
          <a:blip r:embed="rId8">
            <a:extLst/>
          </a:blip>
          <a:stretch>
            <a:fillRect/>
          </a:stretch>
        </p:blipFill>
        <p:spPr>
          <a:xfrm>
            <a:off x="5406847" y="4215384"/>
            <a:ext cx="347473" cy="347473"/>
          </a:xfrm>
          <a:prstGeom prst="rect">
            <a:avLst/>
          </a:prstGeom>
          <a:ln w="12700">
            <a:miter lim="400000"/>
          </a:ln>
        </p:spPr>
      </p:pic>
      <p:sp>
        <p:nvSpPr>
          <p:cNvPr id="165" name="text-95"/>
          <p:cNvSpPr txBox="1"/>
          <p:nvPr/>
        </p:nvSpPr>
        <p:spPr>
          <a:xfrm>
            <a:off x="3550615" y="4754879"/>
            <a:ext cx="2240280" cy="928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Evals + A/B test</a:t>
            </a:r>
            <a:endParaRPr sz="1400"/>
          </a:p>
          <a:p>
            <a:pPr>
              <a:defRPr sz="1300">
                <a:solidFill>
                  <a:schemeClr val="accent5"/>
                </a:solidFill>
              </a:defRPr>
            </a:pPr>
            <a:r>
              <a:t>Datasets, evaluators, experiments</a:t>
            </a:r>
            <a:endParaRPr sz="1400"/>
          </a:p>
          <a:p>
            <a:pPr>
              <a:defRPr sz="600"/>
            </a:pPr>
            <a:r>
              <a:t> </a:t>
            </a:r>
            <a:endParaRPr sz="1400"/>
          </a:p>
          <a:p>
            <a:pPr>
              <a:defRPr b="1" sz="1300">
                <a:solidFill>
                  <a:schemeClr val="accent3"/>
                </a:solidFill>
              </a:defRPr>
            </a:pPr>
            <a:r>
              <a:t>Eval frameworks, prompt A/B</a:t>
            </a:r>
          </a:p>
        </p:txBody>
      </p:sp>
      <p:sp>
        <p:nvSpPr>
          <p:cNvPr id="166" name="card-96"/>
          <p:cNvSpPr/>
          <p:nvPr/>
        </p:nvSpPr>
        <p:spPr>
          <a:xfrm>
            <a:off x="6186830" y="3977640"/>
            <a:ext cx="2606041" cy="2148841"/>
          </a:xfrm>
          <a:prstGeom prst="roundRect">
            <a:avLst>
              <a:gd name="adj" fmla="val 5106"/>
            </a:avLst>
          </a:prstGeom>
          <a:solidFill>
            <a:srgbClr val="EEF5F1"/>
          </a:solidFill>
          <a:ln w="12700">
            <a:solidFill>
              <a:srgbClr val="EEF5F1"/>
            </a:solidFill>
          </a:ln>
        </p:spPr>
        <p:txBody>
          <a:bodyPr lIns="45719" rIns="45719"/>
          <a:lstStyle/>
          <a:p>
            <a:pPr/>
          </a:p>
        </p:txBody>
      </p:sp>
      <p:sp>
        <p:nvSpPr>
          <p:cNvPr id="167" name="badge-97"/>
          <p:cNvSpPr/>
          <p:nvPr/>
        </p:nvSpPr>
        <p:spPr>
          <a:xfrm>
            <a:off x="6369710" y="4160520"/>
            <a:ext cx="438913" cy="438913"/>
          </a:xfrm>
          <a:prstGeom prst="roundRect">
            <a:avLst>
              <a:gd name="adj" fmla="val 20833"/>
            </a:avLst>
          </a:prstGeom>
          <a:solidFill>
            <a:schemeClr val="accent1"/>
          </a:solidFill>
          <a:ln w="12700">
            <a:solidFill>
              <a:schemeClr val="accent1"/>
            </a:solidFill>
          </a:ln>
        </p:spPr>
        <p:txBody>
          <a:bodyPr lIns="45719" rIns="45719"/>
          <a:lstStyle/>
          <a:p>
            <a:pPr/>
          </a:p>
        </p:txBody>
      </p:sp>
      <p:sp>
        <p:nvSpPr>
          <p:cNvPr id="168" name="badge-label-98"/>
          <p:cNvSpPr txBox="1"/>
          <p:nvPr/>
        </p:nvSpPr>
        <p:spPr>
          <a:xfrm>
            <a:off x="6369710" y="4287426"/>
            <a:ext cx="43891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07</a:t>
            </a:r>
          </a:p>
        </p:txBody>
      </p:sp>
      <p:pic>
        <p:nvPicPr>
          <p:cNvPr id="169" name="icon-99" descr="icon-99"/>
          <p:cNvPicPr>
            <a:picLocks noChangeAspect="1"/>
          </p:cNvPicPr>
          <p:nvPr/>
        </p:nvPicPr>
        <p:blipFill>
          <a:blip r:embed="rId9">
            <a:extLst/>
          </a:blip>
          <a:stretch>
            <a:fillRect/>
          </a:stretch>
        </p:blipFill>
        <p:spPr>
          <a:xfrm>
            <a:off x="8225942" y="4215384"/>
            <a:ext cx="347473" cy="347473"/>
          </a:xfrm>
          <a:prstGeom prst="rect">
            <a:avLst/>
          </a:prstGeom>
          <a:ln w="12700">
            <a:miter lim="400000"/>
          </a:ln>
        </p:spPr>
      </p:pic>
      <p:sp>
        <p:nvSpPr>
          <p:cNvPr id="170" name="text-100"/>
          <p:cNvSpPr txBox="1"/>
          <p:nvPr/>
        </p:nvSpPr>
        <p:spPr>
          <a:xfrm>
            <a:off x="6369710" y="4754879"/>
            <a:ext cx="2240280" cy="928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Agent Server on K8s</a:t>
            </a:r>
            <a:endParaRPr sz="1400"/>
          </a:p>
          <a:p>
            <a:pPr>
              <a:defRPr sz="1300">
                <a:solidFill>
                  <a:schemeClr val="accent5"/>
                </a:solidFill>
              </a:defRPr>
            </a:pPr>
            <a:r>
              <a:t>langgraph.json, Helm, deployment options</a:t>
            </a:r>
            <a:endParaRPr sz="1400"/>
          </a:p>
          <a:p>
            <a:pPr>
              <a:defRPr sz="600"/>
            </a:pPr>
            <a:r>
              <a:t> </a:t>
            </a:r>
            <a:endParaRPr sz="1400"/>
          </a:p>
          <a:p>
            <a:pPr>
              <a:defRPr b="1" sz="1300">
                <a:solidFill>
                  <a:schemeClr val="accent3"/>
                </a:solidFill>
              </a:defRPr>
            </a:pPr>
            <a:r>
              <a:t>Kubernetes, IaC, HA/DR</a:t>
            </a:r>
          </a:p>
        </p:txBody>
      </p:sp>
      <p:sp>
        <p:nvSpPr>
          <p:cNvPr id="171" name="card-101"/>
          <p:cNvSpPr/>
          <p:nvPr/>
        </p:nvSpPr>
        <p:spPr>
          <a:xfrm>
            <a:off x="9005926" y="3977640"/>
            <a:ext cx="2606041" cy="2148841"/>
          </a:xfrm>
          <a:prstGeom prst="roundRect">
            <a:avLst>
              <a:gd name="adj" fmla="val 5106"/>
            </a:avLst>
          </a:prstGeom>
          <a:solidFill>
            <a:srgbClr val="12332B"/>
          </a:solidFill>
          <a:ln w="12700">
            <a:solidFill>
              <a:srgbClr val="12332B"/>
            </a:solidFill>
          </a:ln>
        </p:spPr>
        <p:txBody>
          <a:bodyPr lIns="45719" rIns="45719"/>
          <a:lstStyle/>
          <a:p>
            <a:pPr/>
          </a:p>
        </p:txBody>
      </p:sp>
      <p:sp>
        <p:nvSpPr>
          <p:cNvPr id="172" name="text-102"/>
          <p:cNvSpPr txBox="1"/>
          <p:nvPr/>
        </p:nvSpPr>
        <p:spPr>
          <a:xfrm>
            <a:off x="9234526" y="4251959"/>
            <a:ext cx="2148841" cy="1131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200">
                <a:solidFill>
                  <a:srgbClr val="FFFFFF"/>
                </a:solidFill>
              </a:defRPr>
            </a:pPr>
            <a:r>
              <a:t>One repo</a:t>
            </a:r>
            <a:endParaRPr sz="1400"/>
          </a:p>
          <a:p>
            <a:pPr>
              <a:defRPr sz="1300">
                <a:solidFill>
                  <a:schemeClr val="accent4"/>
                </a:solidFill>
              </a:defRPr>
            </a:pPr>
            <a:r>
              <a:t>~10 hours of build, every module runnable on its own, all four graphs served from one Agent Server.</a:t>
            </a:r>
          </a:p>
        </p:txBody>
      </p:sp>
      <p:sp>
        <p:nvSpPr>
          <p:cNvPr id="173"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Text 0"/>
          <p:cNvSpPr txBox="1"/>
          <p:nvPr>
            <p:ph type="body" sz="quarter" idx="1"/>
          </p:nvPr>
        </p:nvSpPr>
        <p:spPr>
          <a:prstGeom prst="rect">
            <a:avLst/>
          </a:prstGeom>
        </p:spPr>
        <p:txBody>
          <a:bodyPr lIns="0" tIns="0" rIns="0" bIns="0"/>
          <a:lstStyle/>
          <a:p>
            <a:pPr/>
            <a:r>
              <a:t>MODULE 1 · LANGCHAIN</a:t>
            </a:r>
          </a:p>
        </p:txBody>
      </p:sp>
      <p:sp>
        <p:nvSpPr>
          <p:cNvPr id="178" name="Text 0"/>
          <p:cNvSpPr txBox="1"/>
          <p:nvPr>
            <p:ph type="title"/>
          </p:nvPr>
        </p:nvSpPr>
        <p:spPr>
          <a:xfrm>
            <a:off x="548639" y="585216"/>
            <a:ext cx="11094417" cy="731521"/>
          </a:xfrm>
          <a:prstGeom prst="rect">
            <a:avLst/>
          </a:prstGeom>
        </p:spPr>
        <p:txBody>
          <a:bodyPr lIns="0" tIns="0" rIns="0" bIns="0"/>
          <a:lstStyle/>
          <a:p>
            <a:pPr/>
            <a:r>
              <a:t>A triage agent with a typed contract</a:t>
            </a:r>
          </a:p>
        </p:txBody>
      </p:sp>
      <p:sp>
        <p:nvSpPr>
          <p:cNvPr id="179" name="icon-bg-103"/>
          <p:cNvSpPr/>
          <p:nvPr/>
        </p:nvSpPr>
        <p:spPr>
          <a:xfrm>
            <a:off x="548640" y="1600200"/>
            <a:ext cx="548641" cy="548641"/>
          </a:xfrm>
          <a:prstGeom prst="ellipse">
            <a:avLst/>
          </a:prstGeom>
          <a:solidFill>
            <a:schemeClr val="accent4"/>
          </a:solidFill>
          <a:ln w="12700">
            <a:solidFill>
              <a:schemeClr val="accent4"/>
            </a:solidFill>
          </a:ln>
        </p:spPr>
        <p:txBody>
          <a:bodyPr lIns="45719" rIns="45719"/>
          <a:lstStyle/>
          <a:p>
            <a:pPr/>
          </a:p>
        </p:txBody>
      </p:sp>
      <p:pic>
        <p:nvPicPr>
          <p:cNvPr id="180" name="icon-104" descr="icon-104"/>
          <p:cNvPicPr>
            <a:picLocks noChangeAspect="1"/>
          </p:cNvPicPr>
          <p:nvPr/>
        </p:nvPicPr>
        <p:blipFill>
          <a:blip r:embed="rId3">
            <a:extLst/>
          </a:blip>
          <a:stretch>
            <a:fillRect/>
          </a:stretch>
        </p:blipFill>
        <p:spPr>
          <a:xfrm>
            <a:off x="680313" y="1731873"/>
            <a:ext cx="285295" cy="285294"/>
          </a:xfrm>
          <a:prstGeom prst="rect">
            <a:avLst/>
          </a:prstGeom>
          <a:ln w="12700">
            <a:miter lim="400000"/>
          </a:ln>
        </p:spPr>
      </p:pic>
      <p:sp>
        <p:nvSpPr>
          <p:cNvPr id="181" name="text-105"/>
          <p:cNvSpPr txBox="1"/>
          <p:nvPr/>
        </p:nvSpPr>
        <p:spPr>
          <a:xfrm>
            <a:off x="1325880" y="1581911"/>
            <a:ext cx="457200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pPr>
            <a:r>
              <a:t>Tools return errors as data</a:t>
            </a:r>
            <a:endParaRPr sz="1400"/>
          </a:p>
          <a:p>
            <a:pPr>
              <a:defRPr sz="1400">
                <a:solidFill>
                  <a:schemeClr val="accent5"/>
                </a:solidFill>
              </a:defRPr>
            </a:pPr>
            <a:r>
              <a:t>NVD timeouts and bad YAML come back as payloads the model can recover from, instead of exceptions that kill the run.</a:t>
            </a:r>
          </a:p>
        </p:txBody>
      </p:sp>
      <p:sp>
        <p:nvSpPr>
          <p:cNvPr id="182" name="icon-bg-106"/>
          <p:cNvSpPr/>
          <p:nvPr/>
        </p:nvSpPr>
        <p:spPr>
          <a:xfrm>
            <a:off x="548640" y="3063239"/>
            <a:ext cx="548641" cy="548641"/>
          </a:xfrm>
          <a:prstGeom prst="ellipse">
            <a:avLst/>
          </a:prstGeom>
          <a:solidFill>
            <a:schemeClr val="accent4"/>
          </a:solidFill>
          <a:ln w="12700">
            <a:solidFill>
              <a:schemeClr val="accent4"/>
            </a:solidFill>
          </a:ln>
        </p:spPr>
        <p:txBody>
          <a:bodyPr lIns="45719" rIns="45719"/>
          <a:lstStyle/>
          <a:p>
            <a:pPr/>
          </a:p>
        </p:txBody>
      </p:sp>
      <p:pic>
        <p:nvPicPr>
          <p:cNvPr id="183" name="icon-107" descr="icon-107"/>
          <p:cNvPicPr>
            <a:picLocks noChangeAspect="1"/>
          </p:cNvPicPr>
          <p:nvPr/>
        </p:nvPicPr>
        <p:blipFill>
          <a:blip r:embed="rId4">
            <a:extLst/>
          </a:blip>
          <a:stretch>
            <a:fillRect/>
          </a:stretch>
        </p:blipFill>
        <p:spPr>
          <a:xfrm>
            <a:off x="680313" y="3194914"/>
            <a:ext cx="285295" cy="285294"/>
          </a:xfrm>
          <a:prstGeom prst="rect">
            <a:avLst/>
          </a:prstGeom>
          <a:ln w="12700">
            <a:miter lim="400000"/>
          </a:ln>
        </p:spPr>
      </p:pic>
      <p:sp>
        <p:nvSpPr>
          <p:cNvPr id="184" name="text-108"/>
          <p:cNvSpPr txBox="1"/>
          <p:nvPr/>
        </p:nvSpPr>
        <p:spPr>
          <a:xfrm>
            <a:off x="1325880" y="3044951"/>
            <a:ext cx="457200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pPr>
            <a:r>
              <a:t>Structured output, not prose</a:t>
            </a:r>
            <a:endParaRPr sz="1400"/>
          </a:p>
          <a:p>
            <a:pPr>
              <a:defRPr sz="1400">
                <a:solidFill>
                  <a:schemeClr val="accent5"/>
                </a:solidFill>
              </a:defRPr>
            </a:pPr>
            <a:r>
              <a:t>response_format=TriageReport yields a validated Pydantic object that tickets and dashboards consume directly.</a:t>
            </a:r>
          </a:p>
        </p:txBody>
      </p:sp>
      <p:sp>
        <p:nvSpPr>
          <p:cNvPr id="185" name="icon-bg-109"/>
          <p:cNvSpPr/>
          <p:nvPr/>
        </p:nvSpPr>
        <p:spPr>
          <a:xfrm>
            <a:off x="548640" y="4526279"/>
            <a:ext cx="548641" cy="548641"/>
          </a:xfrm>
          <a:prstGeom prst="ellipse">
            <a:avLst/>
          </a:prstGeom>
          <a:solidFill>
            <a:schemeClr val="accent4"/>
          </a:solidFill>
          <a:ln w="12700">
            <a:solidFill>
              <a:schemeClr val="accent4"/>
            </a:solidFill>
          </a:ln>
        </p:spPr>
        <p:txBody>
          <a:bodyPr lIns="45719" rIns="45719"/>
          <a:lstStyle/>
          <a:p>
            <a:pPr/>
          </a:p>
        </p:txBody>
      </p:sp>
      <p:pic>
        <p:nvPicPr>
          <p:cNvPr id="186" name="icon-110" descr="icon-110"/>
          <p:cNvPicPr>
            <a:picLocks noChangeAspect="1"/>
          </p:cNvPicPr>
          <p:nvPr/>
        </p:nvPicPr>
        <p:blipFill>
          <a:blip r:embed="rId5">
            <a:extLst/>
          </a:blip>
          <a:stretch>
            <a:fillRect/>
          </a:stretch>
        </p:blipFill>
        <p:spPr>
          <a:xfrm>
            <a:off x="680313" y="4657954"/>
            <a:ext cx="285295" cy="285294"/>
          </a:xfrm>
          <a:prstGeom prst="rect">
            <a:avLst/>
          </a:prstGeom>
          <a:ln w="12700">
            <a:miter lim="400000"/>
          </a:ln>
        </p:spPr>
      </p:pic>
      <p:sp>
        <p:nvSpPr>
          <p:cNvPr id="187" name="text-111"/>
          <p:cNvSpPr txBox="1"/>
          <p:nvPr/>
        </p:nvSpPr>
        <p:spPr>
          <a:xfrm>
            <a:off x="1325880" y="4507991"/>
            <a:ext cx="457200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pPr>
            <a:r>
              <a:t>Middleware for production behavior</a:t>
            </a:r>
            <a:endParaRPr sz="1400"/>
          </a:p>
          <a:p>
            <a:pPr>
              <a:defRPr sz="1400">
                <a:solidFill>
                  <a:schemeClr val="accent5"/>
                </a:solidFill>
              </a:defRPr>
            </a:pPr>
            <a:r>
              <a:t>Model-call limit as a loop breaker, retries only on the network tool, and a custom wrap_tool_call guardrail.</a:t>
            </a:r>
          </a:p>
        </p:txBody>
      </p:sp>
      <p:sp>
        <p:nvSpPr>
          <p:cNvPr id="188" name="card-112"/>
          <p:cNvSpPr/>
          <p:nvPr/>
        </p:nvSpPr>
        <p:spPr>
          <a:xfrm>
            <a:off x="6400800" y="1600200"/>
            <a:ext cx="5239512" cy="4069080"/>
          </a:xfrm>
          <a:prstGeom prst="roundRect">
            <a:avLst>
              <a:gd name="adj" fmla="val 2697"/>
            </a:avLst>
          </a:prstGeom>
          <a:solidFill>
            <a:srgbClr val="12332B"/>
          </a:solidFill>
          <a:ln w="12700">
            <a:solidFill>
              <a:srgbClr val="12332B"/>
            </a:solidFill>
          </a:ln>
        </p:spPr>
        <p:txBody>
          <a:bodyPr lIns="45719" rIns="45719"/>
          <a:lstStyle/>
          <a:p>
            <a:pPr/>
          </a:p>
        </p:txBody>
      </p:sp>
      <p:sp>
        <p:nvSpPr>
          <p:cNvPr id="189" name="code-113"/>
          <p:cNvSpPr txBox="1"/>
          <p:nvPr/>
        </p:nvSpPr>
        <p:spPr>
          <a:xfrm>
            <a:off x="6675119" y="1828800"/>
            <a:ext cx="4846321" cy="2679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chemeClr val="accent4"/>
                </a:solidFill>
                <a:latin typeface="Courier New"/>
                <a:ea typeface="Courier New"/>
                <a:cs typeface="Courier New"/>
                <a:sym typeface="Courier New"/>
              </a:defRPr>
            </a:pPr>
            <a:r>
              <a:t>agent = create_agent(</a:t>
            </a:r>
          </a:p>
          <a:p>
            <a:pPr>
              <a:defRPr sz="1200">
                <a:solidFill>
                  <a:schemeClr val="accent4"/>
                </a:solidFill>
                <a:latin typeface="Courier New"/>
                <a:ea typeface="Courier New"/>
                <a:cs typeface="Courier New"/>
                <a:sym typeface="Courier New"/>
              </a:defRPr>
            </a:pPr>
            <a:r>
              <a:t>    model=MODEL,</a:t>
            </a:r>
          </a:p>
          <a:p>
            <a:pPr>
              <a:defRPr sz="1200">
                <a:solidFill>
                  <a:schemeClr val="accent4"/>
                </a:solidFill>
                <a:latin typeface="Courier New"/>
                <a:ea typeface="Courier New"/>
                <a:cs typeface="Courier New"/>
                <a:sym typeface="Courier New"/>
              </a:defRPr>
            </a:pPr>
            <a:r>
              <a:t>    tools=[lookup_cve, scan_k8s_manifest,</a:t>
            </a:r>
          </a:p>
          <a:p>
            <a:pPr>
              <a:defRPr sz="1200">
                <a:solidFill>
                  <a:schemeClr val="accent4"/>
                </a:solidFill>
                <a:latin typeface="Courier New"/>
                <a:ea typeface="Courier New"/>
                <a:cs typeface="Courier New"/>
                <a:sym typeface="Courier New"/>
              </a:defRPr>
            </a:pPr>
            <a:r>
              <a:t>           list_manifests, search_runbooks],</a:t>
            </a:r>
          </a:p>
          <a:p>
            <a:pPr>
              <a:defRPr sz="1200">
                <a:solidFill>
                  <a:schemeClr val="accent4"/>
                </a:solidFill>
                <a:latin typeface="Courier New"/>
                <a:ea typeface="Courier New"/>
                <a:cs typeface="Courier New"/>
                <a:sym typeface="Courier New"/>
              </a:defRPr>
            </a:pPr>
            <a:r>
              <a:t>    system_prompt=SYSTEM_PROMPT,</a:t>
            </a:r>
          </a:p>
          <a:p>
            <a:pPr>
              <a:defRPr sz="1200">
                <a:solidFill>
                  <a:schemeClr val="accent4"/>
                </a:solidFill>
                <a:latin typeface="Courier New"/>
                <a:ea typeface="Courier New"/>
                <a:cs typeface="Courier New"/>
                <a:sym typeface="Courier New"/>
              </a:defRPr>
            </a:pPr>
            <a:r>
              <a:t>    response_format=TriageReport,</a:t>
            </a:r>
          </a:p>
          <a:p>
            <a:pPr>
              <a:defRPr sz="1200">
                <a:solidFill>
                  <a:schemeClr val="accent4"/>
                </a:solidFill>
                <a:latin typeface="Courier New"/>
                <a:ea typeface="Courier New"/>
                <a:cs typeface="Courier New"/>
                <a:sym typeface="Courier New"/>
              </a:defRPr>
            </a:pPr>
            <a:r>
              <a:t>    middleware=[</a:t>
            </a:r>
          </a:p>
          <a:p>
            <a:pPr>
              <a:defRPr sz="1200">
                <a:solidFill>
                  <a:schemeClr val="accent4"/>
                </a:solidFill>
                <a:latin typeface="Courier New"/>
                <a:ea typeface="Courier New"/>
                <a:cs typeface="Courier New"/>
                <a:sym typeface="Courier New"/>
              </a:defRPr>
            </a:pPr>
            <a:r>
              <a:t>        ModelCallLimitMiddleware(run_limit=15),</a:t>
            </a:r>
          </a:p>
          <a:p>
            <a:pPr>
              <a:defRPr sz="1200">
                <a:solidFill>
                  <a:schemeClr val="accent4"/>
                </a:solidFill>
                <a:latin typeface="Courier New"/>
                <a:ea typeface="Courier New"/>
                <a:cs typeface="Courier New"/>
                <a:sym typeface="Courier New"/>
              </a:defRPr>
            </a:pPr>
            <a:r>
              <a:t>        ToolRetryMiddleware(max_retries=2,</a:t>
            </a:r>
          </a:p>
          <a:p>
            <a:pPr>
              <a:defRPr sz="1200">
                <a:solidFill>
                  <a:schemeClr val="accent4"/>
                </a:solidFill>
                <a:latin typeface="Courier New"/>
                <a:ea typeface="Courier New"/>
                <a:cs typeface="Courier New"/>
                <a:sym typeface="Courier New"/>
              </a:defRPr>
            </a:pPr>
            <a:r>
              <a:t>                            tools=["lookup_cve"]),</a:t>
            </a:r>
          </a:p>
          <a:p>
            <a:pPr>
              <a:defRPr sz="1200">
                <a:solidFill>
                  <a:schemeClr val="accent4"/>
                </a:solidFill>
                <a:latin typeface="Courier New"/>
                <a:ea typeface="Courier New"/>
                <a:cs typeface="Courier New"/>
                <a:sym typeface="Courier New"/>
              </a:defRPr>
            </a:pPr>
            <a:r>
              <a:t>        tool_guardrail,  # @wrap_tool_call</a:t>
            </a:r>
          </a:p>
          <a:p>
            <a:pPr>
              <a:defRPr sz="1200">
                <a:solidFill>
                  <a:schemeClr val="accent4"/>
                </a:solidFill>
                <a:latin typeface="Courier New"/>
                <a:ea typeface="Courier New"/>
                <a:cs typeface="Courier New"/>
                <a:sym typeface="Courier New"/>
              </a:defRPr>
            </a:pPr>
            <a:r>
              <a:t>    ],</a:t>
            </a:r>
          </a:p>
          <a:p>
            <a:pPr>
              <a:defRPr sz="1200">
                <a:solidFill>
                  <a:schemeClr val="accent4"/>
                </a:solidFill>
                <a:latin typeface="Courier New"/>
                <a:ea typeface="Courier New"/>
                <a:cs typeface="Courier New"/>
                <a:sym typeface="Courier New"/>
              </a:defRPr>
            </a:pPr>
            <a:r>
              <a:t>)</a:t>
            </a:r>
          </a:p>
          <a:p>
            <a:pPr>
              <a:defRPr sz="1200"/>
            </a:pPr>
          </a:p>
          <a:p>
            <a:pPr>
              <a:defRPr sz="1200">
                <a:solidFill>
                  <a:schemeClr val="accent4"/>
                </a:solidFill>
                <a:latin typeface="Courier New"/>
                <a:ea typeface="Courier New"/>
                <a:cs typeface="Courier New"/>
                <a:sym typeface="Courier New"/>
              </a:defRPr>
            </a:pPr>
            <a:r>
              <a:t>report = agent.invoke(q)["structured_response"]</a:t>
            </a:r>
          </a:p>
        </p:txBody>
      </p:sp>
      <p:sp>
        <p:nvSpPr>
          <p:cNvPr id="190"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0"/>
          <p:cNvSpPr txBox="1"/>
          <p:nvPr>
            <p:ph type="body" sz="quarter" idx="1"/>
          </p:nvPr>
        </p:nvSpPr>
        <p:spPr>
          <a:prstGeom prst="rect">
            <a:avLst/>
          </a:prstGeom>
        </p:spPr>
        <p:txBody>
          <a:bodyPr lIns="0" tIns="0" rIns="0" bIns="0"/>
          <a:lstStyle/>
          <a:p>
            <a:pPr/>
            <a:r>
              <a:t>MODULE 2 · RAG</a:t>
            </a:r>
          </a:p>
        </p:txBody>
      </p:sp>
      <p:sp>
        <p:nvSpPr>
          <p:cNvPr id="195" name="Text 0"/>
          <p:cNvSpPr txBox="1"/>
          <p:nvPr>
            <p:ph type="title"/>
          </p:nvPr>
        </p:nvSpPr>
        <p:spPr>
          <a:xfrm>
            <a:off x="548639" y="585216"/>
            <a:ext cx="11094417" cy="731521"/>
          </a:xfrm>
          <a:prstGeom prst="rect">
            <a:avLst/>
          </a:prstGeom>
        </p:spPr>
        <p:txBody>
          <a:bodyPr lIns="0" tIns="0" rIns="0" bIns="0"/>
          <a:lstStyle/>
          <a:p>
            <a:pPr/>
            <a:r>
              <a:t>Fixes cite our runbooks, not the internet</a:t>
            </a:r>
          </a:p>
        </p:txBody>
      </p:sp>
      <p:sp>
        <p:nvSpPr>
          <p:cNvPr id="196" name="card-114"/>
          <p:cNvSpPr/>
          <p:nvPr/>
        </p:nvSpPr>
        <p:spPr>
          <a:xfrm>
            <a:off x="548640" y="1554480"/>
            <a:ext cx="3840480" cy="713233"/>
          </a:xfrm>
          <a:prstGeom prst="roundRect">
            <a:avLst>
              <a:gd name="adj" fmla="val 15385"/>
            </a:avLst>
          </a:prstGeom>
          <a:solidFill>
            <a:srgbClr val="EEF5F1"/>
          </a:solidFill>
          <a:ln w="12700">
            <a:solidFill>
              <a:srgbClr val="EEF5F1"/>
            </a:solidFill>
          </a:ln>
        </p:spPr>
        <p:txBody>
          <a:bodyPr lIns="45719" rIns="45719"/>
          <a:lstStyle/>
          <a:p>
            <a:pPr/>
          </a:p>
        </p:txBody>
      </p:sp>
      <p:sp>
        <p:nvSpPr>
          <p:cNvPr id="197" name="box-label-115"/>
          <p:cNvSpPr txBox="1"/>
          <p:nvPr/>
        </p:nvSpPr>
        <p:spPr>
          <a:xfrm>
            <a:off x="640080" y="1729662"/>
            <a:ext cx="3657601" cy="3628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pPr>
            <a:r>
              <a:t>Runbooks (.md)</a:t>
            </a:r>
          </a:p>
          <a:p>
            <a:pPr algn="ctr">
              <a:defRPr sz="1100">
                <a:solidFill>
                  <a:schemeClr val="accent5"/>
                </a:solidFill>
              </a:defRPr>
            </a:pPr>
            <a:r>
              <a:t>pod-security, supply-chain, SLAs</a:t>
            </a:r>
          </a:p>
        </p:txBody>
      </p:sp>
      <p:sp>
        <p:nvSpPr>
          <p:cNvPr id="198" name="arrow-116"/>
          <p:cNvSpPr/>
          <p:nvPr/>
        </p:nvSpPr>
        <p:spPr>
          <a:xfrm>
            <a:off x="2468879" y="2267711"/>
            <a:ext cx="915" cy="201169"/>
          </a:xfrm>
          <a:prstGeom prst="line">
            <a:avLst/>
          </a:prstGeom>
          <a:ln w="19050">
            <a:solidFill>
              <a:schemeClr val="accent5"/>
            </a:solidFill>
            <a:tailEnd type="triangle"/>
          </a:ln>
        </p:spPr>
        <p:txBody>
          <a:bodyPr lIns="45719" rIns="45719"/>
          <a:lstStyle/>
          <a:p>
            <a:pPr/>
          </a:p>
        </p:txBody>
      </p:sp>
      <p:sp>
        <p:nvSpPr>
          <p:cNvPr id="199" name="card-117"/>
          <p:cNvSpPr/>
          <p:nvPr/>
        </p:nvSpPr>
        <p:spPr>
          <a:xfrm>
            <a:off x="548640" y="2468879"/>
            <a:ext cx="3840480" cy="713233"/>
          </a:xfrm>
          <a:prstGeom prst="roundRect">
            <a:avLst>
              <a:gd name="adj" fmla="val 15385"/>
            </a:avLst>
          </a:prstGeom>
          <a:solidFill>
            <a:srgbClr val="EEF5F1"/>
          </a:solidFill>
          <a:ln w="12700">
            <a:solidFill>
              <a:srgbClr val="EEF5F1"/>
            </a:solidFill>
          </a:ln>
        </p:spPr>
        <p:txBody>
          <a:bodyPr lIns="45719" rIns="45719"/>
          <a:lstStyle/>
          <a:p>
            <a:pPr/>
          </a:p>
        </p:txBody>
      </p:sp>
      <p:sp>
        <p:nvSpPr>
          <p:cNvPr id="200" name="box-label-118"/>
          <p:cNvSpPr txBox="1"/>
          <p:nvPr/>
        </p:nvSpPr>
        <p:spPr>
          <a:xfrm>
            <a:off x="640080" y="2644062"/>
            <a:ext cx="3657601" cy="3628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pPr>
            <a:r>
              <a:t>Header splitter</a:t>
            </a:r>
          </a:p>
          <a:p>
            <a:pPr algn="ctr">
              <a:defRPr sz="1100">
                <a:solidFill>
                  <a:schemeClr val="accent5"/>
                </a:solidFill>
              </a:defRPr>
            </a:pPr>
            <a:r>
              <a:t>One chunk = one procedure</a:t>
            </a:r>
          </a:p>
        </p:txBody>
      </p:sp>
      <p:sp>
        <p:nvSpPr>
          <p:cNvPr id="201" name="arrow-119"/>
          <p:cNvSpPr/>
          <p:nvPr/>
        </p:nvSpPr>
        <p:spPr>
          <a:xfrm>
            <a:off x="2468879" y="3182112"/>
            <a:ext cx="915" cy="201169"/>
          </a:xfrm>
          <a:prstGeom prst="line">
            <a:avLst/>
          </a:prstGeom>
          <a:ln w="19050">
            <a:solidFill>
              <a:schemeClr val="accent5"/>
            </a:solidFill>
            <a:tailEnd type="triangle"/>
          </a:ln>
        </p:spPr>
        <p:txBody>
          <a:bodyPr lIns="45719" rIns="45719"/>
          <a:lstStyle/>
          <a:p>
            <a:pPr/>
          </a:p>
        </p:txBody>
      </p:sp>
      <p:sp>
        <p:nvSpPr>
          <p:cNvPr id="202" name="card-120"/>
          <p:cNvSpPr/>
          <p:nvPr/>
        </p:nvSpPr>
        <p:spPr>
          <a:xfrm>
            <a:off x="548640" y="3383279"/>
            <a:ext cx="3840480" cy="713233"/>
          </a:xfrm>
          <a:prstGeom prst="roundRect">
            <a:avLst>
              <a:gd name="adj" fmla="val 15385"/>
            </a:avLst>
          </a:prstGeom>
          <a:solidFill>
            <a:srgbClr val="EEF5F1"/>
          </a:solidFill>
          <a:ln w="12700">
            <a:solidFill>
              <a:srgbClr val="EEF5F1"/>
            </a:solidFill>
          </a:ln>
        </p:spPr>
        <p:txBody>
          <a:bodyPr lIns="45719" rIns="45719"/>
          <a:lstStyle/>
          <a:p>
            <a:pPr/>
          </a:p>
        </p:txBody>
      </p:sp>
      <p:sp>
        <p:nvSpPr>
          <p:cNvPr id="203" name="box-label-121"/>
          <p:cNvSpPr txBox="1"/>
          <p:nvPr/>
        </p:nvSpPr>
        <p:spPr>
          <a:xfrm>
            <a:off x="640080" y="3558461"/>
            <a:ext cx="3657601"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pPr>
            <a:r>
              <a:t>Local ONNX embeddings</a:t>
            </a:r>
          </a:p>
          <a:p>
            <a:pPr algn="ctr">
              <a:defRPr sz="1100">
                <a:solidFill>
                  <a:schemeClr val="accent5"/>
                </a:solidFill>
              </a:defRPr>
            </a:pPr>
            <a:r>
              <a:t>bge-small, no API key</a:t>
            </a:r>
          </a:p>
        </p:txBody>
      </p:sp>
      <p:sp>
        <p:nvSpPr>
          <p:cNvPr id="204" name="arrow-122"/>
          <p:cNvSpPr/>
          <p:nvPr/>
        </p:nvSpPr>
        <p:spPr>
          <a:xfrm>
            <a:off x="2468879" y="4096512"/>
            <a:ext cx="915" cy="201169"/>
          </a:xfrm>
          <a:prstGeom prst="line">
            <a:avLst/>
          </a:prstGeom>
          <a:ln w="19050">
            <a:solidFill>
              <a:schemeClr val="accent5"/>
            </a:solidFill>
            <a:tailEnd type="triangle"/>
          </a:ln>
        </p:spPr>
        <p:txBody>
          <a:bodyPr lIns="45719" rIns="45719"/>
          <a:lstStyle/>
          <a:p>
            <a:pPr/>
          </a:p>
        </p:txBody>
      </p:sp>
      <p:sp>
        <p:nvSpPr>
          <p:cNvPr id="205" name="card-123"/>
          <p:cNvSpPr/>
          <p:nvPr/>
        </p:nvSpPr>
        <p:spPr>
          <a:xfrm>
            <a:off x="548640" y="4297679"/>
            <a:ext cx="3840480" cy="713233"/>
          </a:xfrm>
          <a:prstGeom prst="roundRect">
            <a:avLst>
              <a:gd name="adj" fmla="val 15385"/>
            </a:avLst>
          </a:prstGeom>
          <a:solidFill>
            <a:srgbClr val="EEF5F1"/>
          </a:solidFill>
          <a:ln w="12700">
            <a:solidFill>
              <a:srgbClr val="EEF5F1"/>
            </a:solidFill>
          </a:ln>
        </p:spPr>
        <p:txBody>
          <a:bodyPr lIns="45719" rIns="45719"/>
          <a:lstStyle/>
          <a:p>
            <a:pPr/>
          </a:p>
        </p:txBody>
      </p:sp>
      <p:sp>
        <p:nvSpPr>
          <p:cNvPr id="206" name="box-label-124"/>
          <p:cNvSpPr txBox="1"/>
          <p:nvPr/>
        </p:nvSpPr>
        <p:spPr>
          <a:xfrm>
            <a:off x="640080" y="4472861"/>
            <a:ext cx="3657601"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pPr>
            <a:r>
              <a:t>Vector store</a:t>
            </a:r>
          </a:p>
          <a:p>
            <a:pPr algn="ctr">
              <a:defRPr sz="1100">
                <a:solidFill>
                  <a:schemeClr val="accent5"/>
                </a:solidFill>
              </a:defRPr>
            </a:pPr>
            <a:r>
              <a:t>In-memory → pgvector</a:t>
            </a:r>
          </a:p>
        </p:txBody>
      </p:sp>
      <p:sp>
        <p:nvSpPr>
          <p:cNvPr id="207" name="arrow-125"/>
          <p:cNvSpPr/>
          <p:nvPr/>
        </p:nvSpPr>
        <p:spPr>
          <a:xfrm>
            <a:off x="2468879" y="5010912"/>
            <a:ext cx="915" cy="201169"/>
          </a:xfrm>
          <a:prstGeom prst="line">
            <a:avLst/>
          </a:prstGeom>
          <a:ln w="19050">
            <a:solidFill>
              <a:schemeClr val="accent5"/>
            </a:solidFill>
            <a:tailEnd type="triangle"/>
          </a:ln>
        </p:spPr>
        <p:txBody>
          <a:bodyPr lIns="45719" rIns="45719"/>
          <a:lstStyle/>
          <a:p>
            <a:pPr/>
          </a:p>
        </p:txBody>
      </p:sp>
      <p:sp>
        <p:nvSpPr>
          <p:cNvPr id="208" name="card-126"/>
          <p:cNvSpPr/>
          <p:nvPr/>
        </p:nvSpPr>
        <p:spPr>
          <a:xfrm>
            <a:off x="548640" y="5212079"/>
            <a:ext cx="3840480" cy="713233"/>
          </a:xfrm>
          <a:prstGeom prst="roundRect">
            <a:avLst>
              <a:gd name="adj" fmla="val 15385"/>
            </a:avLst>
          </a:prstGeom>
          <a:solidFill>
            <a:schemeClr val="accent1"/>
          </a:solidFill>
          <a:ln w="12700">
            <a:solidFill>
              <a:schemeClr val="accent1"/>
            </a:solidFill>
          </a:ln>
        </p:spPr>
        <p:txBody>
          <a:bodyPr lIns="45719" rIns="45719"/>
          <a:lstStyle/>
          <a:p>
            <a:pPr/>
          </a:p>
        </p:txBody>
      </p:sp>
      <p:sp>
        <p:nvSpPr>
          <p:cNvPr id="209" name="box-label-127"/>
          <p:cNvSpPr txBox="1"/>
          <p:nvPr/>
        </p:nvSpPr>
        <p:spPr>
          <a:xfrm>
            <a:off x="640080" y="5387261"/>
            <a:ext cx="3657601"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search_runbooks tool</a:t>
            </a:r>
          </a:p>
          <a:p>
            <a:pPr algn="ctr">
              <a:defRPr sz="1100">
                <a:solidFill>
                  <a:srgbClr val="FFFFFF"/>
                </a:solidFill>
              </a:defRPr>
            </a:pPr>
            <a:r>
              <a:t>Agent decides when to retrieve</a:t>
            </a:r>
          </a:p>
        </p:txBody>
      </p:sp>
      <p:sp>
        <p:nvSpPr>
          <p:cNvPr id="210" name="text-128"/>
          <p:cNvSpPr txBox="1"/>
          <p:nvPr/>
        </p:nvSpPr>
        <p:spPr>
          <a:xfrm>
            <a:off x="5029200" y="1554480"/>
            <a:ext cx="658368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Chunk on structure, not character count</a:t>
            </a:r>
            <a:endParaRPr sz="1400"/>
          </a:p>
          <a:p>
            <a:pPr>
              <a:defRPr sz="1400">
                <a:solidFill>
                  <a:schemeClr val="accent5"/>
                </a:solidFill>
              </a:defRPr>
            </a:pPr>
            <a:r>
              <a:t>Markdown headers become metadata, so every answer is citable: pod-security.md &gt; Privileged containers.</a:t>
            </a:r>
          </a:p>
        </p:txBody>
      </p:sp>
      <p:sp>
        <p:nvSpPr>
          <p:cNvPr id="211" name="text-129"/>
          <p:cNvSpPr txBox="1"/>
          <p:nvPr/>
        </p:nvSpPr>
        <p:spPr>
          <a:xfrm>
            <a:off x="5029200" y="2697479"/>
            <a:ext cx="658368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Embeddings are a two-method interface</a:t>
            </a:r>
            <a:endParaRPr sz="1400"/>
          </a:p>
          <a:p>
            <a:pPr>
              <a:defRPr sz="1400">
                <a:solidFill>
                  <a:schemeClr val="accent5"/>
                </a:solidFill>
              </a:defRPr>
            </a:pPr>
            <a:r>
              <a:t>embed_documents and embed_query. The local model keeps data in the boundary, which is the answer for air-gapped and regulated customers.</a:t>
            </a:r>
          </a:p>
        </p:txBody>
      </p:sp>
      <p:sp>
        <p:nvSpPr>
          <p:cNvPr id="212" name="text-130"/>
          <p:cNvSpPr txBox="1"/>
          <p:nvPr/>
        </p:nvSpPr>
        <p:spPr>
          <a:xfrm>
            <a:off x="5029200" y="3840479"/>
            <a:ext cx="658368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The store is swappable</a:t>
            </a:r>
            <a:endParaRPr sz="1400"/>
          </a:p>
          <a:p>
            <a:pPr>
              <a:defRPr sz="1400">
                <a:solidFill>
                  <a:schemeClr val="accent5"/>
                </a:solidFill>
              </a:defRPr>
            </a:pPr>
            <a:r>
              <a:t>InMemoryVectorStore for the build; pgvector, OpenSearch or Pinecone in production behind the same API.</a:t>
            </a:r>
          </a:p>
        </p:txBody>
      </p:sp>
      <p:sp>
        <p:nvSpPr>
          <p:cNvPr id="213" name="text-131"/>
          <p:cNvSpPr txBox="1"/>
          <p:nvPr/>
        </p:nvSpPr>
        <p:spPr>
          <a:xfrm>
            <a:off x="5029200" y="4983479"/>
            <a:ext cx="6583681"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Retrieval is a tool, not a pre-step</a:t>
            </a:r>
            <a:endParaRPr sz="1400"/>
          </a:p>
          <a:p>
            <a:pPr>
              <a:defRPr sz="1400">
                <a:solidFill>
                  <a:schemeClr val="accent5"/>
                </a:solidFill>
              </a:defRPr>
            </a:pPr>
            <a:r>
              <a:t>Agentic RAG: the model retrieves only when it needs policy or an SLA.</a:t>
            </a:r>
          </a:p>
        </p:txBody>
      </p:sp>
      <p:sp>
        <p:nvSpPr>
          <p:cNvPr id="214"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Text 0"/>
          <p:cNvSpPr txBox="1"/>
          <p:nvPr>
            <p:ph type="body" sz="quarter" idx="1"/>
          </p:nvPr>
        </p:nvSpPr>
        <p:spPr>
          <a:prstGeom prst="rect">
            <a:avLst/>
          </a:prstGeom>
        </p:spPr>
        <p:txBody>
          <a:bodyPr lIns="0" tIns="0" rIns="0" bIns="0"/>
          <a:lstStyle/>
          <a:p>
            <a:pPr/>
            <a:r>
              <a:t>MODULE 3 · LANGGRAPH</a:t>
            </a:r>
          </a:p>
        </p:txBody>
      </p:sp>
      <p:sp>
        <p:nvSpPr>
          <p:cNvPr id="219" name="Text 0"/>
          <p:cNvSpPr txBox="1"/>
          <p:nvPr>
            <p:ph type="title"/>
          </p:nvPr>
        </p:nvSpPr>
        <p:spPr>
          <a:xfrm>
            <a:off x="548639" y="585216"/>
            <a:ext cx="11094417" cy="731521"/>
          </a:xfrm>
          <a:prstGeom prst="rect">
            <a:avLst/>
          </a:prstGeom>
        </p:spPr>
        <p:txBody>
          <a:bodyPr lIns="0" tIns="0" rIns="0" bIns="0"/>
          <a:lstStyle/>
          <a:p>
            <a:pPr/>
            <a:r>
              <a:t>Deterministic flow with a human approval gate</a:t>
            </a:r>
          </a:p>
        </p:txBody>
      </p:sp>
      <p:sp>
        <p:nvSpPr>
          <p:cNvPr id="220" name="card-132"/>
          <p:cNvSpPr/>
          <p:nvPr/>
        </p:nvSpPr>
        <p:spPr>
          <a:xfrm>
            <a:off x="548640" y="1691639"/>
            <a:ext cx="914401" cy="731521"/>
          </a:xfrm>
          <a:prstGeom prst="roundRect">
            <a:avLst>
              <a:gd name="adj" fmla="val 15000"/>
            </a:avLst>
          </a:prstGeom>
          <a:solidFill>
            <a:srgbClr val="12332B"/>
          </a:solidFill>
          <a:ln w="12700">
            <a:solidFill>
              <a:srgbClr val="12332B"/>
            </a:solidFill>
          </a:ln>
        </p:spPr>
        <p:txBody>
          <a:bodyPr lIns="45719" rIns="45719"/>
          <a:lstStyle/>
          <a:p>
            <a:pPr/>
          </a:p>
        </p:txBody>
      </p:sp>
      <p:sp>
        <p:nvSpPr>
          <p:cNvPr id="221" name="box-label-133"/>
          <p:cNvSpPr txBox="1"/>
          <p:nvPr/>
        </p:nvSpPr>
        <p:spPr>
          <a:xfrm>
            <a:off x="640080" y="1978967"/>
            <a:ext cx="7315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START</a:t>
            </a:r>
          </a:p>
        </p:txBody>
      </p:sp>
      <p:sp>
        <p:nvSpPr>
          <p:cNvPr id="222" name="card-134"/>
          <p:cNvSpPr/>
          <p:nvPr/>
        </p:nvSpPr>
        <p:spPr>
          <a:xfrm>
            <a:off x="1737360" y="1691639"/>
            <a:ext cx="1828801" cy="731521"/>
          </a:xfrm>
          <a:prstGeom prst="roundRect">
            <a:avLst>
              <a:gd name="adj" fmla="val 15000"/>
            </a:avLst>
          </a:prstGeom>
          <a:solidFill>
            <a:srgbClr val="EEF5F1"/>
          </a:solidFill>
          <a:ln w="12700">
            <a:solidFill>
              <a:srgbClr val="EEF5F1"/>
            </a:solidFill>
          </a:ln>
        </p:spPr>
        <p:txBody>
          <a:bodyPr lIns="45719" rIns="45719"/>
          <a:lstStyle/>
          <a:p>
            <a:pPr/>
          </a:p>
        </p:txBody>
      </p:sp>
      <p:sp>
        <p:nvSpPr>
          <p:cNvPr id="223" name="box-label-135"/>
          <p:cNvSpPr txBox="1"/>
          <p:nvPr/>
        </p:nvSpPr>
        <p:spPr>
          <a:xfrm>
            <a:off x="1828800" y="1875966"/>
            <a:ext cx="1645921" cy="3628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500"/>
            </a:pPr>
            <a:r>
              <a:t>scan</a:t>
            </a:r>
          </a:p>
          <a:p>
            <a:pPr algn="ctr">
              <a:defRPr sz="1100">
                <a:solidFill>
                  <a:schemeClr val="accent5"/>
                </a:solidFill>
              </a:defRPr>
            </a:pPr>
            <a:r>
              <a:t>deterministic + store</a:t>
            </a:r>
          </a:p>
        </p:txBody>
      </p:sp>
      <p:sp>
        <p:nvSpPr>
          <p:cNvPr id="224" name="card-136"/>
          <p:cNvSpPr/>
          <p:nvPr/>
        </p:nvSpPr>
        <p:spPr>
          <a:xfrm>
            <a:off x="3840479" y="1691639"/>
            <a:ext cx="1828801" cy="731521"/>
          </a:xfrm>
          <a:prstGeom prst="roundRect">
            <a:avLst>
              <a:gd name="adj" fmla="val 15000"/>
            </a:avLst>
          </a:prstGeom>
          <a:solidFill>
            <a:srgbClr val="EEF5F1"/>
          </a:solidFill>
          <a:ln w="12700">
            <a:solidFill>
              <a:srgbClr val="EEF5F1"/>
            </a:solidFill>
          </a:ln>
        </p:spPr>
        <p:txBody>
          <a:bodyPr lIns="45719" rIns="45719"/>
          <a:lstStyle/>
          <a:p>
            <a:pPr/>
          </a:p>
        </p:txBody>
      </p:sp>
      <p:sp>
        <p:nvSpPr>
          <p:cNvPr id="225" name="box-label-137"/>
          <p:cNvSpPr txBox="1"/>
          <p:nvPr/>
        </p:nvSpPr>
        <p:spPr>
          <a:xfrm>
            <a:off x="3931920" y="1875966"/>
            <a:ext cx="1645921" cy="3628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500"/>
            </a:pPr>
            <a:r>
              <a:t>plan</a:t>
            </a:r>
          </a:p>
          <a:p>
            <a:pPr algn="ctr">
              <a:defRPr sz="1100">
                <a:solidFill>
                  <a:schemeClr val="accent5"/>
                </a:solidFill>
              </a:defRPr>
            </a:pPr>
            <a:r>
              <a:t>LLM + runbook RAG</a:t>
            </a:r>
          </a:p>
        </p:txBody>
      </p:sp>
      <p:sp>
        <p:nvSpPr>
          <p:cNvPr id="226" name="decision-138"/>
          <p:cNvSpPr/>
          <p:nvPr/>
        </p:nvSpPr>
        <p:spPr>
          <a:xfrm>
            <a:off x="5989320" y="1600200"/>
            <a:ext cx="1188721" cy="914400"/>
          </a:xfrm>
          <a:prstGeom prst="diamond">
            <a:avLst/>
          </a:prstGeom>
          <a:solidFill>
            <a:srgbClr val="EEF5F1"/>
          </a:solidFill>
          <a:ln w="15875">
            <a:solidFill>
              <a:schemeClr val="accent3"/>
            </a:solidFill>
          </a:ln>
        </p:spPr>
        <p:txBody>
          <a:bodyPr lIns="45719" rIns="45719"/>
          <a:lstStyle/>
          <a:p>
            <a:pPr/>
          </a:p>
        </p:txBody>
      </p:sp>
      <p:sp>
        <p:nvSpPr>
          <p:cNvPr id="227" name="text-139"/>
          <p:cNvSpPr txBox="1"/>
          <p:nvPr/>
        </p:nvSpPr>
        <p:spPr>
          <a:xfrm>
            <a:off x="5989320" y="1978967"/>
            <a:ext cx="11887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lvl1pPr>
          </a:lstStyle>
          <a:p>
            <a:pPr/>
            <a:r>
              <a:t>HIGH+?</a:t>
            </a:r>
          </a:p>
        </p:txBody>
      </p:sp>
      <p:sp>
        <p:nvSpPr>
          <p:cNvPr id="228" name="card-140"/>
          <p:cNvSpPr/>
          <p:nvPr/>
        </p:nvSpPr>
        <p:spPr>
          <a:xfrm>
            <a:off x="7543800" y="1691639"/>
            <a:ext cx="2011680" cy="731521"/>
          </a:xfrm>
          <a:prstGeom prst="roundRect">
            <a:avLst>
              <a:gd name="adj" fmla="val 15000"/>
            </a:avLst>
          </a:prstGeom>
          <a:solidFill>
            <a:srgbClr val="FBEBD3"/>
          </a:solidFill>
          <a:ln w="12700">
            <a:solidFill>
              <a:srgbClr val="FBEBD3"/>
            </a:solidFill>
          </a:ln>
        </p:spPr>
        <p:txBody>
          <a:bodyPr lIns="45719" rIns="45719"/>
          <a:lstStyle/>
          <a:p>
            <a:pPr/>
          </a:p>
        </p:txBody>
      </p:sp>
      <p:sp>
        <p:nvSpPr>
          <p:cNvPr id="229" name="box-label-141"/>
          <p:cNvSpPr txBox="1"/>
          <p:nvPr/>
        </p:nvSpPr>
        <p:spPr>
          <a:xfrm>
            <a:off x="7635240" y="1875966"/>
            <a:ext cx="1828801" cy="3628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500"/>
            </a:pPr>
            <a:r>
              <a:t>human_review</a:t>
            </a:r>
          </a:p>
          <a:p>
            <a:pPr algn="ctr">
              <a:defRPr sz="1100">
                <a:solidFill>
                  <a:schemeClr val="accent5"/>
                </a:solidFill>
              </a:defRPr>
            </a:pPr>
            <a:r>
              <a:t>interrupt()</a:t>
            </a:r>
          </a:p>
        </p:txBody>
      </p:sp>
      <p:sp>
        <p:nvSpPr>
          <p:cNvPr id="230" name="card-142"/>
          <p:cNvSpPr/>
          <p:nvPr/>
        </p:nvSpPr>
        <p:spPr>
          <a:xfrm>
            <a:off x="9811511" y="2971800"/>
            <a:ext cx="1828801" cy="731520"/>
          </a:xfrm>
          <a:prstGeom prst="roundRect">
            <a:avLst>
              <a:gd name="adj" fmla="val 15000"/>
            </a:avLst>
          </a:prstGeom>
          <a:solidFill>
            <a:srgbClr val="EEF5F1"/>
          </a:solidFill>
          <a:ln w="12700">
            <a:solidFill>
              <a:srgbClr val="EEF5F1"/>
            </a:solidFill>
          </a:ln>
        </p:spPr>
        <p:txBody>
          <a:bodyPr lIns="45719" rIns="45719"/>
          <a:lstStyle/>
          <a:p>
            <a:pPr/>
          </a:p>
        </p:txBody>
      </p:sp>
      <p:sp>
        <p:nvSpPr>
          <p:cNvPr id="231" name="box-label-143"/>
          <p:cNvSpPr txBox="1"/>
          <p:nvPr/>
        </p:nvSpPr>
        <p:spPr>
          <a:xfrm>
            <a:off x="9902952" y="3156125"/>
            <a:ext cx="1645921" cy="3628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500"/>
            </a:pPr>
            <a:r>
              <a:t>finalize</a:t>
            </a:r>
          </a:p>
          <a:p>
            <a:pPr algn="ctr">
              <a:defRPr sz="1100">
                <a:solidFill>
                  <a:schemeClr val="accent5"/>
                </a:solidFill>
              </a:defRPr>
            </a:pPr>
            <a:r>
              <a:t>report</a:t>
            </a:r>
          </a:p>
        </p:txBody>
      </p:sp>
      <p:sp>
        <p:nvSpPr>
          <p:cNvPr id="232" name="card-144"/>
          <p:cNvSpPr/>
          <p:nvPr/>
        </p:nvSpPr>
        <p:spPr>
          <a:xfrm>
            <a:off x="9811511" y="1691639"/>
            <a:ext cx="1828801" cy="731521"/>
          </a:xfrm>
          <a:prstGeom prst="roundRect">
            <a:avLst>
              <a:gd name="adj" fmla="val 15000"/>
            </a:avLst>
          </a:prstGeom>
          <a:solidFill>
            <a:srgbClr val="12332B"/>
          </a:solidFill>
          <a:ln w="12700">
            <a:solidFill>
              <a:srgbClr val="12332B"/>
            </a:solidFill>
          </a:ln>
        </p:spPr>
        <p:txBody>
          <a:bodyPr lIns="45719" rIns="45719"/>
          <a:lstStyle/>
          <a:p>
            <a:pPr/>
          </a:p>
        </p:txBody>
      </p:sp>
      <p:sp>
        <p:nvSpPr>
          <p:cNvPr id="233" name="box-label-145"/>
          <p:cNvSpPr txBox="1"/>
          <p:nvPr/>
        </p:nvSpPr>
        <p:spPr>
          <a:xfrm>
            <a:off x="9902952" y="1978967"/>
            <a:ext cx="16459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END</a:t>
            </a:r>
          </a:p>
        </p:txBody>
      </p:sp>
      <p:sp>
        <p:nvSpPr>
          <p:cNvPr id="234" name="arrow-146"/>
          <p:cNvSpPr/>
          <p:nvPr/>
        </p:nvSpPr>
        <p:spPr>
          <a:xfrm>
            <a:off x="1463039" y="2057399"/>
            <a:ext cx="274321" cy="915"/>
          </a:xfrm>
          <a:prstGeom prst="line">
            <a:avLst/>
          </a:prstGeom>
          <a:ln w="19050">
            <a:solidFill>
              <a:schemeClr val="accent5"/>
            </a:solidFill>
            <a:tailEnd type="triangle"/>
          </a:ln>
        </p:spPr>
        <p:txBody>
          <a:bodyPr lIns="45719" rIns="45719"/>
          <a:lstStyle/>
          <a:p>
            <a:pPr/>
          </a:p>
        </p:txBody>
      </p:sp>
      <p:sp>
        <p:nvSpPr>
          <p:cNvPr id="235" name="arrow-147"/>
          <p:cNvSpPr/>
          <p:nvPr/>
        </p:nvSpPr>
        <p:spPr>
          <a:xfrm>
            <a:off x="3566159" y="2057399"/>
            <a:ext cx="274321" cy="915"/>
          </a:xfrm>
          <a:prstGeom prst="line">
            <a:avLst/>
          </a:prstGeom>
          <a:ln w="19050">
            <a:solidFill>
              <a:schemeClr val="accent5"/>
            </a:solidFill>
            <a:tailEnd type="triangle"/>
          </a:ln>
        </p:spPr>
        <p:txBody>
          <a:bodyPr lIns="45719" rIns="45719"/>
          <a:lstStyle/>
          <a:p>
            <a:pPr/>
          </a:p>
        </p:txBody>
      </p:sp>
      <p:sp>
        <p:nvSpPr>
          <p:cNvPr id="236" name="arrow-148"/>
          <p:cNvSpPr/>
          <p:nvPr/>
        </p:nvSpPr>
        <p:spPr>
          <a:xfrm>
            <a:off x="5669279" y="2057399"/>
            <a:ext cx="320041" cy="915"/>
          </a:xfrm>
          <a:prstGeom prst="line">
            <a:avLst/>
          </a:prstGeom>
          <a:ln w="19050">
            <a:solidFill>
              <a:schemeClr val="accent5"/>
            </a:solidFill>
            <a:tailEnd type="triangle"/>
          </a:ln>
        </p:spPr>
        <p:txBody>
          <a:bodyPr lIns="45719" rIns="45719"/>
          <a:lstStyle/>
          <a:p>
            <a:pPr/>
          </a:p>
        </p:txBody>
      </p:sp>
      <p:sp>
        <p:nvSpPr>
          <p:cNvPr id="237" name="arrow-149"/>
          <p:cNvSpPr/>
          <p:nvPr/>
        </p:nvSpPr>
        <p:spPr>
          <a:xfrm>
            <a:off x="7178039" y="2057399"/>
            <a:ext cx="365761" cy="915"/>
          </a:xfrm>
          <a:prstGeom prst="line">
            <a:avLst/>
          </a:prstGeom>
          <a:ln w="19050">
            <a:solidFill>
              <a:schemeClr val="accent5"/>
            </a:solidFill>
            <a:tailEnd type="triangle"/>
          </a:ln>
        </p:spPr>
        <p:txBody>
          <a:bodyPr lIns="45719" rIns="45719"/>
          <a:lstStyle/>
          <a:p>
            <a:pPr/>
          </a:p>
        </p:txBody>
      </p:sp>
      <p:sp>
        <p:nvSpPr>
          <p:cNvPr id="238" name="arrow-150"/>
          <p:cNvSpPr/>
          <p:nvPr/>
        </p:nvSpPr>
        <p:spPr>
          <a:xfrm>
            <a:off x="6583680" y="2514599"/>
            <a:ext cx="915" cy="822961"/>
          </a:xfrm>
          <a:prstGeom prst="line">
            <a:avLst/>
          </a:prstGeom>
          <a:ln w="19050">
            <a:solidFill>
              <a:schemeClr val="accent5"/>
            </a:solidFill>
            <a:tailEnd type="triangle"/>
          </a:ln>
        </p:spPr>
        <p:txBody>
          <a:bodyPr lIns="45719" rIns="45719"/>
          <a:lstStyle/>
          <a:p>
            <a:pPr/>
          </a:p>
        </p:txBody>
      </p:sp>
      <p:sp>
        <p:nvSpPr>
          <p:cNvPr id="239" name="arrow-151"/>
          <p:cNvSpPr/>
          <p:nvPr/>
        </p:nvSpPr>
        <p:spPr>
          <a:xfrm>
            <a:off x="6583680" y="3337559"/>
            <a:ext cx="3227833" cy="916"/>
          </a:xfrm>
          <a:prstGeom prst="line">
            <a:avLst/>
          </a:prstGeom>
          <a:ln w="19050">
            <a:solidFill>
              <a:schemeClr val="accent5"/>
            </a:solidFill>
            <a:tailEnd type="triangle"/>
          </a:ln>
        </p:spPr>
        <p:txBody>
          <a:bodyPr lIns="45719" rIns="45719"/>
          <a:lstStyle/>
          <a:p>
            <a:pPr/>
          </a:p>
        </p:txBody>
      </p:sp>
      <p:sp>
        <p:nvSpPr>
          <p:cNvPr id="240" name="arrow-152"/>
          <p:cNvSpPr/>
          <p:nvPr/>
        </p:nvSpPr>
        <p:spPr>
          <a:xfrm>
            <a:off x="8549639" y="2423159"/>
            <a:ext cx="1261873" cy="731522"/>
          </a:xfrm>
          <a:prstGeom prst="line">
            <a:avLst/>
          </a:prstGeom>
          <a:ln w="19050">
            <a:solidFill>
              <a:schemeClr val="accent5"/>
            </a:solidFill>
            <a:tailEnd type="triangle"/>
          </a:ln>
        </p:spPr>
        <p:txBody>
          <a:bodyPr lIns="45719" rIns="45719"/>
          <a:lstStyle/>
          <a:p>
            <a:pPr/>
          </a:p>
        </p:txBody>
      </p:sp>
      <p:sp>
        <p:nvSpPr>
          <p:cNvPr id="241" name="arrow-153"/>
          <p:cNvSpPr/>
          <p:nvPr/>
        </p:nvSpPr>
        <p:spPr>
          <a:xfrm flipV="1">
            <a:off x="10725912" y="2423160"/>
            <a:ext cx="915" cy="548641"/>
          </a:xfrm>
          <a:prstGeom prst="line">
            <a:avLst/>
          </a:prstGeom>
          <a:ln w="19050">
            <a:solidFill>
              <a:schemeClr val="accent5"/>
            </a:solidFill>
            <a:tailEnd type="triangle"/>
          </a:ln>
        </p:spPr>
        <p:txBody>
          <a:bodyPr lIns="45719" rIns="45719"/>
          <a:lstStyle/>
          <a:p>
            <a:pPr/>
          </a:p>
        </p:txBody>
      </p:sp>
      <p:sp>
        <p:nvSpPr>
          <p:cNvPr id="242" name="text-154"/>
          <p:cNvSpPr txBox="1"/>
          <p:nvPr/>
        </p:nvSpPr>
        <p:spPr>
          <a:xfrm>
            <a:off x="6720840" y="3383279"/>
            <a:ext cx="292608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chemeClr val="accent5"/>
                </a:solidFill>
              </a:defRPr>
            </a:lvl1pPr>
          </a:lstStyle>
          <a:p>
            <a:pPr/>
            <a:r>
              <a:t>MEDIUM or below: auto-approve</a:t>
            </a:r>
          </a:p>
        </p:txBody>
      </p:sp>
      <p:sp>
        <p:nvSpPr>
          <p:cNvPr id="243" name="card-155"/>
          <p:cNvSpPr/>
          <p:nvPr/>
        </p:nvSpPr>
        <p:spPr>
          <a:xfrm>
            <a:off x="548640" y="4023359"/>
            <a:ext cx="2615184" cy="1737361"/>
          </a:xfrm>
          <a:prstGeom prst="roundRect">
            <a:avLst>
              <a:gd name="adj" fmla="val 6316"/>
            </a:avLst>
          </a:prstGeom>
          <a:solidFill>
            <a:srgbClr val="EEF5F1"/>
          </a:solidFill>
          <a:ln w="12700">
            <a:solidFill>
              <a:srgbClr val="EEF5F1"/>
            </a:solidFill>
          </a:ln>
        </p:spPr>
        <p:txBody>
          <a:bodyPr lIns="45719" rIns="45719"/>
          <a:lstStyle/>
          <a:p>
            <a:pPr/>
          </a:p>
        </p:txBody>
      </p:sp>
      <p:sp>
        <p:nvSpPr>
          <p:cNvPr id="244" name="text-156"/>
          <p:cNvSpPr txBox="1"/>
          <p:nvPr/>
        </p:nvSpPr>
        <p:spPr>
          <a:xfrm>
            <a:off x="749807" y="4206240"/>
            <a:ext cx="2212850" cy="849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100">
                <a:solidFill>
                  <a:schemeClr val="accent3"/>
                </a:solidFill>
              </a:defRPr>
            </a:pPr>
            <a:r>
              <a:t>ONE RUN</a:t>
            </a:r>
            <a:endParaRPr spc="127" sz="1400"/>
          </a:p>
          <a:p>
            <a:pPr>
              <a:defRPr b="1" sz="1700"/>
            </a:pPr>
            <a:r>
              <a:t>State</a:t>
            </a:r>
            <a:endParaRPr sz="1400"/>
          </a:p>
          <a:p>
            <a:pPr>
              <a:defRPr sz="1400">
                <a:solidFill>
                  <a:schemeClr val="accent5"/>
                </a:solidFill>
              </a:defRPr>
            </a:pPr>
            <a:r>
              <a:t>Findings, plan and decision flowing between nodes</a:t>
            </a:r>
          </a:p>
        </p:txBody>
      </p:sp>
      <p:sp>
        <p:nvSpPr>
          <p:cNvPr id="245" name="card-157"/>
          <p:cNvSpPr/>
          <p:nvPr/>
        </p:nvSpPr>
        <p:spPr>
          <a:xfrm>
            <a:off x="3364991" y="4023359"/>
            <a:ext cx="2615185" cy="1737361"/>
          </a:xfrm>
          <a:prstGeom prst="roundRect">
            <a:avLst>
              <a:gd name="adj" fmla="val 6316"/>
            </a:avLst>
          </a:prstGeom>
          <a:solidFill>
            <a:srgbClr val="EEF5F1"/>
          </a:solidFill>
          <a:ln w="12700">
            <a:solidFill>
              <a:srgbClr val="EEF5F1"/>
            </a:solidFill>
          </a:ln>
        </p:spPr>
        <p:txBody>
          <a:bodyPr lIns="45719" rIns="45719"/>
          <a:lstStyle/>
          <a:p>
            <a:pPr/>
          </a:p>
        </p:txBody>
      </p:sp>
      <p:sp>
        <p:nvSpPr>
          <p:cNvPr id="246" name="text-158"/>
          <p:cNvSpPr txBox="1"/>
          <p:nvPr/>
        </p:nvSpPr>
        <p:spPr>
          <a:xfrm>
            <a:off x="3566159" y="4206240"/>
            <a:ext cx="2212849" cy="849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100">
                <a:solidFill>
                  <a:schemeClr val="accent3"/>
                </a:solidFill>
              </a:defRPr>
            </a:pPr>
            <a:r>
              <a:t>ONE THREAD</a:t>
            </a:r>
            <a:endParaRPr spc="127" sz="1400"/>
          </a:p>
          <a:p>
            <a:pPr>
              <a:defRPr b="1" sz="1700"/>
            </a:pPr>
            <a:r>
              <a:t>Checkpointer</a:t>
            </a:r>
            <a:endParaRPr sz="1400"/>
          </a:p>
          <a:p>
            <a:pPr>
              <a:defRPr sz="1400">
                <a:solidFill>
                  <a:schemeClr val="accent5"/>
                </a:solidFill>
              </a:defRPr>
            </a:pPr>
            <a:r>
              <a:t>Pause for days, resume from any process, time-travel</a:t>
            </a:r>
          </a:p>
        </p:txBody>
      </p:sp>
      <p:sp>
        <p:nvSpPr>
          <p:cNvPr id="247" name="card-159"/>
          <p:cNvSpPr/>
          <p:nvPr/>
        </p:nvSpPr>
        <p:spPr>
          <a:xfrm>
            <a:off x="6181344" y="4023359"/>
            <a:ext cx="2615184" cy="1737361"/>
          </a:xfrm>
          <a:prstGeom prst="roundRect">
            <a:avLst>
              <a:gd name="adj" fmla="val 6316"/>
            </a:avLst>
          </a:prstGeom>
          <a:solidFill>
            <a:srgbClr val="EEF5F1"/>
          </a:solidFill>
          <a:ln w="12700">
            <a:solidFill>
              <a:srgbClr val="EEF5F1"/>
            </a:solidFill>
          </a:ln>
        </p:spPr>
        <p:txBody>
          <a:bodyPr lIns="45719" rIns="45719"/>
          <a:lstStyle/>
          <a:p>
            <a:pPr/>
          </a:p>
        </p:txBody>
      </p:sp>
      <p:sp>
        <p:nvSpPr>
          <p:cNvPr id="248" name="text-160"/>
          <p:cNvSpPr txBox="1"/>
          <p:nvPr/>
        </p:nvSpPr>
        <p:spPr>
          <a:xfrm>
            <a:off x="6382511" y="4206240"/>
            <a:ext cx="2212850" cy="849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100">
                <a:solidFill>
                  <a:schemeClr val="accent3"/>
                </a:solidFill>
              </a:defRPr>
            </a:pPr>
            <a:r>
              <a:t>ACROSS THREADS</a:t>
            </a:r>
            <a:endParaRPr spc="127" sz="1400"/>
          </a:p>
          <a:p>
            <a:pPr>
              <a:defRPr b="1" sz="1700"/>
            </a:pPr>
            <a:r>
              <a:t>Store</a:t>
            </a:r>
            <a:endParaRPr sz="1400"/>
          </a:p>
          <a:p>
            <a:pPr>
              <a:defRPr sz="1400">
                <a:solidFill>
                  <a:schemeClr val="accent5"/>
                </a:solidFill>
              </a:defRPr>
            </a:pPr>
            <a:r>
              <a:t>Risk acceptances per team: next run suppresses the rule</a:t>
            </a:r>
          </a:p>
        </p:txBody>
      </p:sp>
      <p:sp>
        <p:nvSpPr>
          <p:cNvPr id="249" name="card-161"/>
          <p:cNvSpPr/>
          <p:nvPr/>
        </p:nvSpPr>
        <p:spPr>
          <a:xfrm>
            <a:off x="8997695" y="4023359"/>
            <a:ext cx="2615185" cy="1737361"/>
          </a:xfrm>
          <a:prstGeom prst="roundRect">
            <a:avLst>
              <a:gd name="adj" fmla="val 6316"/>
            </a:avLst>
          </a:prstGeom>
          <a:solidFill>
            <a:srgbClr val="EEF5F1"/>
          </a:solidFill>
          <a:ln w="12700">
            <a:solidFill>
              <a:srgbClr val="EEF5F1"/>
            </a:solidFill>
          </a:ln>
        </p:spPr>
        <p:txBody>
          <a:bodyPr lIns="45719" rIns="45719"/>
          <a:lstStyle/>
          <a:p>
            <a:pPr/>
          </a:p>
        </p:txBody>
      </p:sp>
      <p:sp>
        <p:nvSpPr>
          <p:cNvPr id="250" name="text-162"/>
          <p:cNvSpPr txBox="1"/>
          <p:nvPr/>
        </p:nvSpPr>
        <p:spPr>
          <a:xfrm>
            <a:off x="9198864" y="4206240"/>
            <a:ext cx="2212849" cy="849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100">
                <a:solidFill>
                  <a:schemeClr val="accent3"/>
                </a:solidFill>
              </a:defRPr>
            </a:pPr>
            <a:r>
              <a:t>ONE CALL</a:t>
            </a:r>
            <a:endParaRPr spc="127" sz="1400"/>
          </a:p>
          <a:p>
            <a:pPr>
              <a:defRPr b="1" sz="1700"/>
            </a:pPr>
            <a:r>
              <a:t>Runtime context</a:t>
            </a:r>
            <a:endParaRPr sz="1400"/>
          </a:p>
          <a:p>
            <a:pPr>
              <a:defRPr sz="1400">
                <a:solidFill>
                  <a:schemeClr val="accent5"/>
                </a:solidFill>
              </a:defRPr>
            </a:pPr>
            <a:r>
              <a:t>Who is asking (team, reviewer): read-only, not state</a:t>
            </a:r>
          </a:p>
        </p:txBody>
      </p:sp>
      <p:sp>
        <p:nvSpPr>
          <p:cNvPr id="251"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Text 0"/>
          <p:cNvSpPr txBox="1"/>
          <p:nvPr>
            <p:ph type="body" sz="quarter" idx="1"/>
          </p:nvPr>
        </p:nvSpPr>
        <p:spPr>
          <a:prstGeom prst="rect">
            <a:avLst/>
          </a:prstGeom>
        </p:spPr>
        <p:txBody>
          <a:bodyPr lIns="0" tIns="0" rIns="0" bIns="0"/>
          <a:lstStyle/>
          <a:p>
            <a:pPr/>
            <a:r>
              <a:t>MODULE 4 · MULTI-AGENT</a:t>
            </a:r>
          </a:p>
        </p:txBody>
      </p:sp>
      <p:sp>
        <p:nvSpPr>
          <p:cNvPr id="256" name="Text 0"/>
          <p:cNvSpPr txBox="1"/>
          <p:nvPr>
            <p:ph type="title"/>
          </p:nvPr>
        </p:nvSpPr>
        <p:spPr>
          <a:xfrm>
            <a:off x="548639" y="585216"/>
            <a:ext cx="11094417" cy="731521"/>
          </a:xfrm>
          <a:prstGeom prst="rect">
            <a:avLst/>
          </a:prstGeom>
        </p:spPr>
        <p:txBody>
          <a:bodyPr lIns="0" tIns="0" rIns="0" bIns="0"/>
          <a:lstStyle/>
          <a:p>
            <a:pPr/>
            <a:r>
              <a:t>A supervisor delegates to narrow specialists</a:t>
            </a:r>
          </a:p>
        </p:txBody>
      </p:sp>
      <p:sp>
        <p:nvSpPr>
          <p:cNvPr id="257" name="card-163"/>
          <p:cNvSpPr/>
          <p:nvPr/>
        </p:nvSpPr>
        <p:spPr>
          <a:xfrm>
            <a:off x="1691639" y="1600200"/>
            <a:ext cx="3291842" cy="868681"/>
          </a:xfrm>
          <a:prstGeom prst="roundRect">
            <a:avLst>
              <a:gd name="adj" fmla="val 12632"/>
            </a:avLst>
          </a:prstGeom>
          <a:solidFill>
            <a:srgbClr val="12332B"/>
          </a:solidFill>
          <a:ln w="12700">
            <a:solidFill>
              <a:srgbClr val="12332B"/>
            </a:solidFill>
          </a:ln>
        </p:spPr>
        <p:txBody>
          <a:bodyPr lIns="45719" rIns="45719"/>
          <a:lstStyle/>
          <a:p>
            <a:pPr/>
          </a:p>
        </p:txBody>
      </p:sp>
      <p:sp>
        <p:nvSpPr>
          <p:cNvPr id="258" name="box-label-164"/>
          <p:cNvSpPr txBox="1"/>
          <p:nvPr/>
        </p:nvSpPr>
        <p:spPr>
          <a:xfrm>
            <a:off x="1783079" y="1840406"/>
            <a:ext cx="3108961" cy="388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600">
                <a:solidFill>
                  <a:srgbClr val="FFFFFF"/>
                </a:solidFill>
              </a:defRPr>
            </a:pPr>
            <a:r>
              <a:t>psc_supervisor</a:t>
            </a:r>
          </a:p>
          <a:p>
            <a:pPr algn="ctr">
              <a:defRPr sz="1100">
                <a:solidFill>
                  <a:schemeClr val="accent4"/>
                </a:solidFill>
              </a:defRPr>
            </a:pPr>
            <a:r>
              <a:t>Sonnet · plans, delegates, synthesizes</a:t>
            </a:r>
          </a:p>
        </p:txBody>
      </p:sp>
      <p:sp>
        <p:nvSpPr>
          <p:cNvPr id="259" name="card-165"/>
          <p:cNvSpPr/>
          <p:nvPr/>
        </p:nvSpPr>
        <p:spPr>
          <a:xfrm>
            <a:off x="548640" y="3246120"/>
            <a:ext cx="1764793" cy="914401"/>
          </a:xfrm>
          <a:prstGeom prst="roundRect">
            <a:avLst>
              <a:gd name="adj" fmla="val 12000"/>
            </a:avLst>
          </a:prstGeom>
          <a:solidFill>
            <a:srgbClr val="EEF5F1"/>
          </a:solidFill>
          <a:ln w="12700">
            <a:solidFill>
              <a:srgbClr val="EEF5F1"/>
            </a:solidFill>
          </a:ln>
        </p:spPr>
        <p:txBody>
          <a:bodyPr lIns="45719" rIns="45719"/>
          <a:lstStyle/>
          <a:p>
            <a:pPr/>
          </a:p>
        </p:txBody>
      </p:sp>
      <p:sp>
        <p:nvSpPr>
          <p:cNvPr id="260" name="box-label-166"/>
          <p:cNvSpPr txBox="1"/>
          <p:nvPr/>
        </p:nvSpPr>
        <p:spPr>
          <a:xfrm>
            <a:off x="640079" y="3534586"/>
            <a:ext cx="1581914" cy="337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300"/>
            </a:pPr>
            <a:r>
              <a:t>vuln_analyst</a:t>
            </a:r>
          </a:p>
          <a:p>
            <a:pPr algn="ctr">
              <a:defRPr sz="1100">
                <a:solidFill>
                  <a:schemeClr val="accent5"/>
                </a:solidFill>
              </a:defRPr>
            </a:pPr>
            <a:r>
              <a:t>Haiku · lookup_cve</a:t>
            </a:r>
          </a:p>
        </p:txBody>
      </p:sp>
      <p:sp>
        <p:nvSpPr>
          <p:cNvPr id="261" name="arrow-167"/>
          <p:cNvSpPr/>
          <p:nvPr/>
        </p:nvSpPr>
        <p:spPr>
          <a:xfrm flipH="1">
            <a:off x="1431036" y="2468879"/>
            <a:ext cx="1906525" cy="777242"/>
          </a:xfrm>
          <a:prstGeom prst="line">
            <a:avLst/>
          </a:prstGeom>
          <a:ln w="19050">
            <a:solidFill>
              <a:schemeClr val="accent5"/>
            </a:solidFill>
            <a:tailEnd type="triangle"/>
          </a:ln>
        </p:spPr>
        <p:txBody>
          <a:bodyPr lIns="45719" rIns="45719"/>
          <a:lstStyle/>
          <a:p>
            <a:pPr/>
          </a:p>
        </p:txBody>
      </p:sp>
      <p:sp>
        <p:nvSpPr>
          <p:cNvPr id="262" name="card-168"/>
          <p:cNvSpPr/>
          <p:nvPr/>
        </p:nvSpPr>
        <p:spPr>
          <a:xfrm>
            <a:off x="2441448" y="3246120"/>
            <a:ext cx="1764793" cy="914401"/>
          </a:xfrm>
          <a:prstGeom prst="roundRect">
            <a:avLst>
              <a:gd name="adj" fmla="val 12000"/>
            </a:avLst>
          </a:prstGeom>
          <a:solidFill>
            <a:srgbClr val="EEF5F1"/>
          </a:solidFill>
          <a:ln w="12700">
            <a:solidFill>
              <a:srgbClr val="EEF5F1"/>
            </a:solidFill>
          </a:ln>
        </p:spPr>
        <p:txBody>
          <a:bodyPr lIns="45719" rIns="45719"/>
          <a:lstStyle/>
          <a:p>
            <a:pPr/>
          </a:p>
        </p:txBody>
      </p:sp>
      <p:sp>
        <p:nvSpPr>
          <p:cNvPr id="263" name="box-label-169"/>
          <p:cNvSpPr txBox="1"/>
          <p:nvPr/>
        </p:nvSpPr>
        <p:spPr>
          <a:xfrm>
            <a:off x="2532888" y="3534586"/>
            <a:ext cx="1581913" cy="337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300"/>
            </a:pPr>
            <a:r>
              <a:t>k8s_auditor</a:t>
            </a:r>
          </a:p>
          <a:p>
            <a:pPr algn="ctr">
              <a:defRPr sz="1100">
                <a:solidFill>
                  <a:schemeClr val="accent5"/>
                </a:solidFill>
              </a:defRPr>
            </a:pPr>
            <a:r>
              <a:t>Haiku · scanner</a:t>
            </a:r>
          </a:p>
        </p:txBody>
      </p:sp>
      <p:sp>
        <p:nvSpPr>
          <p:cNvPr id="264" name="arrow-170"/>
          <p:cNvSpPr/>
          <p:nvPr/>
        </p:nvSpPr>
        <p:spPr>
          <a:xfrm flipH="1">
            <a:off x="3323844" y="2468879"/>
            <a:ext cx="13717" cy="777242"/>
          </a:xfrm>
          <a:prstGeom prst="line">
            <a:avLst/>
          </a:prstGeom>
          <a:ln w="19050">
            <a:solidFill>
              <a:schemeClr val="accent5"/>
            </a:solidFill>
            <a:tailEnd type="triangle"/>
          </a:ln>
        </p:spPr>
        <p:txBody>
          <a:bodyPr lIns="45719" rIns="45719"/>
          <a:lstStyle/>
          <a:p>
            <a:pPr/>
          </a:p>
        </p:txBody>
      </p:sp>
      <p:sp>
        <p:nvSpPr>
          <p:cNvPr id="265" name="card-171"/>
          <p:cNvSpPr/>
          <p:nvPr/>
        </p:nvSpPr>
        <p:spPr>
          <a:xfrm>
            <a:off x="4334255" y="3246120"/>
            <a:ext cx="1764794" cy="914401"/>
          </a:xfrm>
          <a:prstGeom prst="roundRect">
            <a:avLst>
              <a:gd name="adj" fmla="val 12000"/>
            </a:avLst>
          </a:prstGeom>
          <a:solidFill>
            <a:srgbClr val="EEF5F1"/>
          </a:solidFill>
          <a:ln w="12700">
            <a:solidFill>
              <a:srgbClr val="EEF5F1"/>
            </a:solidFill>
          </a:ln>
        </p:spPr>
        <p:txBody>
          <a:bodyPr lIns="45719" rIns="45719"/>
          <a:lstStyle/>
          <a:p>
            <a:pPr/>
          </a:p>
        </p:txBody>
      </p:sp>
      <p:sp>
        <p:nvSpPr>
          <p:cNvPr id="266" name="box-label-172"/>
          <p:cNvSpPr txBox="1"/>
          <p:nvPr/>
        </p:nvSpPr>
        <p:spPr>
          <a:xfrm>
            <a:off x="4425696" y="3534586"/>
            <a:ext cx="1581913" cy="337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300"/>
            </a:pPr>
            <a:r>
              <a:t>remediation_writer</a:t>
            </a:r>
          </a:p>
          <a:p>
            <a:pPr algn="ctr">
              <a:defRPr sz="1100">
                <a:solidFill>
                  <a:schemeClr val="accent5"/>
                </a:solidFill>
              </a:defRPr>
            </a:pPr>
            <a:r>
              <a:t>Sonnet · runbooks</a:t>
            </a:r>
          </a:p>
        </p:txBody>
      </p:sp>
      <p:sp>
        <p:nvSpPr>
          <p:cNvPr id="267" name="arrow-173"/>
          <p:cNvSpPr/>
          <p:nvPr/>
        </p:nvSpPr>
        <p:spPr>
          <a:xfrm>
            <a:off x="3337559" y="2468880"/>
            <a:ext cx="1879093" cy="777240"/>
          </a:xfrm>
          <a:prstGeom prst="line">
            <a:avLst/>
          </a:prstGeom>
          <a:ln w="19050">
            <a:solidFill>
              <a:schemeClr val="accent5"/>
            </a:solidFill>
            <a:tailEnd type="triangle"/>
          </a:ln>
        </p:spPr>
        <p:txBody>
          <a:bodyPr lIns="45719" rIns="45719"/>
          <a:lstStyle/>
          <a:p>
            <a:pPr/>
          </a:p>
        </p:txBody>
      </p:sp>
      <p:sp>
        <p:nvSpPr>
          <p:cNvPr id="268" name="text-174"/>
          <p:cNvSpPr txBox="1"/>
          <p:nvPr/>
        </p:nvSpPr>
        <p:spPr>
          <a:xfrm>
            <a:off x="548639" y="4434840"/>
            <a:ext cx="557784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pPr>
            <a:r>
              <a:t>Subagents are stateless: </a:t>
            </a:r>
            <a:r>
              <a:rPr b="0"/>
              <a:t>they get only the task and return only their final message, which keeps the supervisor's context small and lets mechanical work run on a cheaper model.</a:t>
            </a:r>
          </a:p>
        </p:txBody>
      </p:sp>
      <p:sp>
        <p:nvSpPr>
          <p:cNvPr id="269" name="text-175"/>
          <p:cNvSpPr txBox="1"/>
          <p:nvPr/>
        </p:nvSpPr>
        <p:spPr>
          <a:xfrm>
            <a:off x="548639" y="5577840"/>
            <a:ext cx="557784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300">
                <a:solidFill>
                  <a:schemeClr val="accent3"/>
                </a:solidFill>
              </a:defRPr>
            </a:lvl1pPr>
          </a:lstStyle>
          <a:p>
            <a:pPr/>
            <a:r>
              <a:t>Delegation runs in parallel; each specialist is a nested trace in LangSmith.</a:t>
            </a:r>
          </a:p>
        </p:txBody>
      </p:sp>
      <p:graphicFrame>
        <p:nvGraphicFramePr>
          <p:cNvPr id="270" name="patterns-176"/>
          <p:cNvGraphicFramePr/>
          <p:nvPr/>
        </p:nvGraphicFramePr>
        <p:xfrm>
          <a:off x="6400800" y="1600200"/>
          <a:ext cx="5239512" cy="340156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00200"/>
                <a:gridCol w="3639312"/>
              </a:tblGrid>
              <a:tr h="566928">
                <a:tc>
                  <a:txBody>
                    <a:bodyPr/>
                    <a:lstStyle/>
                    <a:p>
                      <a:pPr algn="l">
                        <a:defRPr sz="1800">
                          <a:solidFill>
                            <a:srgbClr val="000000"/>
                          </a:solidFill>
                        </a:defRPr>
                      </a:pPr>
                      <a:r>
                        <a:rPr b="1" sz="1300">
                          <a:solidFill>
                            <a:srgbClr val="FFFFFF"/>
                          </a:solidFill>
                        </a:rPr>
                        <a:t>Pattern</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c>
                  <a:txBody>
                    <a:bodyPr/>
                    <a:lstStyle/>
                    <a:p>
                      <a:pPr algn="l">
                        <a:defRPr sz="1800">
                          <a:solidFill>
                            <a:srgbClr val="000000"/>
                          </a:solidFill>
                        </a:defRPr>
                      </a:pPr>
                      <a:r>
                        <a:rPr b="1" sz="1300">
                          <a:solidFill>
                            <a:srgbClr val="FFFFFF"/>
                          </a:solidFill>
                        </a:rPr>
                        <a:t>Pick it when</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r>
              <a:tr h="566928">
                <a:tc>
                  <a:txBody>
                    <a:bodyPr/>
                    <a:lstStyle/>
                    <a:p>
                      <a:pPr algn="l">
                        <a:defRPr sz="1800">
                          <a:solidFill>
                            <a:srgbClr val="000000"/>
                          </a:solidFill>
                        </a:defRPr>
                      </a:pPr>
                      <a:r>
                        <a:rPr b="1" sz="1300">
                          <a:solidFill>
                            <a:srgbClr val="0E1A17"/>
                          </a:solidFill>
                        </a:rPr>
                        <a:t>Subagents</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Parallel, multi-domain work; teams own separate agents</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r>
              <a:tr h="566928">
                <a:tc>
                  <a:txBody>
                    <a:bodyPr/>
                    <a:lstStyle/>
                    <a:p>
                      <a:pPr algn="l">
                        <a:defRPr sz="1800">
                          <a:solidFill>
                            <a:srgbClr val="000000"/>
                          </a:solidFill>
                        </a:defRPr>
                      </a:pPr>
                      <a:r>
                        <a:rPr b="1" sz="1300">
                          <a:solidFill>
                            <a:srgbClr val="0E1A17"/>
                          </a:solidFill>
                        </a:rPr>
                        <a:t>Handoffs</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The user talks directly to the specialist</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r>
              <a:tr h="566928">
                <a:tc>
                  <a:txBody>
                    <a:bodyPr/>
                    <a:lstStyle/>
                    <a:p>
                      <a:pPr algn="l">
                        <a:defRPr sz="1800">
                          <a:solidFill>
                            <a:srgbClr val="000000"/>
                          </a:solidFill>
                        </a:defRPr>
                      </a:pPr>
                      <a:r>
                        <a:rPr b="1" sz="1300">
                          <a:solidFill>
                            <a:srgbClr val="0E1A17"/>
                          </a:solidFill>
                        </a:rPr>
                        <a:t>Skills</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Many narrow capabilities, one agent in control</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r>
              <a:tr h="566928">
                <a:tc>
                  <a:txBody>
                    <a:bodyPr/>
                    <a:lstStyle/>
                    <a:p>
                      <a:pPr algn="l">
                        <a:defRPr sz="1800">
                          <a:solidFill>
                            <a:srgbClr val="000000"/>
                          </a:solidFill>
                        </a:defRPr>
                      </a:pPr>
                      <a:r>
                        <a:rPr b="1" sz="1300">
                          <a:solidFill>
                            <a:srgbClr val="0E1A17"/>
                          </a:solidFill>
                        </a:rPr>
                        <a:t>Router</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Clear input categories, parallel fan-out</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r>
              <a:tr h="566928">
                <a:tc>
                  <a:txBody>
                    <a:bodyPr/>
                    <a:lstStyle/>
                    <a:p>
                      <a:pPr algn="l">
                        <a:defRPr sz="1800">
                          <a:solidFill>
                            <a:srgbClr val="000000"/>
                          </a:solidFill>
                        </a:defRPr>
                      </a:pPr>
                      <a:r>
                        <a:rPr b="1" sz="1300">
                          <a:solidFill>
                            <a:srgbClr val="0E1A17"/>
                          </a:solidFill>
                        </a:rPr>
                        <a:t>Custom workflow</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Compliance-bound process (Module 3)</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r>
            </a:tbl>
          </a:graphicData>
        </a:graphic>
      </p:graphicFrame>
      <p:sp>
        <p:nvSpPr>
          <p:cNvPr id="271" name="text-177"/>
          <p:cNvSpPr txBox="1"/>
          <p:nvPr/>
        </p:nvSpPr>
        <p:spPr>
          <a:xfrm>
            <a:off x="6400800" y="5257800"/>
            <a:ext cx="5239512"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5"/>
                </a:solidFill>
              </a:defRPr>
            </a:lvl1pPr>
          </a:lstStyle>
          <a:p>
            <a:pPr/>
            <a:r>
              <a:t>Always benchmark against the single agent from Module 1 before recommending multi-agent.</a:t>
            </a:r>
          </a:p>
        </p:txBody>
      </p:sp>
      <p:sp>
        <p:nvSpPr>
          <p:cNvPr id="272"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Text 0"/>
          <p:cNvSpPr txBox="1"/>
          <p:nvPr>
            <p:ph type="body" sz="quarter" idx="1"/>
          </p:nvPr>
        </p:nvSpPr>
        <p:spPr>
          <a:prstGeom prst="rect">
            <a:avLst/>
          </a:prstGeom>
        </p:spPr>
        <p:txBody>
          <a:bodyPr lIns="0" tIns="0" rIns="0" bIns="0"/>
          <a:lstStyle/>
          <a:p>
            <a:pPr/>
            <a:r>
              <a:t>MODULE 5 · DEEP AGENTS</a:t>
            </a:r>
          </a:p>
        </p:txBody>
      </p:sp>
      <p:sp>
        <p:nvSpPr>
          <p:cNvPr id="277" name="Text 0"/>
          <p:cNvSpPr txBox="1"/>
          <p:nvPr>
            <p:ph type="title"/>
          </p:nvPr>
        </p:nvSpPr>
        <p:spPr>
          <a:xfrm>
            <a:off x="548639" y="585216"/>
            <a:ext cx="11094417" cy="731521"/>
          </a:xfrm>
          <a:prstGeom prst="rect">
            <a:avLst/>
          </a:prstGeom>
        </p:spPr>
        <p:txBody>
          <a:bodyPr lIns="0" tIns="0" rIns="0" bIns="0"/>
          <a:lstStyle/>
          <a:p>
            <a:pPr/>
            <a:r>
              <a:t>A long-horizon audit agent with a harness</a:t>
            </a:r>
          </a:p>
        </p:txBody>
      </p:sp>
      <p:sp>
        <p:nvSpPr>
          <p:cNvPr id="278" name="card-178"/>
          <p:cNvSpPr/>
          <p:nvPr/>
        </p:nvSpPr>
        <p:spPr>
          <a:xfrm>
            <a:off x="548640" y="1600200"/>
            <a:ext cx="2377440" cy="1783080"/>
          </a:xfrm>
          <a:prstGeom prst="roundRect">
            <a:avLst>
              <a:gd name="adj" fmla="val 6154"/>
            </a:avLst>
          </a:prstGeom>
          <a:solidFill>
            <a:srgbClr val="EEF5F1"/>
          </a:solidFill>
          <a:ln w="12700">
            <a:solidFill>
              <a:srgbClr val="EEF5F1"/>
            </a:solidFill>
          </a:ln>
        </p:spPr>
        <p:txBody>
          <a:bodyPr lIns="45719" rIns="45719"/>
          <a:lstStyle/>
          <a:p>
            <a:pPr/>
          </a:p>
        </p:txBody>
      </p:sp>
      <p:sp>
        <p:nvSpPr>
          <p:cNvPr id="279" name="icon-bg-179"/>
          <p:cNvSpPr/>
          <p:nvPr/>
        </p:nvSpPr>
        <p:spPr>
          <a:xfrm>
            <a:off x="731519" y="1783079"/>
            <a:ext cx="502922" cy="502921"/>
          </a:xfrm>
          <a:prstGeom prst="ellipse">
            <a:avLst/>
          </a:prstGeom>
          <a:solidFill>
            <a:schemeClr val="accent1"/>
          </a:solidFill>
          <a:ln w="12700">
            <a:solidFill>
              <a:schemeClr val="accent1"/>
            </a:solidFill>
          </a:ln>
        </p:spPr>
        <p:txBody>
          <a:bodyPr lIns="45719" rIns="45719"/>
          <a:lstStyle/>
          <a:p>
            <a:pPr/>
          </a:p>
        </p:txBody>
      </p:sp>
      <p:pic>
        <p:nvPicPr>
          <p:cNvPr id="280" name="icon-180" descr="icon-180"/>
          <p:cNvPicPr>
            <a:picLocks noChangeAspect="1"/>
          </p:cNvPicPr>
          <p:nvPr/>
        </p:nvPicPr>
        <p:blipFill>
          <a:blip r:embed="rId3">
            <a:extLst/>
          </a:blip>
          <a:stretch>
            <a:fillRect/>
          </a:stretch>
        </p:blipFill>
        <p:spPr>
          <a:xfrm>
            <a:off x="852221" y="1903781"/>
            <a:ext cx="261519" cy="261519"/>
          </a:xfrm>
          <a:prstGeom prst="rect">
            <a:avLst/>
          </a:prstGeom>
          <a:ln w="12700">
            <a:miter lim="400000"/>
          </a:ln>
        </p:spPr>
      </p:pic>
      <p:sp>
        <p:nvSpPr>
          <p:cNvPr id="281" name="text-181"/>
          <p:cNvSpPr txBox="1"/>
          <p:nvPr/>
        </p:nvSpPr>
        <p:spPr>
          <a:xfrm>
            <a:off x="731519" y="2423160"/>
            <a:ext cx="2011680" cy="5985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Planning</a:t>
            </a:r>
            <a:endParaRPr sz="1400"/>
          </a:p>
          <a:p>
            <a:pPr>
              <a:defRPr sz="1300">
                <a:solidFill>
                  <a:schemeClr val="accent5"/>
                </a:solidFill>
              </a:defRPr>
            </a:pPr>
            <a:r>
              <a:t>write_todos keeps dozens of steps on track</a:t>
            </a:r>
          </a:p>
        </p:txBody>
      </p:sp>
      <p:sp>
        <p:nvSpPr>
          <p:cNvPr id="282" name="card-182"/>
          <p:cNvSpPr/>
          <p:nvPr/>
        </p:nvSpPr>
        <p:spPr>
          <a:xfrm>
            <a:off x="3154679" y="1600200"/>
            <a:ext cx="2377441" cy="1783080"/>
          </a:xfrm>
          <a:prstGeom prst="roundRect">
            <a:avLst>
              <a:gd name="adj" fmla="val 6154"/>
            </a:avLst>
          </a:prstGeom>
          <a:solidFill>
            <a:srgbClr val="EEF5F1"/>
          </a:solidFill>
          <a:ln w="12700">
            <a:solidFill>
              <a:srgbClr val="EEF5F1"/>
            </a:solidFill>
          </a:ln>
        </p:spPr>
        <p:txBody>
          <a:bodyPr lIns="45719" rIns="45719"/>
          <a:lstStyle/>
          <a:p>
            <a:pPr/>
          </a:p>
        </p:txBody>
      </p:sp>
      <p:sp>
        <p:nvSpPr>
          <p:cNvPr id="283" name="icon-bg-183"/>
          <p:cNvSpPr/>
          <p:nvPr/>
        </p:nvSpPr>
        <p:spPr>
          <a:xfrm>
            <a:off x="3337559" y="1783079"/>
            <a:ext cx="502921" cy="502921"/>
          </a:xfrm>
          <a:prstGeom prst="ellipse">
            <a:avLst/>
          </a:prstGeom>
          <a:solidFill>
            <a:schemeClr val="accent1"/>
          </a:solidFill>
          <a:ln w="12700">
            <a:solidFill>
              <a:schemeClr val="accent1"/>
            </a:solidFill>
          </a:ln>
        </p:spPr>
        <p:txBody>
          <a:bodyPr lIns="45719" rIns="45719"/>
          <a:lstStyle/>
          <a:p>
            <a:pPr/>
          </a:p>
        </p:txBody>
      </p:sp>
      <p:pic>
        <p:nvPicPr>
          <p:cNvPr id="284" name="icon-184" descr="icon-184"/>
          <p:cNvPicPr>
            <a:picLocks noChangeAspect="1"/>
          </p:cNvPicPr>
          <p:nvPr/>
        </p:nvPicPr>
        <p:blipFill>
          <a:blip r:embed="rId4">
            <a:extLst/>
          </a:blip>
          <a:stretch>
            <a:fillRect/>
          </a:stretch>
        </p:blipFill>
        <p:spPr>
          <a:xfrm>
            <a:off x="3458261" y="1903781"/>
            <a:ext cx="261519" cy="261519"/>
          </a:xfrm>
          <a:prstGeom prst="rect">
            <a:avLst/>
          </a:prstGeom>
          <a:ln w="12700">
            <a:miter lim="400000"/>
          </a:ln>
        </p:spPr>
      </p:pic>
      <p:sp>
        <p:nvSpPr>
          <p:cNvPr id="285" name="text-185"/>
          <p:cNvSpPr txBox="1"/>
          <p:nvPr/>
        </p:nvSpPr>
        <p:spPr>
          <a:xfrm>
            <a:off x="3337559" y="2423160"/>
            <a:ext cx="2011680" cy="5985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Virtual filesystem</a:t>
            </a:r>
            <a:endParaRPr sz="1400"/>
          </a:p>
          <a:p>
            <a:pPr>
              <a:defRPr sz="1300">
                <a:solidFill>
                  <a:schemeClr val="accent5"/>
                </a:solidFill>
              </a:defRPr>
            </a:pPr>
            <a:r>
              <a:t>Offloads big tool output from context</a:t>
            </a:r>
          </a:p>
        </p:txBody>
      </p:sp>
      <p:sp>
        <p:nvSpPr>
          <p:cNvPr id="286" name="card-186"/>
          <p:cNvSpPr/>
          <p:nvPr/>
        </p:nvSpPr>
        <p:spPr>
          <a:xfrm>
            <a:off x="5760720" y="1600200"/>
            <a:ext cx="2377441" cy="1783080"/>
          </a:xfrm>
          <a:prstGeom prst="roundRect">
            <a:avLst>
              <a:gd name="adj" fmla="val 6154"/>
            </a:avLst>
          </a:prstGeom>
          <a:solidFill>
            <a:srgbClr val="EEF5F1"/>
          </a:solidFill>
          <a:ln w="12700">
            <a:solidFill>
              <a:srgbClr val="EEF5F1"/>
            </a:solidFill>
          </a:ln>
        </p:spPr>
        <p:txBody>
          <a:bodyPr lIns="45719" rIns="45719"/>
          <a:lstStyle/>
          <a:p>
            <a:pPr/>
          </a:p>
        </p:txBody>
      </p:sp>
      <p:sp>
        <p:nvSpPr>
          <p:cNvPr id="287" name="icon-bg-187"/>
          <p:cNvSpPr/>
          <p:nvPr/>
        </p:nvSpPr>
        <p:spPr>
          <a:xfrm>
            <a:off x="5943600" y="1783079"/>
            <a:ext cx="502921" cy="502921"/>
          </a:xfrm>
          <a:prstGeom prst="ellipse">
            <a:avLst/>
          </a:prstGeom>
          <a:solidFill>
            <a:schemeClr val="accent1"/>
          </a:solidFill>
          <a:ln w="12700">
            <a:solidFill>
              <a:schemeClr val="accent1"/>
            </a:solidFill>
          </a:ln>
        </p:spPr>
        <p:txBody>
          <a:bodyPr lIns="45719" rIns="45719"/>
          <a:lstStyle/>
          <a:p>
            <a:pPr/>
          </a:p>
        </p:txBody>
      </p:sp>
      <p:pic>
        <p:nvPicPr>
          <p:cNvPr id="288" name="icon-188" descr="icon-188"/>
          <p:cNvPicPr>
            <a:picLocks noChangeAspect="1"/>
          </p:cNvPicPr>
          <p:nvPr/>
        </p:nvPicPr>
        <p:blipFill>
          <a:blip r:embed="rId5">
            <a:extLst/>
          </a:blip>
          <a:stretch>
            <a:fillRect/>
          </a:stretch>
        </p:blipFill>
        <p:spPr>
          <a:xfrm>
            <a:off x="6064301" y="1903781"/>
            <a:ext cx="261519" cy="261519"/>
          </a:xfrm>
          <a:prstGeom prst="rect">
            <a:avLst/>
          </a:prstGeom>
          <a:ln w="12700">
            <a:miter lim="400000"/>
          </a:ln>
        </p:spPr>
      </p:pic>
      <p:sp>
        <p:nvSpPr>
          <p:cNvPr id="289" name="text-189"/>
          <p:cNvSpPr txBox="1"/>
          <p:nvPr/>
        </p:nvSpPr>
        <p:spPr>
          <a:xfrm>
            <a:off x="5943600" y="2423160"/>
            <a:ext cx="2011679" cy="395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Pluggable backends</a:t>
            </a:r>
            <a:endParaRPr sz="1400"/>
          </a:p>
          <a:p>
            <a:pPr>
              <a:defRPr sz="1300">
                <a:solidFill>
                  <a:schemeClr val="accent5"/>
                </a:solidFill>
              </a:defRPr>
            </a:pPr>
            <a:r>
              <a:t>State, disk, store or sandbox</a:t>
            </a:r>
          </a:p>
        </p:txBody>
      </p:sp>
      <p:sp>
        <p:nvSpPr>
          <p:cNvPr id="290" name="card-190"/>
          <p:cNvSpPr/>
          <p:nvPr/>
        </p:nvSpPr>
        <p:spPr>
          <a:xfrm>
            <a:off x="548640" y="3611879"/>
            <a:ext cx="2377440" cy="1783081"/>
          </a:xfrm>
          <a:prstGeom prst="roundRect">
            <a:avLst>
              <a:gd name="adj" fmla="val 6154"/>
            </a:avLst>
          </a:prstGeom>
          <a:solidFill>
            <a:srgbClr val="EEF5F1"/>
          </a:solidFill>
          <a:ln w="12700">
            <a:solidFill>
              <a:srgbClr val="EEF5F1"/>
            </a:solidFill>
          </a:ln>
        </p:spPr>
        <p:txBody>
          <a:bodyPr lIns="45719" rIns="45719"/>
          <a:lstStyle/>
          <a:p>
            <a:pPr/>
          </a:p>
        </p:txBody>
      </p:sp>
      <p:sp>
        <p:nvSpPr>
          <p:cNvPr id="291" name="icon-bg-191"/>
          <p:cNvSpPr/>
          <p:nvPr/>
        </p:nvSpPr>
        <p:spPr>
          <a:xfrm>
            <a:off x="731519" y="3794759"/>
            <a:ext cx="502922" cy="502921"/>
          </a:xfrm>
          <a:prstGeom prst="ellipse">
            <a:avLst/>
          </a:prstGeom>
          <a:solidFill>
            <a:schemeClr val="accent1"/>
          </a:solidFill>
          <a:ln w="12700">
            <a:solidFill>
              <a:schemeClr val="accent1"/>
            </a:solidFill>
          </a:ln>
        </p:spPr>
        <p:txBody>
          <a:bodyPr lIns="45719" rIns="45719"/>
          <a:lstStyle/>
          <a:p>
            <a:pPr/>
          </a:p>
        </p:txBody>
      </p:sp>
      <p:pic>
        <p:nvPicPr>
          <p:cNvPr id="292" name="icon-192" descr="icon-192"/>
          <p:cNvPicPr>
            <a:picLocks noChangeAspect="1"/>
          </p:cNvPicPr>
          <p:nvPr/>
        </p:nvPicPr>
        <p:blipFill>
          <a:blip r:embed="rId6">
            <a:extLst/>
          </a:blip>
          <a:stretch>
            <a:fillRect/>
          </a:stretch>
        </p:blipFill>
        <p:spPr>
          <a:xfrm>
            <a:off x="852221" y="3915461"/>
            <a:ext cx="261519" cy="261519"/>
          </a:xfrm>
          <a:prstGeom prst="rect">
            <a:avLst/>
          </a:prstGeom>
          <a:ln w="12700">
            <a:miter lim="400000"/>
          </a:ln>
        </p:spPr>
      </p:pic>
      <p:sp>
        <p:nvSpPr>
          <p:cNvPr id="293" name="text-193"/>
          <p:cNvSpPr txBox="1"/>
          <p:nvPr/>
        </p:nvSpPr>
        <p:spPr>
          <a:xfrm>
            <a:off x="731519" y="4434840"/>
            <a:ext cx="2011680" cy="598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Subagents</a:t>
            </a:r>
            <a:endParaRPr sz="1400"/>
          </a:p>
          <a:p>
            <a:pPr>
              <a:defRPr sz="1300">
                <a:solidFill>
                  <a:schemeClr val="accent5"/>
                </a:solidFill>
              </a:defRPr>
            </a:pPr>
            <a:r>
              <a:t>Fresh context per manifest audit</a:t>
            </a:r>
          </a:p>
        </p:txBody>
      </p:sp>
      <p:sp>
        <p:nvSpPr>
          <p:cNvPr id="294" name="card-194"/>
          <p:cNvSpPr/>
          <p:nvPr/>
        </p:nvSpPr>
        <p:spPr>
          <a:xfrm>
            <a:off x="3154679" y="3611879"/>
            <a:ext cx="2377441" cy="1783081"/>
          </a:xfrm>
          <a:prstGeom prst="roundRect">
            <a:avLst>
              <a:gd name="adj" fmla="val 6154"/>
            </a:avLst>
          </a:prstGeom>
          <a:solidFill>
            <a:srgbClr val="EEF5F1"/>
          </a:solidFill>
          <a:ln w="12700">
            <a:solidFill>
              <a:srgbClr val="EEF5F1"/>
            </a:solidFill>
          </a:ln>
        </p:spPr>
        <p:txBody>
          <a:bodyPr lIns="45719" rIns="45719"/>
          <a:lstStyle/>
          <a:p>
            <a:pPr/>
          </a:p>
        </p:txBody>
      </p:sp>
      <p:sp>
        <p:nvSpPr>
          <p:cNvPr id="295" name="icon-bg-195"/>
          <p:cNvSpPr/>
          <p:nvPr/>
        </p:nvSpPr>
        <p:spPr>
          <a:xfrm>
            <a:off x="3337559" y="3794759"/>
            <a:ext cx="502921" cy="502921"/>
          </a:xfrm>
          <a:prstGeom prst="ellipse">
            <a:avLst/>
          </a:prstGeom>
          <a:solidFill>
            <a:schemeClr val="accent1"/>
          </a:solidFill>
          <a:ln w="12700">
            <a:solidFill>
              <a:schemeClr val="accent1"/>
            </a:solidFill>
          </a:ln>
        </p:spPr>
        <p:txBody>
          <a:bodyPr lIns="45719" rIns="45719"/>
          <a:lstStyle/>
          <a:p>
            <a:pPr/>
          </a:p>
        </p:txBody>
      </p:sp>
      <p:pic>
        <p:nvPicPr>
          <p:cNvPr id="296" name="icon-196" descr="icon-196"/>
          <p:cNvPicPr>
            <a:picLocks noChangeAspect="1"/>
          </p:cNvPicPr>
          <p:nvPr/>
        </p:nvPicPr>
        <p:blipFill>
          <a:blip r:embed="rId7">
            <a:extLst/>
          </a:blip>
          <a:stretch>
            <a:fillRect/>
          </a:stretch>
        </p:blipFill>
        <p:spPr>
          <a:xfrm>
            <a:off x="3458261" y="3915461"/>
            <a:ext cx="261519" cy="261519"/>
          </a:xfrm>
          <a:prstGeom prst="rect">
            <a:avLst/>
          </a:prstGeom>
          <a:ln w="12700">
            <a:miter lim="400000"/>
          </a:ln>
        </p:spPr>
      </p:pic>
      <p:sp>
        <p:nvSpPr>
          <p:cNvPr id="297" name="text-197"/>
          <p:cNvSpPr txBox="1"/>
          <p:nvPr/>
        </p:nvSpPr>
        <p:spPr>
          <a:xfrm>
            <a:off x="3337559" y="4434840"/>
            <a:ext cx="2011680" cy="598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Memory</a:t>
            </a:r>
            <a:endParaRPr sz="1400"/>
          </a:p>
          <a:p>
            <a:pPr>
              <a:defRPr sz="1300">
                <a:solidFill>
                  <a:schemeClr val="accent5"/>
                </a:solidFill>
              </a:defRPr>
            </a:pPr>
            <a:r>
              <a:t>AGENTS.md conventions, always loaded</a:t>
            </a:r>
          </a:p>
        </p:txBody>
      </p:sp>
      <p:sp>
        <p:nvSpPr>
          <p:cNvPr id="298" name="card-198"/>
          <p:cNvSpPr/>
          <p:nvPr/>
        </p:nvSpPr>
        <p:spPr>
          <a:xfrm>
            <a:off x="5760720" y="3611879"/>
            <a:ext cx="2377441" cy="1783081"/>
          </a:xfrm>
          <a:prstGeom prst="roundRect">
            <a:avLst>
              <a:gd name="adj" fmla="val 6154"/>
            </a:avLst>
          </a:prstGeom>
          <a:solidFill>
            <a:srgbClr val="EEF5F1"/>
          </a:solidFill>
          <a:ln w="12700">
            <a:solidFill>
              <a:srgbClr val="EEF5F1"/>
            </a:solidFill>
          </a:ln>
        </p:spPr>
        <p:txBody>
          <a:bodyPr lIns="45719" rIns="45719"/>
          <a:lstStyle/>
          <a:p>
            <a:pPr/>
          </a:p>
        </p:txBody>
      </p:sp>
      <p:sp>
        <p:nvSpPr>
          <p:cNvPr id="299" name="icon-bg-199"/>
          <p:cNvSpPr/>
          <p:nvPr/>
        </p:nvSpPr>
        <p:spPr>
          <a:xfrm>
            <a:off x="5943600" y="3794759"/>
            <a:ext cx="502921" cy="502921"/>
          </a:xfrm>
          <a:prstGeom prst="ellipse">
            <a:avLst/>
          </a:prstGeom>
          <a:solidFill>
            <a:schemeClr val="accent1"/>
          </a:solidFill>
          <a:ln w="12700">
            <a:solidFill>
              <a:schemeClr val="accent1"/>
            </a:solidFill>
          </a:ln>
        </p:spPr>
        <p:txBody>
          <a:bodyPr lIns="45719" rIns="45719"/>
          <a:lstStyle/>
          <a:p>
            <a:pPr/>
          </a:p>
        </p:txBody>
      </p:sp>
      <p:pic>
        <p:nvPicPr>
          <p:cNvPr id="300" name="icon-200" descr="icon-200"/>
          <p:cNvPicPr>
            <a:picLocks noChangeAspect="1"/>
          </p:cNvPicPr>
          <p:nvPr/>
        </p:nvPicPr>
        <p:blipFill>
          <a:blip r:embed="rId8">
            <a:extLst/>
          </a:blip>
          <a:stretch>
            <a:fillRect/>
          </a:stretch>
        </p:blipFill>
        <p:spPr>
          <a:xfrm>
            <a:off x="6064301" y="3915461"/>
            <a:ext cx="261519" cy="261519"/>
          </a:xfrm>
          <a:prstGeom prst="rect">
            <a:avLst/>
          </a:prstGeom>
          <a:ln w="12700">
            <a:miter lim="400000"/>
          </a:ln>
        </p:spPr>
      </p:pic>
      <p:sp>
        <p:nvSpPr>
          <p:cNvPr id="301" name="text-201"/>
          <p:cNvSpPr txBox="1"/>
          <p:nvPr/>
        </p:nvSpPr>
        <p:spPr>
          <a:xfrm>
            <a:off x="5943600" y="4434840"/>
            <a:ext cx="2011679" cy="598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Skills</a:t>
            </a:r>
            <a:endParaRPr sz="1400"/>
          </a:p>
          <a:p>
            <a:pPr>
              <a:defRPr sz="1300">
                <a:solidFill>
                  <a:schemeClr val="accent5"/>
                </a:solidFill>
              </a:defRPr>
            </a:pPr>
            <a:r>
              <a:t>SKILL.md loaded only when relevant</a:t>
            </a:r>
          </a:p>
        </p:txBody>
      </p:sp>
      <p:sp>
        <p:nvSpPr>
          <p:cNvPr id="302" name="text-202"/>
          <p:cNvSpPr txBox="1"/>
          <p:nvPr/>
        </p:nvSpPr>
        <p:spPr>
          <a:xfrm>
            <a:off x="548640" y="5715000"/>
            <a:ext cx="758951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5"/>
                </a:solidFill>
              </a:defRPr>
            </a:lvl1pPr>
          </a:lstStyle>
          <a:p>
            <a:pPr/>
            <a:r>
              <a:t>create_deep_agent = create_agent + a curated middleware stack, so Modules 1–4 still apply.</a:t>
            </a:r>
          </a:p>
        </p:txBody>
      </p:sp>
      <p:sp>
        <p:nvSpPr>
          <p:cNvPr id="303" name="card-203"/>
          <p:cNvSpPr/>
          <p:nvPr/>
        </p:nvSpPr>
        <p:spPr>
          <a:xfrm>
            <a:off x="8595359" y="1600200"/>
            <a:ext cx="3044953" cy="1783080"/>
          </a:xfrm>
          <a:prstGeom prst="roundRect">
            <a:avLst>
              <a:gd name="adj" fmla="val 6154"/>
            </a:avLst>
          </a:prstGeom>
          <a:solidFill>
            <a:srgbClr val="12332B"/>
          </a:solidFill>
          <a:ln w="12700">
            <a:solidFill>
              <a:srgbClr val="12332B"/>
            </a:solidFill>
          </a:ln>
        </p:spPr>
        <p:txBody>
          <a:bodyPr lIns="45719" rIns="45719"/>
          <a:lstStyle/>
          <a:p>
            <a:pPr/>
          </a:p>
        </p:txBody>
      </p:sp>
      <p:sp>
        <p:nvSpPr>
          <p:cNvPr id="304" name="text-204"/>
          <p:cNvSpPr txBox="1"/>
          <p:nvPr/>
        </p:nvSpPr>
        <p:spPr>
          <a:xfrm>
            <a:off x="8823959" y="1783079"/>
            <a:ext cx="2587753" cy="669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chemeClr val="accent1"/>
                </a:solidFill>
              </a:defRPr>
            </a:pPr>
            <a:r>
              <a:t>Deep Agents when</a:t>
            </a:r>
            <a:endParaRPr sz="1400"/>
          </a:p>
          <a:p>
            <a:pPr>
              <a:defRPr sz="1500">
                <a:solidFill>
                  <a:srgbClr val="FFFFFF"/>
                </a:solidFill>
              </a:defRPr>
            </a:pPr>
            <a:r>
              <a:t>Steps aren't known upfront: audits, research, coding.</a:t>
            </a:r>
          </a:p>
        </p:txBody>
      </p:sp>
      <p:sp>
        <p:nvSpPr>
          <p:cNvPr id="305" name="card-205"/>
          <p:cNvSpPr/>
          <p:nvPr/>
        </p:nvSpPr>
        <p:spPr>
          <a:xfrm>
            <a:off x="8595359" y="3611879"/>
            <a:ext cx="3044953" cy="1783081"/>
          </a:xfrm>
          <a:prstGeom prst="roundRect">
            <a:avLst>
              <a:gd name="adj" fmla="val 6154"/>
            </a:avLst>
          </a:prstGeom>
          <a:solidFill>
            <a:srgbClr val="EEF5F1"/>
          </a:solidFill>
          <a:ln w="12700">
            <a:solidFill>
              <a:srgbClr val="EEF5F1"/>
            </a:solidFill>
          </a:ln>
        </p:spPr>
        <p:txBody>
          <a:bodyPr lIns="45719" rIns="45719"/>
          <a:lstStyle/>
          <a:p>
            <a:pPr/>
          </a:p>
        </p:txBody>
      </p:sp>
      <p:sp>
        <p:nvSpPr>
          <p:cNvPr id="306" name="text-206"/>
          <p:cNvSpPr txBox="1"/>
          <p:nvPr/>
        </p:nvSpPr>
        <p:spPr>
          <a:xfrm>
            <a:off x="8823959" y="3794759"/>
            <a:ext cx="2587753" cy="897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chemeClr val="accent3"/>
                </a:solidFill>
              </a:defRPr>
            </a:pPr>
            <a:r>
              <a:t>LangGraph workflow when</a:t>
            </a:r>
            <a:endParaRPr sz="1400"/>
          </a:p>
          <a:p>
            <a:pPr>
              <a:defRPr sz="1500"/>
            </a:pPr>
            <a:r>
              <a:t>The process is known and must be auditable. Real systems often nest one in the other.</a:t>
            </a:r>
          </a:p>
        </p:txBody>
      </p:sp>
      <p:sp>
        <p:nvSpPr>
          <p:cNvPr id="307" name="Slide Number Placeholder 0"/>
          <p:cNvSpPr txBox="1"/>
          <p:nvPr>
            <p:ph type="sldNum" sz="quarter" idx="4294967295"/>
          </p:nvPr>
        </p:nvSpPr>
        <p:spPr>
          <a:xfrm>
            <a:off x="11474547"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Text 0"/>
          <p:cNvSpPr txBox="1"/>
          <p:nvPr>
            <p:ph type="body" sz="quarter" idx="1"/>
          </p:nvPr>
        </p:nvSpPr>
        <p:spPr>
          <a:prstGeom prst="rect">
            <a:avLst/>
          </a:prstGeom>
        </p:spPr>
        <p:txBody>
          <a:bodyPr lIns="0" tIns="0" rIns="0" bIns="0"/>
          <a:lstStyle/>
          <a:p>
            <a:pPr/>
            <a:r>
              <a:t>MODULE 6 · LANGSMITH EVALS</a:t>
            </a:r>
          </a:p>
        </p:txBody>
      </p:sp>
      <p:sp>
        <p:nvSpPr>
          <p:cNvPr id="312" name="Text 0"/>
          <p:cNvSpPr txBox="1"/>
          <p:nvPr>
            <p:ph type="title"/>
          </p:nvPr>
        </p:nvSpPr>
        <p:spPr>
          <a:xfrm>
            <a:off x="548639" y="585216"/>
            <a:ext cx="11094417" cy="731521"/>
          </a:xfrm>
          <a:prstGeom prst="rect">
            <a:avLst/>
          </a:prstGeom>
        </p:spPr>
        <p:txBody>
          <a:bodyPr lIns="0" tIns="0" rIns="0" bIns="0"/>
          <a:lstStyle/>
          <a:p>
            <a:pPr/>
            <a:r>
              <a:t>From "seems to work" to a measured A/B test</a:t>
            </a:r>
          </a:p>
        </p:txBody>
      </p:sp>
      <p:sp>
        <p:nvSpPr>
          <p:cNvPr id="313" name="card-207"/>
          <p:cNvSpPr/>
          <p:nvPr/>
        </p:nvSpPr>
        <p:spPr>
          <a:xfrm>
            <a:off x="548640" y="1645920"/>
            <a:ext cx="1664208"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14" name="box-label-208"/>
          <p:cNvSpPr txBox="1"/>
          <p:nvPr/>
        </p:nvSpPr>
        <p:spPr>
          <a:xfrm>
            <a:off x="640080" y="1882579"/>
            <a:ext cx="148132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Trace</a:t>
            </a:r>
          </a:p>
        </p:txBody>
      </p:sp>
      <p:sp>
        <p:nvSpPr>
          <p:cNvPr id="315" name="arrow-209"/>
          <p:cNvSpPr/>
          <p:nvPr/>
        </p:nvSpPr>
        <p:spPr>
          <a:xfrm>
            <a:off x="2212848" y="1965960"/>
            <a:ext cx="219457" cy="914"/>
          </a:xfrm>
          <a:prstGeom prst="line">
            <a:avLst/>
          </a:prstGeom>
          <a:ln w="19050">
            <a:solidFill>
              <a:schemeClr val="accent5"/>
            </a:solidFill>
            <a:tailEnd type="triangle"/>
          </a:ln>
        </p:spPr>
        <p:txBody>
          <a:bodyPr lIns="45719" rIns="45719"/>
          <a:lstStyle/>
          <a:p>
            <a:pPr/>
          </a:p>
        </p:txBody>
      </p:sp>
      <p:sp>
        <p:nvSpPr>
          <p:cNvPr id="316" name="card-210"/>
          <p:cNvSpPr/>
          <p:nvPr/>
        </p:nvSpPr>
        <p:spPr>
          <a:xfrm>
            <a:off x="2432304" y="1645920"/>
            <a:ext cx="1664208"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17" name="box-label-211"/>
          <p:cNvSpPr txBox="1"/>
          <p:nvPr/>
        </p:nvSpPr>
        <p:spPr>
          <a:xfrm>
            <a:off x="2523744" y="1882579"/>
            <a:ext cx="148132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Curate dataset</a:t>
            </a:r>
          </a:p>
        </p:txBody>
      </p:sp>
      <p:sp>
        <p:nvSpPr>
          <p:cNvPr id="318" name="arrow-212"/>
          <p:cNvSpPr/>
          <p:nvPr/>
        </p:nvSpPr>
        <p:spPr>
          <a:xfrm>
            <a:off x="4096512" y="1965960"/>
            <a:ext cx="219457" cy="914"/>
          </a:xfrm>
          <a:prstGeom prst="line">
            <a:avLst/>
          </a:prstGeom>
          <a:ln w="19050">
            <a:solidFill>
              <a:schemeClr val="accent5"/>
            </a:solidFill>
            <a:tailEnd type="triangle"/>
          </a:ln>
        </p:spPr>
        <p:txBody>
          <a:bodyPr lIns="45719" rIns="45719"/>
          <a:lstStyle/>
          <a:p>
            <a:pPr/>
          </a:p>
        </p:txBody>
      </p:sp>
      <p:sp>
        <p:nvSpPr>
          <p:cNvPr id="319" name="card-213"/>
          <p:cNvSpPr/>
          <p:nvPr/>
        </p:nvSpPr>
        <p:spPr>
          <a:xfrm>
            <a:off x="4315967" y="1645920"/>
            <a:ext cx="1664209"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20" name="box-label-214"/>
          <p:cNvSpPr txBox="1"/>
          <p:nvPr/>
        </p:nvSpPr>
        <p:spPr>
          <a:xfrm>
            <a:off x="4407408" y="1882579"/>
            <a:ext cx="148132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Offline evals</a:t>
            </a:r>
          </a:p>
        </p:txBody>
      </p:sp>
      <p:sp>
        <p:nvSpPr>
          <p:cNvPr id="321" name="arrow-215"/>
          <p:cNvSpPr/>
          <p:nvPr/>
        </p:nvSpPr>
        <p:spPr>
          <a:xfrm>
            <a:off x="5980176" y="1965960"/>
            <a:ext cx="219457" cy="914"/>
          </a:xfrm>
          <a:prstGeom prst="line">
            <a:avLst/>
          </a:prstGeom>
          <a:ln w="19050">
            <a:solidFill>
              <a:schemeClr val="accent5"/>
            </a:solidFill>
            <a:tailEnd type="triangle"/>
          </a:ln>
        </p:spPr>
        <p:txBody>
          <a:bodyPr lIns="45719" rIns="45719"/>
          <a:lstStyle/>
          <a:p>
            <a:pPr/>
          </a:p>
        </p:txBody>
      </p:sp>
      <p:sp>
        <p:nvSpPr>
          <p:cNvPr id="322" name="card-216"/>
          <p:cNvSpPr/>
          <p:nvPr/>
        </p:nvSpPr>
        <p:spPr>
          <a:xfrm>
            <a:off x="6199632" y="1645920"/>
            <a:ext cx="1664208"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23" name="box-label-217"/>
          <p:cNvSpPr txBox="1"/>
          <p:nvPr/>
        </p:nvSpPr>
        <p:spPr>
          <a:xfrm>
            <a:off x="6291071" y="1882579"/>
            <a:ext cx="148132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CI gate</a:t>
            </a:r>
          </a:p>
        </p:txBody>
      </p:sp>
      <p:sp>
        <p:nvSpPr>
          <p:cNvPr id="324" name="arrow-218"/>
          <p:cNvSpPr/>
          <p:nvPr/>
        </p:nvSpPr>
        <p:spPr>
          <a:xfrm>
            <a:off x="7863840" y="1965960"/>
            <a:ext cx="219457" cy="914"/>
          </a:xfrm>
          <a:prstGeom prst="line">
            <a:avLst/>
          </a:prstGeom>
          <a:ln w="19050">
            <a:solidFill>
              <a:schemeClr val="accent5"/>
            </a:solidFill>
            <a:tailEnd type="triangle"/>
          </a:ln>
        </p:spPr>
        <p:txBody>
          <a:bodyPr lIns="45719" rIns="45719"/>
          <a:lstStyle/>
          <a:p>
            <a:pPr/>
          </a:p>
        </p:txBody>
      </p:sp>
      <p:sp>
        <p:nvSpPr>
          <p:cNvPr id="325" name="card-219"/>
          <p:cNvSpPr/>
          <p:nvPr/>
        </p:nvSpPr>
        <p:spPr>
          <a:xfrm>
            <a:off x="8083295" y="1645920"/>
            <a:ext cx="1664209" cy="640081"/>
          </a:xfrm>
          <a:prstGeom prst="roundRect">
            <a:avLst>
              <a:gd name="adj" fmla="val 17143"/>
            </a:avLst>
          </a:prstGeom>
          <a:solidFill>
            <a:srgbClr val="12332B"/>
          </a:solidFill>
          <a:ln w="12700">
            <a:solidFill>
              <a:srgbClr val="12332B"/>
            </a:solidFill>
          </a:ln>
        </p:spPr>
        <p:txBody>
          <a:bodyPr lIns="45719" rIns="45719"/>
          <a:lstStyle/>
          <a:p>
            <a:pPr/>
          </a:p>
        </p:txBody>
      </p:sp>
      <p:sp>
        <p:nvSpPr>
          <p:cNvPr id="326" name="box-label-220"/>
          <p:cNvSpPr txBox="1"/>
          <p:nvPr/>
        </p:nvSpPr>
        <p:spPr>
          <a:xfrm>
            <a:off x="8174735" y="1882579"/>
            <a:ext cx="148132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Production</a:t>
            </a:r>
          </a:p>
        </p:txBody>
      </p:sp>
      <p:sp>
        <p:nvSpPr>
          <p:cNvPr id="327" name="arrow-221"/>
          <p:cNvSpPr/>
          <p:nvPr/>
        </p:nvSpPr>
        <p:spPr>
          <a:xfrm>
            <a:off x="9747504" y="1965960"/>
            <a:ext cx="219457" cy="914"/>
          </a:xfrm>
          <a:prstGeom prst="line">
            <a:avLst/>
          </a:prstGeom>
          <a:ln w="19050">
            <a:solidFill>
              <a:schemeClr val="accent5"/>
            </a:solidFill>
            <a:tailEnd type="triangle"/>
          </a:ln>
        </p:spPr>
        <p:txBody>
          <a:bodyPr lIns="45719" rIns="45719"/>
          <a:lstStyle/>
          <a:p>
            <a:pPr/>
          </a:p>
        </p:txBody>
      </p:sp>
      <p:sp>
        <p:nvSpPr>
          <p:cNvPr id="328" name="card-222"/>
          <p:cNvSpPr/>
          <p:nvPr/>
        </p:nvSpPr>
        <p:spPr>
          <a:xfrm>
            <a:off x="9966959" y="1645920"/>
            <a:ext cx="1664209"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29" name="box-label-223"/>
          <p:cNvSpPr txBox="1"/>
          <p:nvPr/>
        </p:nvSpPr>
        <p:spPr>
          <a:xfrm>
            <a:off x="10058400" y="1882579"/>
            <a:ext cx="1481328"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Online evals</a:t>
            </a:r>
          </a:p>
        </p:txBody>
      </p:sp>
      <p:sp>
        <p:nvSpPr>
          <p:cNvPr id="330" name="loop-224"/>
          <p:cNvSpPr/>
          <p:nvPr/>
        </p:nvSpPr>
        <p:spPr>
          <a:xfrm>
            <a:off x="10799063" y="2286000"/>
            <a:ext cx="915" cy="320041"/>
          </a:xfrm>
          <a:prstGeom prst="line">
            <a:avLst/>
          </a:prstGeom>
          <a:ln w="19050">
            <a:solidFill>
              <a:schemeClr val="accent2"/>
            </a:solidFill>
          </a:ln>
        </p:spPr>
        <p:txBody>
          <a:bodyPr lIns="45719" rIns="45719"/>
          <a:lstStyle/>
          <a:p>
            <a:pPr/>
          </a:p>
        </p:txBody>
      </p:sp>
      <p:sp>
        <p:nvSpPr>
          <p:cNvPr id="331" name="loop-225"/>
          <p:cNvSpPr/>
          <p:nvPr/>
        </p:nvSpPr>
        <p:spPr>
          <a:xfrm>
            <a:off x="3264407" y="2606039"/>
            <a:ext cx="7534658" cy="916"/>
          </a:xfrm>
          <a:prstGeom prst="line">
            <a:avLst/>
          </a:prstGeom>
          <a:ln w="19050">
            <a:solidFill>
              <a:schemeClr val="accent2"/>
            </a:solidFill>
          </a:ln>
        </p:spPr>
        <p:txBody>
          <a:bodyPr lIns="45719" rIns="45719"/>
          <a:lstStyle/>
          <a:p>
            <a:pPr/>
          </a:p>
        </p:txBody>
      </p:sp>
      <p:sp>
        <p:nvSpPr>
          <p:cNvPr id="332" name="arrow-226"/>
          <p:cNvSpPr/>
          <p:nvPr/>
        </p:nvSpPr>
        <p:spPr>
          <a:xfrm flipV="1">
            <a:off x="3264408" y="2286000"/>
            <a:ext cx="915" cy="320041"/>
          </a:xfrm>
          <a:prstGeom prst="line">
            <a:avLst/>
          </a:prstGeom>
          <a:ln w="19050">
            <a:solidFill>
              <a:schemeClr val="accent2"/>
            </a:solidFill>
            <a:tailEnd type="triangle"/>
          </a:ln>
        </p:spPr>
        <p:txBody>
          <a:bodyPr lIns="45719" rIns="45719"/>
          <a:lstStyle/>
          <a:p>
            <a:pPr/>
          </a:p>
        </p:txBody>
      </p:sp>
      <p:sp>
        <p:nvSpPr>
          <p:cNvPr id="333" name="text-227"/>
          <p:cNvSpPr txBox="1"/>
          <p:nvPr/>
        </p:nvSpPr>
        <p:spPr>
          <a:xfrm>
            <a:off x="3447288" y="2651760"/>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chemeClr val="accent5"/>
                </a:solidFill>
              </a:defRPr>
            </a:lvl1pPr>
          </a:lstStyle>
          <a:p>
            <a:pPr/>
            <a:r>
              <a:t>Production failures become new dataset examples</a:t>
            </a:r>
          </a:p>
        </p:txBody>
      </p:sp>
      <p:sp>
        <p:nvSpPr>
          <p:cNvPr id="334" name="text-228"/>
          <p:cNvSpPr txBox="1"/>
          <p:nvPr/>
        </p:nvSpPr>
        <p:spPr>
          <a:xfrm>
            <a:off x="548640" y="315467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Evaluators, cheapest first</a:t>
            </a:r>
          </a:p>
        </p:txBody>
      </p:sp>
      <p:sp>
        <p:nvSpPr>
          <p:cNvPr id="335" name="badge-229"/>
          <p:cNvSpPr/>
          <p:nvPr/>
        </p:nvSpPr>
        <p:spPr>
          <a:xfrm>
            <a:off x="548640" y="3648455"/>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336" name="badge-label-230"/>
          <p:cNvSpPr txBox="1"/>
          <p:nvPr/>
        </p:nvSpPr>
        <p:spPr>
          <a:xfrm>
            <a:off x="548640" y="3757074"/>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1</a:t>
            </a:r>
          </a:p>
        </p:txBody>
      </p:sp>
      <p:sp>
        <p:nvSpPr>
          <p:cNvPr id="337" name="text-231"/>
          <p:cNvSpPr txBox="1"/>
          <p:nvPr/>
        </p:nvSpPr>
        <p:spPr>
          <a:xfrm>
            <a:off x="1097280" y="3754944"/>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Deterministic  </a:t>
            </a:r>
            <a:r>
              <a:rPr b="0">
                <a:solidFill>
                  <a:schemeClr val="accent3"/>
                </a:solidFill>
              </a:rPr>
              <a:t>risk_matches, finding_recall</a:t>
            </a:r>
            <a:r>
              <a:rPr b="0">
                <a:solidFill>
                  <a:schemeClr val="accent5"/>
                </a:solidFill>
              </a:rPr>
              <a:t>  ·  IDs, schema, exact values</a:t>
            </a:r>
          </a:p>
        </p:txBody>
      </p:sp>
      <p:sp>
        <p:nvSpPr>
          <p:cNvPr id="338" name="badge-232"/>
          <p:cNvSpPr/>
          <p:nvPr/>
        </p:nvSpPr>
        <p:spPr>
          <a:xfrm>
            <a:off x="548640" y="4270247"/>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339" name="badge-label-233"/>
          <p:cNvSpPr txBox="1"/>
          <p:nvPr/>
        </p:nvSpPr>
        <p:spPr>
          <a:xfrm>
            <a:off x="548640" y="4378866"/>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2</a:t>
            </a:r>
          </a:p>
        </p:txBody>
      </p:sp>
      <p:sp>
        <p:nvSpPr>
          <p:cNvPr id="340" name="text-234"/>
          <p:cNvSpPr txBox="1"/>
          <p:nvPr/>
        </p:nvSpPr>
        <p:spPr>
          <a:xfrm>
            <a:off x="1097280" y="4376735"/>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LLM-as-judge  </a:t>
            </a:r>
            <a:r>
              <a:rPr b="0">
                <a:solidFill>
                  <a:schemeClr val="accent3"/>
                </a:solidFill>
              </a:rPr>
              <a:t>openevals CORRECTNESS</a:t>
            </a:r>
            <a:r>
              <a:rPr b="0">
                <a:solidFill>
                  <a:schemeClr val="accent5"/>
                </a:solidFill>
              </a:rPr>
              <a:t>  ·  Fuzzy quality vs. reference</a:t>
            </a:r>
          </a:p>
        </p:txBody>
      </p:sp>
      <p:sp>
        <p:nvSpPr>
          <p:cNvPr id="341" name="badge-235"/>
          <p:cNvSpPr/>
          <p:nvPr/>
        </p:nvSpPr>
        <p:spPr>
          <a:xfrm>
            <a:off x="548640" y="4892040"/>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342" name="badge-label-236"/>
          <p:cNvSpPr txBox="1"/>
          <p:nvPr/>
        </p:nvSpPr>
        <p:spPr>
          <a:xfrm>
            <a:off x="548640" y="5000658"/>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3</a:t>
            </a:r>
          </a:p>
        </p:txBody>
      </p:sp>
      <p:sp>
        <p:nvSpPr>
          <p:cNvPr id="343" name="text-237"/>
          <p:cNvSpPr txBox="1"/>
          <p:nvPr/>
        </p:nvSpPr>
        <p:spPr>
          <a:xfrm>
            <a:off x="1097280" y="4998528"/>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Trajectory  </a:t>
            </a:r>
            <a:r>
              <a:rPr b="0">
                <a:solidFill>
                  <a:schemeClr val="accent3"/>
                </a:solidFill>
              </a:rPr>
              <a:t>agentevals</a:t>
            </a:r>
            <a:r>
              <a:rPr b="0">
                <a:solidFill>
                  <a:schemeClr val="accent5"/>
                </a:solidFill>
              </a:rPr>
              <a:t>  ·  Right tools, sensible order</a:t>
            </a:r>
          </a:p>
        </p:txBody>
      </p:sp>
      <p:sp>
        <p:nvSpPr>
          <p:cNvPr id="344" name="badge-238"/>
          <p:cNvSpPr/>
          <p:nvPr/>
        </p:nvSpPr>
        <p:spPr>
          <a:xfrm>
            <a:off x="548640" y="5513832"/>
            <a:ext cx="402337" cy="402337"/>
          </a:xfrm>
          <a:prstGeom prst="roundRect">
            <a:avLst>
              <a:gd name="adj" fmla="val 22727"/>
            </a:avLst>
          </a:prstGeom>
          <a:solidFill>
            <a:schemeClr val="accent1"/>
          </a:solidFill>
          <a:ln w="12700">
            <a:solidFill>
              <a:schemeClr val="accent1"/>
            </a:solidFill>
          </a:ln>
        </p:spPr>
        <p:txBody>
          <a:bodyPr lIns="45719" rIns="45719"/>
          <a:lstStyle/>
          <a:p>
            <a:pPr/>
          </a:p>
        </p:txBody>
      </p:sp>
      <p:sp>
        <p:nvSpPr>
          <p:cNvPr id="345" name="badge-label-239"/>
          <p:cNvSpPr txBox="1"/>
          <p:nvPr/>
        </p:nvSpPr>
        <p:spPr>
          <a:xfrm>
            <a:off x="548640" y="5622450"/>
            <a:ext cx="402337"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latin typeface="Arial"/>
                <a:ea typeface="Arial"/>
                <a:cs typeface="Arial"/>
                <a:sym typeface="Arial"/>
              </a:defRPr>
            </a:lvl1pPr>
          </a:lstStyle>
          <a:p>
            <a:pPr/>
            <a:r>
              <a:t>4</a:t>
            </a:r>
          </a:p>
        </p:txBody>
      </p:sp>
      <p:sp>
        <p:nvSpPr>
          <p:cNvPr id="346" name="text-240"/>
          <p:cNvSpPr txBox="1"/>
          <p:nvPr/>
        </p:nvSpPr>
        <p:spPr>
          <a:xfrm>
            <a:off x="1097280" y="5620320"/>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Human  </a:t>
            </a:r>
            <a:r>
              <a:rPr b="0">
                <a:solidFill>
                  <a:schemeClr val="accent3"/>
                </a:solidFill>
              </a:rPr>
              <a:t>Annotation queues</a:t>
            </a:r>
            <a:r>
              <a:rPr b="0">
                <a:solidFill>
                  <a:schemeClr val="accent5"/>
                </a:solidFill>
              </a:rPr>
              <a:t>  ·  Calibrate the judge</a:t>
            </a:r>
          </a:p>
        </p:txBody>
      </p:sp>
      <p:sp>
        <p:nvSpPr>
          <p:cNvPr id="347" name="card-241"/>
          <p:cNvSpPr/>
          <p:nvPr/>
        </p:nvSpPr>
        <p:spPr>
          <a:xfrm>
            <a:off x="6903719" y="3154679"/>
            <a:ext cx="4736593" cy="2926081"/>
          </a:xfrm>
          <a:prstGeom prst="roundRect">
            <a:avLst>
              <a:gd name="adj" fmla="val 3750"/>
            </a:avLst>
          </a:prstGeom>
          <a:solidFill>
            <a:srgbClr val="12332B"/>
          </a:solidFill>
          <a:ln w="12700">
            <a:solidFill>
              <a:srgbClr val="12332B"/>
            </a:solidFill>
          </a:ln>
        </p:spPr>
        <p:txBody>
          <a:bodyPr lIns="45719" rIns="45719"/>
          <a:lstStyle/>
          <a:p>
            <a:pPr/>
          </a:p>
        </p:txBody>
      </p:sp>
      <p:sp>
        <p:nvSpPr>
          <p:cNvPr id="348" name="text-242"/>
          <p:cNvSpPr txBox="1"/>
          <p:nvPr/>
        </p:nvSpPr>
        <p:spPr>
          <a:xfrm>
            <a:off x="7178040" y="3337559"/>
            <a:ext cx="4187953" cy="2020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chemeClr val="accent1"/>
                </a:solidFill>
              </a:defRPr>
            </a:pPr>
            <a:r>
              <a:t>A/B experiment design</a:t>
            </a:r>
            <a:endParaRPr sz="1400"/>
          </a:p>
          <a:p>
            <a:pPr marL="342900" indent="-342900">
              <a:spcBef>
                <a:spcPts val="400"/>
              </a:spcBef>
              <a:buSzPct val="100000"/>
              <a:buChar char="•"/>
              <a:defRPr sz="1400">
                <a:solidFill>
                  <a:srgbClr val="FFFFFF"/>
                </a:solidFill>
              </a:defRPr>
            </a:pPr>
            <a:r>
              <a:t>Dataset psc-triage-v1: golden cases incl. a clean control</a:t>
            </a:r>
          </a:p>
          <a:p>
            <a:pPr marL="342900" indent="-342900">
              <a:spcBef>
                <a:spcPts val="400"/>
              </a:spcBef>
              <a:buSzPct val="100000"/>
              <a:buChar char="•"/>
              <a:defRPr sz="1400">
                <a:solidFill>
                  <a:srgbClr val="FFFFFF"/>
                </a:solidFill>
              </a:defRPr>
            </a:pPr>
            <a:r>
              <a:t>v1-baseline vs. v2-sla-first system prompt</a:t>
            </a:r>
          </a:p>
          <a:p>
            <a:pPr marL="342900" indent="-342900">
              <a:spcBef>
                <a:spcPts val="400"/>
              </a:spcBef>
              <a:buSzPct val="100000"/>
              <a:buChar char="•"/>
              <a:defRPr sz="1400">
                <a:solidFill>
                  <a:srgbClr val="FFFFFF"/>
                </a:solidFill>
              </a:defRPr>
            </a:pPr>
            <a:r>
              <a:t>2 repetitions each to separate signal from noise</a:t>
            </a:r>
          </a:p>
          <a:p>
            <a:pPr marL="342900" indent="-342900">
              <a:spcBef>
                <a:spcPts val="400"/>
              </a:spcBef>
              <a:buSzPct val="100000"/>
              <a:buChar char="•"/>
              <a:defRPr sz="1400">
                <a:solidFill>
                  <a:srgbClr val="FFFFFF"/>
                </a:solidFill>
              </a:defRPr>
            </a:pPr>
            <a:r>
              <a:t>Compare per example, grouped by prompt_variant</a:t>
            </a:r>
          </a:p>
          <a:p>
            <a:pPr>
              <a:spcBef>
                <a:spcPts val="400"/>
              </a:spcBef>
              <a:defRPr i="1" sz="1300">
                <a:solidFill>
                  <a:schemeClr val="accent4"/>
                </a:solidFill>
              </a:defRPr>
            </a:pPr>
            <a:r>
              <a:t>5 examples is a smoke test; real engagements need 50–200 from production traces.</a:t>
            </a:r>
          </a:p>
        </p:txBody>
      </p:sp>
      <p:sp>
        <p:nvSpPr>
          <p:cNvPr id="349" name="Slide Number Placeholder 0"/>
          <p:cNvSpPr txBox="1"/>
          <p:nvPr>
            <p:ph type="sldNum" sz="quarter" idx="4294967295"/>
          </p:nvPr>
        </p:nvSpPr>
        <p:spPr>
          <a:xfrm>
            <a:off x="11410178" y="640080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Text 0"/>
          <p:cNvSpPr txBox="1"/>
          <p:nvPr>
            <p:ph type="body" sz="quarter" idx="1"/>
          </p:nvPr>
        </p:nvSpPr>
        <p:spPr>
          <a:prstGeom prst="rect">
            <a:avLst/>
          </a:prstGeom>
        </p:spPr>
        <p:txBody>
          <a:bodyPr lIns="0" tIns="0" rIns="0" bIns="0"/>
          <a:lstStyle/>
          <a:p>
            <a:pPr/>
            <a:r>
              <a:t>MODULE 7 · DEPLOY</a:t>
            </a:r>
          </a:p>
        </p:txBody>
      </p:sp>
      <p:sp>
        <p:nvSpPr>
          <p:cNvPr id="354" name="Text 0"/>
          <p:cNvSpPr txBox="1"/>
          <p:nvPr>
            <p:ph type="title"/>
          </p:nvPr>
        </p:nvSpPr>
        <p:spPr>
          <a:xfrm>
            <a:off x="548639" y="585216"/>
            <a:ext cx="11094417" cy="731521"/>
          </a:xfrm>
          <a:prstGeom prst="rect">
            <a:avLst/>
          </a:prstGeom>
        </p:spPr>
        <p:txBody>
          <a:bodyPr lIns="0" tIns="0" rIns="0" bIns="0"/>
          <a:lstStyle/>
          <a:p>
            <a:pPr/>
            <a:r>
              <a:t>One Agent Server, four deployment shapes</a:t>
            </a:r>
          </a:p>
        </p:txBody>
      </p:sp>
      <p:sp>
        <p:nvSpPr>
          <p:cNvPr id="355" name="badge-243"/>
          <p:cNvSpPr/>
          <p:nvPr/>
        </p:nvSpPr>
        <p:spPr>
          <a:xfrm>
            <a:off x="548640" y="1645920"/>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356" name="badge-label-244"/>
          <p:cNvSpPr txBox="1"/>
          <p:nvPr/>
        </p:nvSpPr>
        <p:spPr>
          <a:xfrm>
            <a:off x="548640" y="177582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1</a:t>
            </a:r>
          </a:p>
        </p:txBody>
      </p:sp>
      <p:sp>
        <p:nvSpPr>
          <p:cNvPr id="357" name="text-245"/>
          <p:cNvSpPr txBox="1"/>
          <p:nvPr/>
        </p:nvSpPr>
        <p:spPr>
          <a:xfrm>
            <a:off x="1188719" y="1600200"/>
            <a:ext cx="3291842" cy="3826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latin typeface="Courier New"/>
                <a:ea typeface="Courier New"/>
                <a:cs typeface="Courier New"/>
                <a:sym typeface="Courier New"/>
              </a:defRPr>
            </a:pPr>
            <a:r>
              <a:t>langgraph dev</a:t>
            </a:r>
            <a:endParaRPr sz="1400"/>
          </a:p>
          <a:p>
            <a:pPr>
              <a:defRPr sz="1300">
                <a:solidFill>
                  <a:schemeClr val="accent5"/>
                </a:solidFill>
              </a:defRPr>
            </a:pPr>
            <a:r>
              <a:t>In-memory server + Studio, hot reload</a:t>
            </a:r>
          </a:p>
        </p:txBody>
      </p:sp>
      <p:sp>
        <p:nvSpPr>
          <p:cNvPr id="358" name="badge-246"/>
          <p:cNvSpPr/>
          <p:nvPr/>
        </p:nvSpPr>
        <p:spPr>
          <a:xfrm>
            <a:off x="548640" y="2606039"/>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359" name="badge-label-247"/>
          <p:cNvSpPr txBox="1"/>
          <p:nvPr/>
        </p:nvSpPr>
        <p:spPr>
          <a:xfrm>
            <a:off x="548640" y="273594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2</a:t>
            </a:r>
          </a:p>
        </p:txBody>
      </p:sp>
      <p:sp>
        <p:nvSpPr>
          <p:cNvPr id="360" name="text-248"/>
          <p:cNvSpPr txBox="1"/>
          <p:nvPr/>
        </p:nvSpPr>
        <p:spPr>
          <a:xfrm>
            <a:off x="1188719" y="2560320"/>
            <a:ext cx="3291842" cy="3826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latin typeface="Courier New"/>
                <a:ea typeface="Courier New"/>
                <a:cs typeface="Courier New"/>
                <a:sym typeface="Courier New"/>
              </a:defRPr>
            </a:pPr>
            <a:r>
              <a:t>langgraph build</a:t>
            </a:r>
            <a:endParaRPr sz="1400"/>
          </a:p>
          <a:p>
            <a:pPr>
              <a:defRPr sz="1300">
                <a:solidFill>
                  <a:schemeClr val="accent5"/>
                </a:solidFill>
              </a:defRPr>
            </a:pPr>
            <a:r>
              <a:t>Image on langchain/langgraph-api</a:t>
            </a:r>
          </a:p>
        </p:txBody>
      </p:sp>
      <p:sp>
        <p:nvSpPr>
          <p:cNvPr id="361" name="badge-249"/>
          <p:cNvSpPr/>
          <p:nvPr/>
        </p:nvSpPr>
        <p:spPr>
          <a:xfrm>
            <a:off x="548640" y="3566159"/>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362" name="badge-label-250"/>
          <p:cNvSpPr txBox="1"/>
          <p:nvPr/>
        </p:nvSpPr>
        <p:spPr>
          <a:xfrm>
            <a:off x="548640" y="369606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3</a:t>
            </a:r>
          </a:p>
        </p:txBody>
      </p:sp>
      <p:sp>
        <p:nvSpPr>
          <p:cNvPr id="363" name="text-251"/>
          <p:cNvSpPr txBox="1"/>
          <p:nvPr/>
        </p:nvSpPr>
        <p:spPr>
          <a:xfrm>
            <a:off x="1188719" y="3520440"/>
            <a:ext cx="3291842" cy="3826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latin typeface="Courier New"/>
                <a:ea typeface="Courier New"/>
                <a:cs typeface="Courier New"/>
                <a:sym typeface="Courier New"/>
              </a:defRPr>
            </a:pPr>
            <a:r>
              <a:t>langgraph deploy</a:t>
            </a:r>
            <a:endParaRPr sz="1400"/>
          </a:p>
          <a:p>
            <a:pPr>
              <a:defRPr sz="1300">
                <a:solidFill>
                  <a:schemeClr val="accent5"/>
                </a:solidFill>
              </a:defRPr>
            </a:pPr>
            <a:r>
              <a:t>Build + ship to LangSmith Deployment</a:t>
            </a:r>
          </a:p>
        </p:txBody>
      </p:sp>
      <p:graphicFrame>
        <p:nvGraphicFramePr>
          <p:cNvPr id="364" name="options-254"/>
          <p:cNvGraphicFramePr/>
          <p:nvPr/>
        </p:nvGraphicFramePr>
        <p:xfrm>
          <a:off x="4846320" y="1645920"/>
          <a:ext cx="6793993" cy="35661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08760"/>
                <a:gridCol w="1325880"/>
                <a:gridCol w="1463040"/>
                <a:gridCol w="2496312"/>
              </a:tblGrid>
              <a:tr h="713232">
                <a:tc>
                  <a:txBody>
                    <a:bodyPr/>
                    <a:lstStyle/>
                    <a:p>
                      <a:pPr algn="l">
                        <a:defRPr sz="1800">
                          <a:solidFill>
                            <a:srgbClr val="000000"/>
                          </a:solidFill>
                        </a:defRPr>
                      </a:pPr>
                      <a:r>
                        <a:rPr b="1" sz="1300">
                          <a:solidFill>
                            <a:srgbClr val="FFFFFF"/>
                          </a:solidFill>
                        </a:rPr>
                        <a:t>Option</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c>
                  <a:txBody>
                    <a:bodyPr/>
                    <a:lstStyle/>
                    <a:p>
                      <a:pPr algn="l">
                        <a:defRPr sz="1800">
                          <a:solidFill>
                            <a:srgbClr val="000000"/>
                          </a:solidFill>
                        </a:defRPr>
                      </a:pPr>
                      <a:r>
                        <a:rPr b="1" sz="1300">
                          <a:solidFill>
                            <a:srgbClr val="FFFFFF"/>
                          </a:solidFill>
                        </a:rPr>
                        <a:t>Control plane</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c>
                  <a:txBody>
                    <a:bodyPr/>
                    <a:lstStyle/>
                    <a:p>
                      <a:pPr algn="l">
                        <a:defRPr sz="1800">
                          <a:solidFill>
                            <a:srgbClr val="000000"/>
                          </a:solidFill>
                        </a:defRPr>
                      </a:pPr>
                      <a:r>
                        <a:rPr b="1" sz="1300">
                          <a:solidFill>
                            <a:srgbClr val="FFFFFF"/>
                          </a:solidFill>
                        </a:rPr>
                        <a:t>Data plane</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c>
                  <a:txBody>
                    <a:bodyPr/>
                    <a:lstStyle/>
                    <a:p>
                      <a:pPr algn="l">
                        <a:defRPr sz="1800">
                          <a:solidFill>
                            <a:srgbClr val="000000"/>
                          </a:solidFill>
                        </a:defRPr>
                      </a:pPr>
                      <a:r>
                        <a:rPr b="1" sz="1300">
                          <a:solidFill>
                            <a:srgbClr val="FFFFFF"/>
                          </a:solidFill>
                        </a:rPr>
                        <a:t>Recommend when</a:t>
                      </a:r>
                    </a:p>
                  </a:txBody>
                  <a:tcPr marL="50800" marR="50800" marT="50800" marB="50800" anchor="ctr" anchorCtr="0" horzOverflow="overflow">
                    <a:lnL w="12700">
                      <a:miter lim="400000"/>
                    </a:lnL>
                    <a:lnR w="12700">
                      <a:miter lim="400000"/>
                    </a:lnR>
                    <a:lnT w="12700">
                      <a:miter lim="400000"/>
                    </a:lnT>
                    <a:lnB w="12700">
                      <a:miter lim="400000"/>
                    </a:lnB>
                    <a:solidFill>
                      <a:schemeClr val="accent3"/>
                    </a:solidFill>
                  </a:tcPr>
                </a:tc>
              </a:tr>
              <a:tr h="713232">
                <a:tc>
                  <a:txBody>
                    <a:bodyPr/>
                    <a:lstStyle/>
                    <a:p>
                      <a:pPr algn="l">
                        <a:defRPr sz="1800">
                          <a:solidFill>
                            <a:srgbClr val="000000"/>
                          </a:solidFill>
                        </a:defRPr>
                      </a:pPr>
                      <a:r>
                        <a:rPr b="1" sz="1300">
                          <a:solidFill>
                            <a:srgbClr val="0E1A17"/>
                          </a:solidFill>
                        </a:rPr>
                        <a:t>Cloud</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LangChain</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LangChain</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Fastest path, no residency limits</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r>
              <a:tr h="713232">
                <a:tc>
                  <a:txBody>
                    <a:bodyPr/>
                    <a:lstStyle/>
                    <a:p>
                      <a:pPr algn="l">
                        <a:defRPr sz="1800">
                          <a:solidFill>
                            <a:srgbClr val="000000"/>
                          </a:solidFill>
                        </a:defRPr>
                      </a:pPr>
                      <a:r>
                        <a:rPr b="1" sz="1300">
                          <a:solidFill>
                            <a:srgbClr val="0E1A17"/>
                          </a:solidFill>
                        </a:rPr>
                        <a:t>Hybrid</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LangChain</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Customer cluster</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Data stays in VPC; traces still leave</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r>
              <a:tr h="713232">
                <a:tc>
                  <a:txBody>
                    <a:bodyPr/>
                    <a:lstStyle/>
                    <a:p>
                      <a:pPr algn="l">
                        <a:defRPr sz="1800">
                          <a:solidFill>
                            <a:srgbClr val="000000"/>
                          </a:solidFill>
                        </a:defRPr>
                      </a:pPr>
                      <a:r>
                        <a:rPr b="1" sz="1300">
                          <a:solidFill>
                            <a:srgbClr val="0E1A17"/>
                          </a:solidFill>
                        </a:rPr>
                        <a:t>Self-hosted</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Customer</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Customer</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c>
                  <a:txBody>
                    <a:bodyPr/>
                    <a:lstStyle/>
                    <a:p>
                      <a:pPr algn="l">
                        <a:defRPr sz="1800">
                          <a:solidFill>
                            <a:srgbClr val="000000"/>
                          </a:solidFill>
                        </a:defRPr>
                      </a:pPr>
                      <a:r>
                        <a:rPr sz="1300">
                          <a:solidFill>
                            <a:srgbClr val="0E1A17"/>
                          </a:solidFill>
                        </a:rPr>
                        <a:t>Regulated or air-gapped</a:t>
                      </a:r>
                    </a:p>
                  </a:txBody>
                  <a:tcPr marL="50800" marR="50800" marT="50800" marB="50800" anchor="ctr" anchorCtr="0" horzOverflow="overflow">
                    <a:lnL w="12700">
                      <a:miter lim="400000"/>
                    </a:lnL>
                    <a:lnR w="12700">
                      <a:miter lim="400000"/>
                    </a:lnR>
                    <a:lnT w="12700">
                      <a:miter lim="400000"/>
                    </a:lnT>
                    <a:lnB w="12700">
                      <a:miter lim="400000"/>
                    </a:lnB>
                    <a:solidFill>
                      <a:srgbClr val="EEF5F1"/>
                    </a:solidFill>
                  </a:tcPr>
                </a:tc>
              </a:tr>
              <a:tr h="713232">
                <a:tc>
                  <a:txBody>
                    <a:bodyPr/>
                    <a:lstStyle/>
                    <a:p>
                      <a:pPr algn="l">
                        <a:defRPr sz="1800">
                          <a:solidFill>
                            <a:srgbClr val="000000"/>
                          </a:solidFill>
                        </a:defRPr>
                      </a:pPr>
                      <a:r>
                        <a:rPr b="1" sz="1300">
                          <a:solidFill>
                            <a:srgbClr val="0E1A17"/>
                          </a:solidFill>
                        </a:rPr>
                        <a:t>Standalone server</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None</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Customer</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solidFill>
                            <a:srgbClr val="000000"/>
                          </a:solidFill>
                        </a:defRPr>
                      </a:pPr>
                      <a:r>
                        <a:rPr sz="1300">
                          <a:solidFill>
                            <a:srgbClr val="0E1A17"/>
                          </a:solidFill>
                        </a:rPr>
                        <a:t>Has platform tooling, needs runtime only</a:t>
                      </a:r>
                    </a:p>
                  </a:txBody>
                  <a:tcPr marL="50800" marR="50800" marT="50800" marB="508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365" name="text-255"/>
          <p:cNvSpPr txBox="1"/>
          <p:nvPr/>
        </p:nvSpPr>
        <p:spPr>
          <a:xfrm>
            <a:off x="4846320" y="5486400"/>
            <a:ext cx="6793992"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5"/>
                </a:solidFill>
              </a:defRPr>
            </a:lvl1pPr>
          </a:lstStyle>
          <a:p>
            <a:pPr/>
            <a:r>
              <a:t>For DoD-style customers the default answer is self-hosted or hybrid, with private model endpoints and local embeddings.</a:t>
            </a:r>
          </a:p>
        </p:txBody>
      </p:sp>
      <p:sp>
        <p:nvSpPr>
          <p:cNvPr id="366" name="Slide Number Placeholder 0"/>
          <p:cNvSpPr txBox="1"/>
          <p:nvPr>
            <p:ph type="sldNum" sz="quarter" idx="4294967295"/>
          </p:nvPr>
        </p:nvSpPr>
        <p:spPr>
          <a:xfrm>
            <a:off x="11410178" y="640080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Text 0"/>
          <p:cNvSpPr txBox="1"/>
          <p:nvPr>
            <p:ph type="body" sz="quarter" idx="1"/>
          </p:nvPr>
        </p:nvSpPr>
        <p:spPr>
          <a:prstGeom prst="rect">
            <a:avLst/>
          </a:prstGeom>
        </p:spPr>
        <p:txBody>
          <a:bodyPr lIns="0" tIns="0" rIns="0" bIns="0"/>
          <a:lstStyle/>
          <a:p>
            <a:pPr/>
            <a:r>
              <a:t>ARCHITECTURE REFERENCE · SELF-HOSTED LANGSMITH</a:t>
            </a:r>
          </a:p>
        </p:txBody>
      </p:sp>
      <p:sp>
        <p:nvSpPr>
          <p:cNvPr id="371" name="Text 0"/>
          <p:cNvSpPr txBox="1"/>
          <p:nvPr>
            <p:ph type="title"/>
          </p:nvPr>
        </p:nvSpPr>
        <p:spPr>
          <a:xfrm>
            <a:off x="548639" y="585216"/>
            <a:ext cx="11094417" cy="731521"/>
          </a:xfrm>
          <a:prstGeom prst="rect">
            <a:avLst/>
          </a:prstGeom>
        </p:spPr>
        <p:txBody>
          <a:bodyPr lIns="0" tIns="0" rIns="0" bIns="0"/>
          <a:lstStyle/>
          <a:p>
            <a:pPr/>
            <a:r>
              <a:t>LangSmith platform: components, services, scale</a:t>
            </a:r>
          </a:p>
        </p:txBody>
      </p:sp>
      <p:sp>
        <p:nvSpPr>
          <p:cNvPr id="372" name="text-292"/>
          <p:cNvSpPr txBox="1"/>
          <p:nvPr/>
        </p:nvSpPr>
        <p:spPr>
          <a:xfrm>
            <a:off x="548640" y="1481327"/>
            <a:ext cx="1371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000">
                <a:solidFill>
                  <a:schemeClr val="accent3"/>
                </a:solidFill>
              </a:defRPr>
            </a:lvl1pPr>
          </a:lstStyle>
          <a:p>
            <a:pPr/>
            <a:r>
              <a:t>CLIENTS</a:t>
            </a:r>
          </a:p>
        </p:txBody>
      </p:sp>
      <p:sp>
        <p:nvSpPr>
          <p:cNvPr id="373" name="card-293"/>
          <p:cNvSpPr/>
          <p:nvPr/>
        </p:nvSpPr>
        <p:spPr>
          <a:xfrm>
            <a:off x="548640" y="1783079"/>
            <a:ext cx="1325881"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74" name="box-label-294"/>
          <p:cNvSpPr txBox="1"/>
          <p:nvPr/>
        </p:nvSpPr>
        <p:spPr>
          <a:xfrm>
            <a:off x="640080" y="1940735"/>
            <a:ext cx="1143001"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SDK tracing</a:t>
            </a:r>
          </a:p>
          <a:p>
            <a:pPr algn="ctr">
              <a:defRPr sz="1100">
                <a:solidFill>
                  <a:schemeClr val="accent5"/>
                </a:solidFill>
              </a:defRPr>
            </a:pPr>
            <a:r>
              <a:t>apps, CI evals</a:t>
            </a:r>
          </a:p>
        </p:txBody>
      </p:sp>
      <p:sp>
        <p:nvSpPr>
          <p:cNvPr id="375" name="card-295"/>
          <p:cNvSpPr/>
          <p:nvPr/>
        </p:nvSpPr>
        <p:spPr>
          <a:xfrm>
            <a:off x="548640" y="2606039"/>
            <a:ext cx="1325881"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76" name="box-label-296"/>
          <p:cNvSpPr txBox="1"/>
          <p:nvPr/>
        </p:nvSpPr>
        <p:spPr>
          <a:xfrm>
            <a:off x="640080" y="2763696"/>
            <a:ext cx="1143001"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UI users</a:t>
            </a:r>
          </a:p>
          <a:p>
            <a:pPr algn="ctr">
              <a:defRPr sz="1100">
                <a:solidFill>
                  <a:schemeClr val="accent5"/>
                </a:solidFill>
              </a:defRPr>
            </a:pPr>
            <a:r>
              <a:t>browser</a:t>
            </a:r>
          </a:p>
        </p:txBody>
      </p:sp>
      <p:sp>
        <p:nvSpPr>
          <p:cNvPr id="377" name="card-297"/>
          <p:cNvSpPr/>
          <p:nvPr/>
        </p:nvSpPr>
        <p:spPr>
          <a:xfrm>
            <a:off x="548640" y="3429000"/>
            <a:ext cx="1325881" cy="640081"/>
          </a:xfrm>
          <a:prstGeom prst="roundRect">
            <a:avLst>
              <a:gd name="adj" fmla="val 17143"/>
            </a:avLst>
          </a:prstGeom>
          <a:solidFill>
            <a:srgbClr val="EEF5F1"/>
          </a:solidFill>
          <a:ln w="12700">
            <a:solidFill>
              <a:srgbClr val="EEF5F1"/>
            </a:solidFill>
          </a:ln>
        </p:spPr>
        <p:txBody>
          <a:bodyPr lIns="45719" rIns="45719"/>
          <a:lstStyle/>
          <a:p>
            <a:pPr/>
          </a:p>
        </p:txBody>
      </p:sp>
      <p:sp>
        <p:nvSpPr>
          <p:cNvPr id="378" name="box-label-298"/>
          <p:cNvSpPr txBox="1"/>
          <p:nvPr/>
        </p:nvSpPr>
        <p:spPr>
          <a:xfrm>
            <a:off x="640080" y="3586656"/>
            <a:ext cx="1143001"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Agent clients</a:t>
            </a:r>
          </a:p>
          <a:p>
            <a:pPr algn="ctr">
              <a:defRPr sz="1100">
                <a:solidFill>
                  <a:schemeClr val="accent5"/>
                </a:solidFill>
              </a:defRPr>
            </a:pPr>
            <a:r>
              <a:t>SDK / webhooks</a:t>
            </a:r>
          </a:p>
        </p:txBody>
      </p:sp>
      <p:sp>
        <p:nvSpPr>
          <p:cNvPr id="379" name="card-299"/>
          <p:cNvSpPr/>
          <p:nvPr/>
        </p:nvSpPr>
        <p:spPr>
          <a:xfrm>
            <a:off x="2103120" y="2240279"/>
            <a:ext cx="1188721" cy="1371601"/>
          </a:xfrm>
          <a:prstGeom prst="roundRect">
            <a:avLst>
              <a:gd name="adj" fmla="val 9231"/>
            </a:avLst>
          </a:prstGeom>
          <a:solidFill>
            <a:srgbClr val="12332B"/>
          </a:solidFill>
          <a:ln w="12700">
            <a:solidFill>
              <a:srgbClr val="12332B"/>
            </a:solidFill>
          </a:ln>
        </p:spPr>
        <p:txBody>
          <a:bodyPr lIns="45719" rIns="45719"/>
          <a:lstStyle/>
          <a:p>
            <a:pPr/>
          </a:p>
        </p:txBody>
      </p:sp>
      <p:sp>
        <p:nvSpPr>
          <p:cNvPr id="380" name="box-label-300"/>
          <p:cNvSpPr txBox="1"/>
          <p:nvPr/>
        </p:nvSpPr>
        <p:spPr>
          <a:xfrm>
            <a:off x="2194560" y="2763696"/>
            <a:ext cx="1005840"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Ingress / LB</a:t>
            </a:r>
          </a:p>
          <a:p>
            <a:pPr algn="ctr">
              <a:defRPr sz="1100">
                <a:solidFill>
                  <a:schemeClr val="accent4"/>
                </a:solidFill>
              </a:defRPr>
            </a:pPr>
            <a:r>
              <a:t>TLS · SSO (OIDC)</a:t>
            </a:r>
          </a:p>
        </p:txBody>
      </p:sp>
      <p:sp>
        <p:nvSpPr>
          <p:cNvPr id="381" name="arrow-301"/>
          <p:cNvSpPr/>
          <p:nvPr/>
        </p:nvSpPr>
        <p:spPr>
          <a:xfrm>
            <a:off x="1874520" y="2103120"/>
            <a:ext cx="228601" cy="548641"/>
          </a:xfrm>
          <a:prstGeom prst="line">
            <a:avLst/>
          </a:prstGeom>
          <a:ln w="19050">
            <a:solidFill>
              <a:schemeClr val="accent5"/>
            </a:solidFill>
            <a:tailEnd type="triangle"/>
          </a:ln>
        </p:spPr>
        <p:txBody>
          <a:bodyPr lIns="45719" rIns="45719"/>
          <a:lstStyle/>
          <a:p>
            <a:pPr/>
          </a:p>
        </p:txBody>
      </p:sp>
      <p:sp>
        <p:nvSpPr>
          <p:cNvPr id="382" name="arrow-302"/>
          <p:cNvSpPr/>
          <p:nvPr/>
        </p:nvSpPr>
        <p:spPr>
          <a:xfrm>
            <a:off x="1874520" y="2926079"/>
            <a:ext cx="228601" cy="915"/>
          </a:xfrm>
          <a:prstGeom prst="line">
            <a:avLst/>
          </a:prstGeom>
          <a:ln w="19050">
            <a:solidFill>
              <a:schemeClr val="accent5"/>
            </a:solidFill>
            <a:tailEnd type="triangle"/>
          </a:ln>
        </p:spPr>
        <p:txBody>
          <a:bodyPr lIns="45719" rIns="45719"/>
          <a:lstStyle/>
          <a:p>
            <a:pPr/>
          </a:p>
        </p:txBody>
      </p:sp>
      <p:sp>
        <p:nvSpPr>
          <p:cNvPr id="383" name="arrow-303"/>
          <p:cNvSpPr/>
          <p:nvPr/>
        </p:nvSpPr>
        <p:spPr>
          <a:xfrm flipV="1">
            <a:off x="1874520" y="3200400"/>
            <a:ext cx="228601" cy="548641"/>
          </a:xfrm>
          <a:prstGeom prst="line">
            <a:avLst/>
          </a:prstGeom>
          <a:ln w="19050">
            <a:solidFill>
              <a:schemeClr val="accent5"/>
            </a:solidFill>
            <a:tailEnd type="triangle"/>
          </a:ln>
        </p:spPr>
        <p:txBody>
          <a:bodyPr lIns="45719" rIns="45719"/>
          <a:lstStyle/>
          <a:p>
            <a:pPr/>
          </a:p>
        </p:txBody>
      </p:sp>
      <p:sp>
        <p:nvSpPr>
          <p:cNvPr id="384" name="card-304"/>
          <p:cNvSpPr/>
          <p:nvPr/>
        </p:nvSpPr>
        <p:spPr>
          <a:xfrm>
            <a:off x="3520440" y="1481327"/>
            <a:ext cx="5486401" cy="3584449"/>
          </a:xfrm>
          <a:prstGeom prst="roundRect">
            <a:avLst>
              <a:gd name="adj" fmla="val 3061"/>
            </a:avLst>
          </a:prstGeom>
          <a:solidFill>
            <a:srgbClr val="EEF5F1"/>
          </a:solidFill>
          <a:ln w="12700">
            <a:solidFill>
              <a:srgbClr val="EEF5F1"/>
            </a:solidFill>
          </a:ln>
        </p:spPr>
        <p:txBody>
          <a:bodyPr lIns="45719" rIns="45719"/>
          <a:lstStyle/>
          <a:p>
            <a:pPr/>
          </a:p>
        </p:txBody>
      </p:sp>
      <p:sp>
        <p:nvSpPr>
          <p:cNvPr id="385" name="text-305"/>
          <p:cNvSpPr txBox="1"/>
          <p:nvPr/>
        </p:nvSpPr>
        <p:spPr>
          <a:xfrm>
            <a:off x="3703320" y="1591055"/>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000">
                <a:solidFill>
                  <a:schemeClr val="accent3"/>
                </a:solidFill>
              </a:defRPr>
            </a:lvl1pPr>
          </a:lstStyle>
          <a:p>
            <a:pPr/>
            <a:r>
              <a:t>KUBERNETES · LANGSMITH NAMESPACE</a:t>
            </a:r>
          </a:p>
        </p:txBody>
      </p:sp>
      <p:sp>
        <p:nvSpPr>
          <p:cNvPr id="386" name="text-306"/>
          <p:cNvSpPr txBox="1"/>
          <p:nvPr/>
        </p:nvSpPr>
        <p:spPr>
          <a:xfrm>
            <a:off x="3703320" y="1828800"/>
            <a:ext cx="2743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100">
                <a:solidFill>
                  <a:schemeClr val="accent5"/>
                </a:solidFill>
              </a:defRPr>
            </a:lvl1pPr>
          </a:lstStyle>
          <a:p>
            <a:pPr/>
            <a:r>
              <a:t>Read / UI path</a:t>
            </a:r>
          </a:p>
        </p:txBody>
      </p:sp>
      <p:sp>
        <p:nvSpPr>
          <p:cNvPr id="387" name="card-307"/>
          <p:cNvSpPr/>
          <p:nvPr/>
        </p:nvSpPr>
        <p:spPr>
          <a:xfrm>
            <a:off x="3703320" y="2075688"/>
            <a:ext cx="1234441"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388" name="box-label-308"/>
          <p:cNvSpPr txBox="1"/>
          <p:nvPr/>
        </p:nvSpPr>
        <p:spPr>
          <a:xfrm>
            <a:off x="3794759" y="2269920"/>
            <a:ext cx="1051561"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Frontend</a:t>
            </a:r>
          </a:p>
          <a:p>
            <a:pPr algn="ctr">
              <a:defRPr sz="1100">
                <a:solidFill>
                  <a:schemeClr val="accent5"/>
                </a:solidFill>
              </a:defRPr>
            </a:pPr>
            <a:r>
              <a:t>UI + API routing</a:t>
            </a:r>
          </a:p>
        </p:txBody>
      </p:sp>
      <p:sp>
        <p:nvSpPr>
          <p:cNvPr id="389" name="card-309"/>
          <p:cNvSpPr/>
          <p:nvPr/>
        </p:nvSpPr>
        <p:spPr>
          <a:xfrm>
            <a:off x="5047488" y="2075688"/>
            <a:ext cx="1234440"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390" name="box-label-310"/>
          <p:cNvSpPr txBox="1"/>
          <p:nvPr/>
        </p:nvSpPr>
        <p:spPr>
          <a:xfrm>
            <a:off x="5138928" y="2269920"/>
            <a:ext cx="1051561"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Backend</a:t>
            </a:r>
          </a:p>
          <a:p>
            <a:pPr algn="ctr">
              <a:defRPr sz="1100">
                <a:solidFill>
                  <a:schemeClr val="accent5"/>
                </a:solidFill>
              </a:defRPr>
            </a:pPr>
            <a:r>
              <a:t>CRUD, queries</a:t>
            </a:r>
          </a:p>
        </p:txBody>
      </p:sp>
      <p:sp>
        <p:nvSpPr>
          <p:cNvPr id="391" name="card-311"/>
          <p:cNvSpPr/>
          <p:nvPr/>
        </p:nvSpPr>
        <p:spPr>
          <a:xfrm>
            <a:off x="6391655" y="2075688"/>
            <a:ext cx="1188721"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392" name="box-label-312"/>
          <p:cNvSpPr txBox="1"/>
          <p:nvPr/>
        </p:nvSpPr>
        <p:spPr>
          <a:xfrm>
            <a:off x="6483096" y="2269920"/>
            <a:ext cx="1005840"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Playground</a:t>
            </a:r>
          </a:p>
          <a:p>
            <a:pPr algn="ctr">
              <a:defRPr sz="1100">
                <a:solidFill>
                  <a:schemeClr val="accent5"/>
                </a:solidFill>
              </a:defRPr>
            </a:pPr>
            <a:r>
              <a:t>LLM API proxy</a:t>
            </a:r>
          </a:p>
        </p:txBody>
      </p:sp>
      <p:sp>
        <p:nvSpPr>
          <p:cNvPr id="393" name="card-313"/>
          <p:cNvSpPr/>
          <p:nvPr/>
        </p:nvSpPr>
        <p:spPr>
          <a:xfrm>
            <a:off x="7690104" y="2075688"/>
            <a:ext cx="1188721"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394" name="box-label-314"/>
          <p:cNvSpPr txBox="1"/>
          <p:nvPr/>
        </p:nvSpPr>
        <p:spPr>
          <a:xfrm>
            <a:off x="7781543" y="2269920"/>
            <a:ext cx="1005840"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ACE</a:t>
            </a:r>
          </a:p>
          <a:p>
            <a:pPr algn="ctr">
              <a:defRPr sz="1100">
                <a:solidFill>
                  <a:schemeClr val="accent5"/>
                </a:solidFill>
              </a:defRPr>
            </a:pPr>
            <a:r>
              <a:t>sandboxed code</a:t>
            </a:r>
          </a:p>
        </p:txBody>
      </p:sp>
      <p:sp>
        <p:nvSpPr>
          <p:cNvPr id="395" name="arrow-315"/>
          <p:cNvSpPr/>
          <p:nvPr/>
        </p:nvSpPr>
        <p:spPr>
          <a:xfrm>
            <a:off x="4937759" y="2432304"/>
            <a:ext cx="109729" cy="914"/>
          </a:xfrm>
          <a:prstGeom prst="line">
            <a:avLst/>
          </a:prstGeom>
          <a:ln w="19050">
            <a:solidFill>
              <a:schemeClr val="accent5"/>
            </a:solidFill>
            <a:tailEnd type="triangle"/>
          </a:ln>
        </p:spPr>
        <p:txBody>
          <a:bodyPr lIns="45719" rIns="45719"/>
          <a:lstStyle/>
          <a:p>
            <a:pPr/>
          </a:p>
        </p:txBody>
      </p:sp>
      <p:sp>
        <p:nvSpPr>
          <p:cNvPr id="396" name="text-316"/>
          <p:cNvSpPr txBox="1"/>
          <p:nvPr/>
        </p:nvSpPr>
        <p:spPr>
          <a:xfrm>
            <a:off x="3703320" y="2926079"/>
            <a:ext cx="27432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100">
                <a:solidFill>
                  <a:schemeClr val="accent5"/>
                </a:solidFill>
              </a:defRPr>
            </a:lvl1pPr>
          </a:lstStyle>
          <a:p>
            <a:pPr/>
            <a:r>
              <a:t>Write / ingest path</a:t>
            </a:r>
          </a:p>
        </p:txBody>
      </p:sp>
      <p:sp>
        <p:nvSpPr>
          <p:cNvPr id="397" name="card-317"/>
          <p:cNvSpPr/>
          <p:nvPr/>
        </p:nvSpPr>
        <p:spPr>
          <a:xfrm>
            <a:off x="3703320" y="3172967"/>
            <a:ext cx="1828801"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398" name="box-label-318"/>
          <p:cNvSpPr txBox="1"/>
          <p:nvPr/>
        </p:nvSpPr>
        <p:spPr>
          <a:xfrm>
            <a:off x="3794759" y="3367199"/>
            <a:ext cx="1645921"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Platform backend</a:t>
            </a:r>
          </a:p>
          <a:p>
            <a:pPr algn="ctr">
              <a:defRPr sz="1100">
                <a:solidFill>
                  <a:schemeClr val="accent5"/>
                </a:solidFill>
              </a:defRPr>
            </a:pPr>
            <a:r>
              <a:t>auth, run ingestion</a:t>
            </a:r>
          </a:p>
        </p:txBody>
      </p:sp>
      <p:sp>
        <p:nvSpPr>
          <p:cNvPr id="399" name="card-319"/>
          <p:cNvSpPr/>
          <p:nvPr/>
        </p:nvSpPr>
        <p:spPr>
          <a:xfrm>
            <a:off x="6172200" y="3172967"/>
            <a:ext cx="1828800"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400" name="box-label-320"/>
          <p:cNvSpPr txBox="1"/>
          <p:nvPr/>
        </p:nvSpPr>
        <p:spPr>
          <a:xfrm>
            <a:off x="6263640" y="3367199"/>
            <a:ext cx="1645921"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Ingest queue</a:t>
            </a:r>
          </a:p>
          <a:p>
            <a:pPr algn="ctr">
              <a:defRPr sz="1100">
                <a:solidFill>
                  <a:schemeClr val="accent5"/>
                </a:solidFill>
              </a:defRPr>
            </a:pPr>
            <a:r>
              <a:t>async workers, retries</a:t>
            </a:r>
          </a:p>
        </p:txBody>
      </p:sp>
      <p:sp>
        <p:nvSpPr>
          <p:cNvPr id="401" name="arrow-321"/>
          <p:cNvSpPr/>
          <p:nvPr/>
        </p:nvSpPr>
        <p:spPr>
          <a:xfrm>
            <a:off x="5532120" y="3529584"/>
            <a:ext cx="640081" cy="915"/>
          </a:xfrm>
          <a:prstGeom prst="line">
            <a:avLst/>
          </a:prstGeom>
          <a:ln w="19050">
            <a:solidFill>
              <a:schemeClr val="accent2"/>
            </a:solidFill>
            <a:tailEnd type="triangle"/>
          </a:ln>
        </p:spPr>
        <p:txBody>
          <a:bodyPr lIns="45719" rIns="45719"/>
          <a:lstStyle/>
          <a:p>
            <a:pPr/>
          </a:p>
        </p:txBody>
      </p:sp>
      <p:sp>
        <p:nvSpPr>
          <p:cNvPr id="402" name="text-322"/>
          <p:cNvSpPr txBox="1"/>
          <p:nvPr/>
        </p:nvSpPr>
        <p:spPr>
          <a:xfrm>
            <a:off x="5577840" y="3246120"/>
            <a:ext cx="54864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chemeClr val="accent5"/>
                </a:solidFill>
              </a:defRPr>
            </a:lvl1pPr>
          </a:lstStyle>
          <a:p>
            <a:pPr/>
            <a:r>
              <a:t>Redis</a:t>
            </a:r>
          </a:p>
        </p:txBody>
      </p:sp>
      <p:sp>
        <p:nvSpPr>
          <p:cNvPr id="403" name="text-323"/>
          <p:cNvSpPr txBox="1"/>
          <p:nvPr/>
        </p:nvSpPr>
        <p:spPr>
          <a:xfrm>
            <a:off x="3703320" y="40233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100">
                <a:solidFill>
                  <a:schemeClr val="accent5"/>
                </a:solidFill>
              </a:defRPr>
            </a:lvl1pPr>
          </a:lstStyle>
          <a:p>
            <a:pPr/>
            <a:r>
              <a:t>Deployment add-on (optional)</a:t>
            </a:r>
          </a:p>
        </p:txBody>
      </p:sp>
      <p:sp>
        <p:nvSpPr>
          <p:cNvPr id="404" name="card-324"/>
          <p:cNvSpPr/>
          <p:nvPr/>
        </p:nvSpPr>
        <p:spPr>
          <a:xfrm>
            <a:off x="3703320" y="4270247"/>
            <a:ext cx="2377441" cy="713233"/>
          </a:xfrm>
          <a:prstGeom prst="roundRect">
            <a:avLst>
              <a:gd name="adj" fmla="val 15385"/>
            </a:avLst>
          </a:prstGeom>
          <a:solidFill>
            <a:srgbClr val="FFFFFF"/>
          </a:solidFill>
          <a:ln w="12700">
            <a:solidFill>
              <a:srgbClr val="FFFFFF"/>
            </a:solidFill>
          </a:ln>
        </p:spPr>
        <p:txBody>
          <a:bodyPr lIns="45719" rIns="45719"/>
          <a:lstStyle/>
          <a:p>
            <a:pPr/>
          </a:p>
        </p:txBody>
      </p:sp>
      <p:sp>
        <p:nvSpPr>
          <p:cNvPr id="405" name="box-label-325"/>
          <p:cNvSpPr txBox="1"/>
          <p:nvPr/>
        </p:nvSpPr>
        <p:spPr>
          <a:xfrm>
            <a:off x="3794759" y="4464479"/>
            <a:ext cx="2194561"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Control plane</a:t>
            </a:r>
          </a:p>
          <a:p>
            <a:pPr algn="ctr">
              <a:defRPr sz="1100">
                <a:solidFill>
                  <a:schemeClr val="accent5"/>
                </a:solidFill>
              </a:defRPr>
            </a:pPr>
            <a:r>
              <a:t>host backend, listener, operator</a:t>
            </a:r>
          </a:p>
        </p:txBody>
      </p:sp>
      <p:sp>
        <p:nvSpPr>
          <p:cNvPr id="406" name="card-326"/>
          <p:cNvSpPr/>
          <p:nvPr/>
        </p:nvSpPr>
        <p:spPr>
          <a:xfrm>
            <a:off x="6355079" y="4270247"/>
            <a:ext cx="2523745" cy="713233"/>
          </a:xfrm>
          <a:prstGeom prst="roundRect">
            <a:avLst>
              <a:gd name="adj" fmla="val 15385"/>
            </a:avLst>
          </a:prstGeom>
          <a:solidFill>
            <a:schemeClr val="accent1"/>
          </a:solidFill>
          <a:ln w="12700">
            <a:solidFill>
              <a:schemeClr val="accent1"/>
            </a:solidFill>
          </a:ln>
        </p:spPr>
        <p:txBody>
          <a:bodyPr lIns="45719" rIns="45719"/>
          <a:lstStyle/>
          <a:p>
            <a:pPr/>
          </a:p>
        </p:txBody>
      </p:sp>
      <p:sp>
        <p:nvSpPr>
          <p:cNvPr id="407" name="box-label-327"/>
          <p:cNvSpPr txBox="1"/>
          <p:nvPr/>
        </p:nvSpPr>
        <p:spPr>
          <a:xfrm>
            <a:off x="6446520" y="4464479"/>
            <a:ext cx="2340865"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Agent Servers</a:t>
            </a:r>
          </a:p>
          <a:p>
            <a:pPr algn="ctr">
              <a:defRPr sz="1100">
                <a:solidFill>
                  <a:srgbClr val="FFFFFF"/>
                </a:solidFill>
              </a:defRPr>
            </a:pPr>
            <a:r>
              <a:t>API pods + queue workers</a:t>
            </a:r>
          </a:p>
        </p:txBody>
      </p:sp>
      <p:sp>
        <p:nvSpPr>
          <p:cNvPr id="408" name="arrow-328"/>
          <p:cNvSpPr/>
          <p:nvPr/>
        </p:nvSpPr>
        <p:spPr>
          <a:xfrm>
            <a:off x="6080759" y="4626864"/>
            <a:ext cx="274321" cy="915"/>
          </a:xfrm>
          <a:prstGeom prst="line">
            <a:avLst/>
          </a:prstGeom>
          <a:ln w="19050">
            <a:solidFill>
              <a:schemeClr val="accent5"/>
            </a:solidFill>
            <a:tailEnd type="triangle"/>
          </a:ln>
        </p:spPr>
        <p:txBody>
          <a:bodyPr lIns="45719" rIns="45719"/>
          <a:lstStyle/>
          <a:p>
            <a:pPr/>
          </a:p>
        </p:txBody>
      </p:sp>
      <p:sp>
        <p:nvSpPr>
          <p:cNvPr id="409" name="arrow-329"/>
          <p:cNvSpPr/>
          <p:nvPr/>
        </p:nvSpPr>
        <p:spPr>
          <a:xfrm flipV="1">
            <a:off x="3291840" y="2432304"/>
            <a:ext cx="411481" cy="265177"/>
          </a:xfrm>
          <a:prstGeom prst="line">
            <a:avLst/>
          </a:prstGeom>
          <a:ln w="19050">
            <a:solidFill>
              <a:schemeClr val="accent5"/>
            </a:solidFill>
            <a:tailEnd type="triangle"/>
          </a:ln>
        </p:spPr>
        <p:txBody>
          <a:bodyPr lIns="45719" rIns="45719"/>
          <a:lstStyle/>
          <a:p>
            <a:pPr/>
          </a:p>
        </p:txBody>
      </p:sp>
      <p:sp>
        <p:nvSpPr>
          <p:cNvPr id="410" name="arrow-330"/>
          <p:cNvSpPr/>
          <p:nvPr/>
        </p:nvSpPr>
        <p:spPr>
          <a:xfrm>
            <a:off x="3291840" y="3154680"/>
            <a:ext cx="411481" cy="374905"/>
          </a:xfrm>
          <a:prstGeom prst="line">
            <a:avLst/>
          </a:prstGeom>
          <a:ln w="19050">
            <a:solidFill>
              <a:schemeClr val="accent5"/>
            </a:solidFill>
            <a:tailEnd type="triangle"/>
          </a:ln>
        </p:spPr>
        <p:txBody>
          <a:bodyPr lIns="45719" rIns="45719"/>
          <a:lstStyle/>
          <a:p>
            <a:pPr/>
          </a:p>
        </p:txBody>
      </p:sp>
      <p:sp>
        <p:nvSpPr>
          <p:cNvPr id="411" name="text-331"/>
          <p:cNvSpPr txBox="1"/>
          <p:nvPr/>
        </p:nvSpPr>
        <p:spPr>
          <a:xfrm>
            <a:off x="9326880" y="1481327"/>
            <a:ext cx="23134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000">
                <a:solidFill>
                  <a:schemeClr val="accent3"/>
                </a:solidFill>
              </a:defRPr>
            </a:lvl1pPr>
          </a:lstStyle>
          <a:p>
            <a:pPr/>
            <a:r>
              <a:t>MANAGED SERVICES (EXTERNAL)</a:t>
            </a:r>
          </a:p>
        </p:txBody>
      </p:sp>
      <p:sp>
        <p:nvSpPr>
          <p:cNvPr id="412" name="card-332"/>
          <p:cNvSpPr/>
          <p:nvPr/>
        </p:nvSpPr>
        <p:spPr>
          <a:xfrm>
            <a:off x="9326880" y="1783079"/>
            <a:ext cx="2313433" cy="585217"/>
          </a:xfrm>
          <a:prstGeom prst="roundRect">
            <a:avLst>
              <a:gd name="adj" fmla="val 18750"/>
            </a:avLst>
          </a:prstGeom>
          <a:solidFill>
            <a:srgbClr val="12332B"/>
          </a:solidFill>
          <a:ln w="12700">
            <a:solidFill>
              <a:srgbClr val="12332B"/>
            </a:solidFill>
          </a:ln>
        </p:spPr>
        <p:txBody>
          <a:bodyPr lIns="45719" rIns="45719"/>
          <a:lstStyle/>
          <a:p>
            <a:pPr/>
          </a:p>
        </p:txBody>
      </p:sp>
      <p:sp>
        <p:nvSpPr>
          <p:cNvPr id="413" name="box-label-333"/>
          <p:cNvSpPr txBox="1"/>
          <p:nvPr/>
        </p:nvSpPr>
        <p:spPr>
          <a:xfrm>
            <a:off x="9418319" y="1913303"/>
            <a:ext cx="2130553"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ClickHouse</a:t>
            </a:r>
          </a:p>
          <a:p>
            <a:pPr algn="ctr">
              <a:defRPr sz="1100">
                <a:solidFill>
                  <a:schemeClr val="accent4"/>
                </a:solidFill>
              </a:defRPr>
            </a:pPr>
            <a:r>
              <a:t>traces, feedback</a:t>
            </a:r>
          </a:p>
        </p:txBody>
      </p:sp>
      <p:sp>
        <p:nvSpPr>
          <p:cNvPr id="414" name="card-334"/>
          <p:cNvSpPr/>
          <p:nvPr/>
        </p:nvSpPr>
        <p:spPr>
          <a:xfrm>
            <a:off x="9326880" y="2459735"/>
            <a:ext cx="2313433" cy="585217"/>
          </a:xfrm>
          <a:prstGeom prst="roundRect">
            <a:avLst>
              <a:gd name="adj" fmla="val 18750"/>
            </a:avLst>
          </a:prstGeom>
          <a:solidFill>
            <a:srgbClr val="12332B"/>
          </a:solidFill>
          <a:ln w="12700">
            <a:solidFill>
              <a:srgbClr val="12332B"/>
            </a:solidFill>
          </a:ln>
        </p:spPr>
        <p:txBody>
          <a:bodyPr lIns="45719" rIns="45719"/>
          <a:lstStyle/>
          <a:p>
            <a:pPr/>
          </a:p>
        </p:txBody>
      </p:sp>
      <p:sp>
        <p:nvSpPr>
          <p:cNvPr id="415" name="box-label-335"/>
          <p:cNvSpPr txBox="1"/>
          <p:nvPr/>
        </p:nvSpPr>
        <p:spPr>
          <a:xfrm>
            <a:off x="9418319" y="2589959"/>
            <a:ext cx="2130553" cy="3247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PostgreSQL</a:t>
            </a:r>
          </a:p>
          <a:p>
            <a:pPr algn="ctr">
              <a:defRPr sz="1100">
                <a:solidFill>
                  <a:schemeClr val="accent4"/>
                </a:solidFill>
              </a:defRPr>
            </a:pPr>
            <a:r>
              <a:t>operational data</a:t>
            </a:r>
          </a:p>
        </p:txBody>
      </p:sp>
      <p:sp>
        <p:nvSpPr>
          <p:cNvPr id="416" name="card-336"/>
          <p:cNvSpPr/>
          <p:nvPr/>
        </p:nvSpPr>
        <p:spPr>
          <a:xfrm>
            <a:off x="9326880" y="3136392"/>
            <a:ext cx="2313433" cy="585217"/>
          </a:xfrm>
          <a:prstGeom prst="roundRect">
            <a:avLst>
              <a:gd name="adj" fmla="val 18750"/>
            </a:avLst>
          </a:prstGeom>
          <a:solidFill>
            <a:srgbClr val="12332B"/>
          </a:solidFill>
          <a:ln w="12700">
            <a:solidFill>
              <a:srgbClr val="12332B"/>
            </a:solidFill>
          </a:ln>
        </p:spPr>
        <p:txBody>
          <a:bodyPr lIns="45719" rIns="45719"/>
          <a:lstStyle/>
          <a:p>
            <a:pPr/>
          </a:p>
        </p:txBody>
      </p:sp>
      <p:sp>
        <p:nvSpPr>
          <p:cNvPr id="417" name="box-label-337"/>
          <p:cNvSpPr txBox="1"/>
          <p:nvPr/>
        </p:nvSpPr>
        <p:spPr>
          <a:xfrm>
            <a:off x="9418319" y="3266616"/>
            <a:ext cx="2130553"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Redis / Valkey</a:t>
            </a:r>
          </a:p>
          <a:p>
            <a:pPr algn="ctr">
              <a:defRPr sz="1100">
                <a:solidFill>
                  <a:schemeClr val="accent4"/>
                </a:solidFill>
              </a:defRPr>
            </a:pPr>
            <a:r>
              <a:t>ingest queue, cache</a:t>
            </a:r>
          </a:p>
        </p:txBody>
      </p:sp>
      <p:sp>
        <p:nvSpPr>
          <p:cNvPr id="418" name="card-338"/>
          <p:cNvSpPr/>
          <p:nvPr/>
        </p:nvSpPr>
        <p:spPr>
          <a:xfrm>
            <a:off x="9326880" y="3813047"/>
            <a:ext cx="2313433" cy="585217"/>
          </a:xfrm>
          <a:prstGeom prst="roundRect">
            <a:avLst>
              <a:gd name="adj" fmla="val 18750"/>
            </a:avLst>
          </a:prstGeom>
          <a:solidFill>
            <a:srgbClr val="12332B"/>
          </a:solidFill>
          <a:ln w="12700">
            <a:solidFill>
              <a:srgbClr val="12332B"/>
            </a:solidFill>
          </a:ln>
        </p:spPr>
        <p:txBody>
          <a:bodyPr lIns="45719" rIns="45719"/>
          <a:lstStyle/>
          <a:p>
            <a:pPr/>
          </a:p>
        </p:txBody>
      </p:sp>
      <p:sp>
        <p:nvSpPr>
          <p:cNvPr id="419" name="box-label-339"/>
          <p:cNvSpPr txBox="1"/>
          <p:nvPr/>
        </p:nvSpPr>
        <p:spPr>
          <a:xfrm>
            <a:off x="9418319" y="3943272"/>
            <a:ext cx="2130553"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Blob storage</a:t>
            </a:r>
          </a:p>
          <a:p>
            <a:pPr algn="ctr">
              <a:defRPr sz="1100">
                <a:solidFill>
                  <a:schemeClr val="accent4"/>
                </a:solidFill>
              </a:defRPr>
            </a:pPr>
            <a:r>
              <a:t>S3 / GCS / Azure: payloads</a:t>
            </a:r>
          </a:p>
        </p:txBody>
      </p:sp>
      <p:sp>
        <p:nvSpPr>
          <p:cNvPr id="420" name="card-340"/>
          <p:cNvSpPr/>
          <p:nvPr/>
        </p:nvSpPr>
        <p:spPr>
          <a:xfrm>
            <a:off x="9326880" y="4489703"/>
            <a:ext cx="2313433" cy="585217"/>
          </a:xfrm>
          <a:prstGeom prst="roundRect">
            <a:avLst>
              <a:gd name="adj" fmla="val 18750"/>
            </a:avLst>
          </a:prstGeom>
          <a:solidFill>
            <a:srgbClr val="EEF5F1"/>
          </a:solidFill>
          <a:ln w="12700">
            <a:solidFill>
              <a:srgbClr val="EEF5F1"/>
            </a:solidFill>
          </a:ln>
        </p:spPr>
        <p:txBody>
          <a:bodyPr lIns="45719" rIns="45719"/>
          <a:lstStyle/>
          <a:p>
            <a:pPr/>
          </a:p>
        </p:txBody>
      </p:sp>
      <p:sp>
        <p:nvSpPr>
          <p:cNvPr id="421" name="box-label-341"/>
          <p:cNvSpPr txBox="1"/>
          <p:nvPr/>
        </p:nvSpPr>
        <p:spPr>
          <a:xfrm>
            <a:off x="9418319" y="4619928"/>
            <a:ext cx="2130553"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pPr>
            <a:r>
              <a:t>Model APIs · IdP</a:t>
            </a:r>
          </a:p>
          <a:p>
            <a:pPr algn="ctr">
              <a:defRPr sz="1100">
                <a:solidFill>
                  <a:schemeClr val="accent5"/>
                </a:solidFill>
              </a:defRPr>
            </a:pPr>
            <a:r>
              <a:t>Bedrock, Vertex, OIDC</a:t>
            </a:r>
          </a:p>
        </p:txBody>
      </p:sp>
      <p:sp>
        <p:nvSpPr>
          <p:cNvPr id="422" name="arrow-342"/>
          <p:cNvSpPr/>
          <p:nvPr/>
        </p:nvSpPr>
        <p:spPr>
          <a:xfrm>
            <a:off x="9006840" y="3291840"/>
            <a:ext cx="320041" cy="915"/>
          </a:xfrm>
          <a:prstGeom prst="line">
            <a:avLst/>
          </a:prstGeom>
          <a:ln w="19050">
            <a:solidFill>
              <a:schemeClr val="accent5"/>
            </a:solidFill>
            <a:tailEnd type="triangle"/>
          </a:ln>
        </p:spPr>
        <p:txBody>
          <a:bodyPr lIns="45719" rIns="45719"/>
          <a:lstStyle/>
          <a:p>
            <a:pPr/>
          </a:p>
        </p:txBody>
      </p:sp>
      <p:sp>
        <p:nvSpPr>
          <p:cNvPr id="423" name="arrow-343"/>
          <p:cNvSpPr/>
          <p:nvPr/>
        </p:nvSpPr>
        <p:spPr>
          <a:xfrm flipH="1">
            <a:off x="9006840" y="3520440"/>
            <a:ext cx="320041" cy="915"/>
          </a:xfrm>
          <a:prstGeom prst="line">
            <a:avLst/>
          </a:prstGeom>
          <a:ln w="19050">
            <a:solidFill>
              <a:schemeClr val="accent5"/>
            </a:solidFill>
            <a:tailEnd type="triangle"/>
          </a:ln>
        </p:spPr>
        <p:txBody>
          <a:bodyPr lIns="45719" rIns="45719"/>
          <a:lstStyle/>
          <a:p>
            <a:pPr/>
          </a:p>
        </p:txBody>
      </p:sp>
      <p:sp>
        <p:nvSpPr>
          <p:cNvPr id="424" name="card-344"/>
          <p:cNvSpPr/>
          <p:nvPr/>
        </p:nvSpPr>
        <p:spPr>
          <a:xfrm>
            <a:off x="548640" y="5285232"/>
            <a:ext cx="2651761" cy="978409"/>
          </a:xfrm>
          <a:prstGeom prst="roundRect">
            <a:avLst>
              <a:gd name="adj" fmla="val 11215"/>
            </a:avLst>
          </a:prstGeom>
          <a:solidFill>
            <a:srgbClr val="FBEBD3"/>
          </a:solidFill>
          <a:ln w="12700">
            <a:solidFill>
              <a:srgbClr val="FBEBD3"/>
            </a:solidFill>
          </a:ln>
        </p:spPr>
        <p:txBody>
          <a:bodyPr lIns="45719" rIns="45719"/>
          <a:lstStyle/>
          <a:p>
            <a:pPr/>
          </a:p>
        </p:txBody>
      </p:sp>
      <p:sp>
        <p:nvSpPr>
          <p:cNvPr id="425" name="text-345"/>
          <p:cNvSpPr txBox="1"/>
          <p:nvPr/>
        </p:nvSpPr>
        <p:spPr>
          <a:xfrm>
            <a:off x="685800" y="5376671"/>
            <a:ext cx="2377440" cy="5505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pPr>
            <a:r>
              <a:t>Write path</a:t>
            </a:r>
            <a:endParaRPr sz="1400"/>
          </a:p>
          <a:p>
            <a:pPr>
              <a:defRPr sz="1200"/>
            </a:pPr>
            <a:r>
              <a:t>platform-backend 3→20, ingest queue 3→24; KEDA on Redis backlog</a:t>
            </a:r>
          </a:p>
        </p:txBody>
      </p:sp>
      <p:sp>
        <p:nvSpPr>
          <p:cNvPr id="426" name="card-346"/>
          <p:cNvSpPr/>
          <p:nvPr/>
        </p:nvSpPr>
        <p:spPr>
          <a:xfrm>
            <a:off x="3362249" y="5285232"/>
            <a:ext cx="2651761" cy="978409"/>
          </a:xfrm>
          <a:prstGeom prst="roundRect">
            <a:avLst>
              <a:gd name="adj" fmla="val 11215"/>
            </a:avLst>
          </a:prstGeom>
          <a:solidFill>
            <a:srgbClr val="EEF5F1"/>
          </a:solidFill>
          <a:ln w="12700">
            <a:solidFill>
              <a:srgbClr val="EEF5F1"/>
            </a:solidFill>
          </a:ln>
        </p:spPr>
        <p:txBody>
          <a:bodyPr lIns="45719" rIns="45719"/>
          <a:lstStyle/>
          <a:p>
            <a:pPr/>
          </a:p>
        </p:txBody>
      </p:sp>
      <p:sp>
        <p:nvSpPr>
          <p:cNvPr id="427" name="text-347"/>
          <p:cNvSpPr txBox="1"/>
          <p:nvPr/>
        </p:nvSpPr>
        <p:spPr>
          <a:xfrm>
            <a:off x="3499408" y="5376671"/>
            <a:ext cx="2377441" cy="5505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pPr>
            <a:r>
              <a:t>Read path</a:t>
            </a:r>
            <a:endParaRPr sz="1400"/>
          </a:p>
          <a:p>
            <a:pPr>
              <a:defRPr sz="1200"/>
            </a:pPr>
            <a:r>
              <a:t>backend 2→50 replicas; replicated ClickHouse cluster (3 nodes)</a:t>
            </a:r>
          </a:p>
        </p:txBody>
      </p:sp>
      <p:sp>
        <p:nvSpPr>
          <p:cNvPr id="428" name="card-348"/>
          <p:cNvSpPr/>
          <p:nvPr/>
        </p:nvSpPr>
        <p:spPr>
          <a:xfrm>
            <a:off x="6175857" y="5285232"/>
            <a:ext cx="2651761" cy="978409"/>
          </a:xfrm>
          <a:prstGeom prst="roundRect">
            <a:avLst>
              <a:gd name="adj" fmla="val 11215"/>
            </a:avLst>
          </a:prstGeom>
          <a:solidFill>
            <a:srgbClr val="D7F0E7"/>
          </a:solidFill>
          <a:ln w="12700">
            <a:solidFill>
              <a:srgbClr val="D7F0E7"/>
            </a:solidFill>
          </a:ln>
        </p:spPr>
        <p:txBody>
          <a:bodyPr lIns="45719" rIns="45719"/>
          <a:lstStyle/>
          <a:p>
            <a:pPr/>
          </a:p>
        </p:txBody>
      </p:sp>
      <p:sp>
        <p:nvSpPr>
          <p:cNvPr id="429" name="text-349"/>
          <p:cNvSpPr txBox="1"/>
          <p:nvPr/>
        </p:nvSpPr>
        <p:spPr>
          <a:xfrm>
            <a:off x="6313018" y="5376671"/>
            <a:ext cx="2377441" cy="5505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pPr>
            <a:r>
              <a:t>Agent runs</a:t>
            </a:r>
            <a:endParaRPr sz="1400"/>
          </a:p>
          <a:p>
            <a:pPr>
              <a:defRPr sz="1200"/>
            </a:pPr>
            <a:r>
              <a:t>workers = throughput × run time ÷ N_JOBS_PER_WORKER (default 10)</a:t>
            </a:r>
          </a:p>
        </p:txBody>
      </p:sp>
      <p:sp>
        <p:nvSpPr>
          <p:cNvPr id="430" name="card-350"/>
          <p:cNvSpPr/>
          <p:nvPr/>
        </p:nvSpPr>
        <p:spPr>
          <a:xfrm>
            <a:off x="8989466" y="5285232"/>
            <a:ext cx="2651761" cy="978409"/>
          </a:xfrm>
          <a:prstGeom prst="roundRect">
            <a:avLst>
              <a:gd name="adj" fmla="val 11215"/>
            </a:avLst>
          </a:prstGeom>
          <a:solidFill>
            <a:srgbClr val="EEF5F1"/>
          </a:solidFill>
          <a:ln w="12700">
            <a:solidFill>
              <a:srgbClr val="EEF5F1"/>
            </a:solidFill>
          </a:ln>
        </p:spPr>
        <p:txBody>
          <a:bodyPr lIns="45719" rIns="45719"/>
          <a:lstStyle/>
          <a:p>
            <a:pPr/>
          </a:p>
        </p:txBody>
      </p:sp>
      <p:sp>
        <p:nvSpPr>
          <p:cNvPr id="431" name="text-351"/>
          <p:cNvSpPr txBox="1"/>
          <p:nvPr/>
        </p:nvSpPr>
        <p:spPr>
          <a:xfrm>
            <a:off x="9126625" y="5376671"/>
            <a:ext cx="2377441" cy="5505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pPr>
            <a:r>
              <a:t>Data tier</a:t>
            </a:r>
            <a:endParaRPr sz="1400"/>
          </a:p>
          <a:p>
            <a:pPr>
              <a:defRPr sz="1200"/>
            </a:pPr>
            <a:r>
              <a:t>Redis up to 26 GB (external); ClickHouse disk sized per TTL day</a:t>
            </a:r>
          </a:p>
        </p:txBody>
      </p:sp>
      <p:sp>
        <p:nvSpPr>
          <p:cNvPr id="432" name="Slide Number Placeholder 0"/>
          <p:cNvSpPr txBox="1"/>
          <p:nvPr>
            <p:ph type="sldNum" sz="quarter" idx="4294967295"/>
          </p:nvPr>
        </p:nvSpPr>
        <p:spPr>
          <a:xfrm>
            <a:off x="11410178" y="6400800"/>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6" name="Text 0"/>
          <p:cNvSpPr txBox="1"/>
          <p:nvPr>
            <p:ph type="body" sz="quarter" idx="1"/>
          </p:nvPr>
        </p:nvSpPr>
        <p:spPr>
          <a:prstGeom prst="rect">
            <a:avLst/>
          </a:prstGeom>
        </p:spPr>
        <p:txBody>
          <a:bodyPr lIns="0" tIns="0" rIns="0" bIns="0"/>
          <a:lstStyle/>
          <a:p>
            <a:pPr/>
            <a:r>
              <a:t>HOW I'D RUN THIS WITH A CUSTOMER</a:t>
            </a:r>
          </a:p>
        </p:txBody>
      </p:sp>
      <p:sp>
        <p:nvSpPr>
          <p:cNvPr id="437" name="Text 0"/>
          <p:cNvSpPr txBox="1"/>
          <p:nvPr>
            <p:ph type="title"/>
          </p:nvPr>
        </p:nvSpPr>
        <p:spPr>
          <a:xfrm>
            <a:off x="548639" y="868680"/>
            <a:ext cx="11094417" cy="822961"/>
          </a:xfrm>
          <a:prstGeom prst="rect">
            <a:avLst/>
          </a:prstGeom>
        </p:spPr>
        <p:txBody>
          <a:bodyPr lIns="0" tIns="0" rIns="0" bIns="0"/>
          <a:lstStyle/>
          <a:p>
            <a:pPr/>
            <a:r>
              <a:t>From maturity assessment to production adoption</a:t>
            </a:r>
          </a:p>
        </p:txBody>
      </p:sp>
      <p:sp>
        <p:nvSpPr>
          <p:cNvPr id="438" name="card-392"/>
          <p:cNvSpPr/>
          <p:nvPr/>
        </p:nvSpPr>
        <p:spPr>
          <a:xfrm>
            <a:off x="548640" y="2103120"/>
            <a:ext cx="2615184" cy="2606041"/>
          </a:xfrm>
          <a:prstGeom prst="roundRect">
            <a:avLst>
              <a:gd name="adj" fmla="val 4211"/>
            </a:avLst>
          </a:prstGeom>
          <a:solidFill>
            <a:srgbClr val="1B4A3E"/>
          </a:solidFill>
          <a:ln w="12700">
            <a:solidFill>
              <a:srgbClr val="1B4A3E"/>
            </a:solidFill>
          </a:ln>
        </p:spPr>
        <p:txBody>
          <a:bodyPr lIns="45719" rIns="45719"/>
          <a:lstStyle/>
          <a:p>
            <a:pPr/>
          </a:p>
        </p:txBody>
      </p:sp>
      <p:sp>
        <p:nvSpPr>
          <p:cNvPr id="439" name="badge-393"/>
          <p:cNvSpPr/>
          <p:nvPr/>
        </p:nvSpPr>
        <p:spPr>
          <a:xfrm>
            <a:off x="777240" y="2331720"/>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440" name="badge-label-394"/>
          <p:cNvSpPr txBox="1"/>
          <p:nvPr/>
        </p:nvSpPr>
        <p:spPr>
          <a:xfrm>
            <a:off x="777240" y="246162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1</a:t>
            </a:r>
          </a:p>
        </p:txBody>
      </p:sp>
      <p:sp>
        <p:nvSpPr>
          <p:cNvPr id="441" name="text-395"/>
          <p:cNvSpPr txBox="1"/>
          <p:nvPr/>
        </p:nvSpPr>
        <p:spPr>
          <a:xfrm>
            <a:off x="777240" y="3017520"/>
            <a:ext cx="2157984" cy="116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FFFFFF"/>
                </a:solidFill>
              </a:defRPr>
            </a:pPr>
            <a:r>
              <a:t>Assess</a:t>
            </a:r>
            <a:endParaRPr sz="1400"/>
          </a:p>
          <a:p>
            <a:pPr>
              <a:defRPr sz="1500">
                <a:solidFill>
                  <a:schemeClr val="accent4"/>
                </a:solidFill>
              </a:defRPr>
            </a:pPr>
            <a:r>
              <a:t>Where are they on trace → eval → deploy → improve? Infra, security and data constraints.</a:t>
            </a:r>
          </a:p>
        </p:txBody>
      </p:sp>
      <p:sp>
        <p:nvSpPr>
          <p:cNvPr id="442" name="arrow-396"/>
          <p:cNvSpPr/>
          <p:nvPr/>
        </p:nvSpPr>
        <p:spPr>
          <a:xfrm>
            <a:off x="3182111" y="3406140"/>
            <a:ext cx="164593" cy="915"/>
          </a:xfrm>
          <a:prstGeom prst="line">
            <a:avLst/>
          </a:prstGeom>
          <a:ln w="19050">
            <a:solidFill>
              <a:schemeClr val="accent1"/>
            </a:solidFill>
            <a:tailEnd type="triangle"/>
          </a:ln>
        </p:spPr>
        <p:txBody>
          <a:bodyPr lIns="45719" rIns="45719"/>
          <a:lstStyle/>
          <a:p>
            <a:pPr/>
          </a:p>
        </p:txBody>
      </p:sp>
      <p:sp>
        <p:nvSpPr>
          <p:cNvPr id="443" name="card-397"/>
          <p:cNvSpPr/>
          <p:nvPr/>
        </p:nvSpPr>
        <p:spPr>
          <a:xfrm>
            <a:off x="3364991" y="2103120"/>
            <a:ext cx="2615185" cy="2606041"/>
          </a:xfrm>
          <a:prstGeom prst="roundRect">
            <a:avLst>
              <a:gd name="adj" fmla="val 4211"/>
            </a:avLst>
          </a:prstGeom>
          <a:solidFill>
            <a:srgbClr val="1B4A3E"/>
          </a:solidFill>
          <a:ln w="12700">
            <a:solidFill>
              <a:srgbClr val="1B4A3E"/>
            </a:solidFill>
          </a:ln>
        </p:spPr>
        <p:txBody>
          <a:bodyPr lIns="45719" rIns="45719"/>
          <a:lstStyle/>
          <a:p>
            <a:pPr/>
          </a:p>
        </p:txBody>
      </p:sp>
      <p:sp>
        <p:nvSpPr>
          <p:cNvPr id="444" name="badge-398"/>
          <p:cNvSpPr/>
          <p:nvPr/>
        </p:nvSpPr>
        <p:spPr>
          <a:xfrm>
            <a:off x="3593591" y="2331720"/>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445" name="badge-label-399"/>
          <p:cNvSpPr txBox="1"/>
          <p:nvPr/>
        </p:nvSpPr>
        <p:spPr>
          <a:xfrm>
            <a:off x="3593591" y="246162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2</a:t>
            </a:r>
          </a:p>
        </p:txBody>
      </p:sp>
      <p:sp>
        <p:nvSpPr>
          <p:cNvPr id="446" name="text-400"/>
          <p:cNvSpPr txBox="1"/>
          <p:nvPr/>
        </p:nvSpPr>
        <p:spPr>
          <a:xfrm>
            <a:off x="3593591" y="3017520"/>
            <a:ext cx="2157985" cy="935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FFFFFF"/>
                </a:solidFill>
              </a:defRPr>
            </a:pPr>
            <a:r>
              <a:t>Prove value</a:t>
            </a:r>
            <a:endParaRPr sz="1400"/>
          </a:p>
          <a:p>
            <a:pPr>
              <a:defRPr sz="1500">
                <a:solidFill>
                  <a:schemeClr val="accent4"/>
                </a:solidFill>
              </a:defRPr>
            </a:pPr>
            <a:r>
              <a:t>One workflow end to end, with a golden dataset and agreed success metrics.</a:t>
            </a:r>
          </a:p>
        </p:txBody>
      </p:sp>
      <p:sp>
        <p:nvSpPr>
          <p:cNvPr id="447" name="arrow-401"/>
          <p:cNvSpPr/>
          <p:nvPr/>
        </p:nvSpPr>
        <p:spPr>
          <a:xfrm>
            <a:off x="5998464" y="3406140"/>
            <a:ext cx="164593" cy="915"/>
          </a:xfrm>
          <a:prstGeom prst="line">
            <a:avLst/>
          </a:prstGeom>
          <a:ln w="19050">
            <a:solidFill>
              <a:schemeClr val="accent1"/>
            </a:solidFill>
            <a:tailEnd type="triangle"/>
          </a:ln>
        </p:spPr>
        <p:txBody>
          <a:bodyPr lIns="45719" rIns="45719"/>
          <a:lstStyle/>
          <a:p>
            <a:pPr/>
          </a:p>
        </p:txBody>
      </p:sp>
      <p:sp>
        <p:nvSpPr>
          <p:cNvPr id="448" name="card-402"/>
          <p:cNvSpPr/>
          <p:nvPr/>
        </p:nvSpPr>
        <p:spPr>
          <a:xfrm>
            <a:off x="6181344" y="2103120"/>
            <a:ext cx="2615184" cy="2606041"/>
          </a:xfrm>
          <a:prstGeom prst="roundRect">
            <a:avLst>
              <a:gd name="adj" fmla="val 4211"/>
            </a:avLst>
          </a:prstGeom>
          <a:solidFill>
            <a:srgbClr val="1B4A3E"/>
          </a:solidFill>
          <a:ln w="12700">
            <a:solidFill>
              <a:srgbClr val="1B4A3E"/>
            </a:solidFill>
          </a:ln>
        </p:spPr>
        <p:txBody>
          <a:bodyPr lIns="45719" rIns="45719"/>
          <a:lstStyle/>
          <a:p>
            <a:pPr/>
          </a:p>
        </p:txBody>
      </p:sp>
      <p:sp>
        <p:nvSpPr>
          <p:cNvPr id="449" name="badge-403"/>
          <p:cNvSpPr/>
          <p:nvPr/>
        </p:nvSpPr>
        <p:spPr>
          <a:xfrm>
            <a:off x="6409944" y="2331720"/>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450" name="badge-label-404"/>
          <p:cNvSpPr txBox="1"/>
          <p:nvPr/>
        </p:nvSpPr>
        <p:spPr>
          <a:xfrm>
            <a:off x="6409944" y="246162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3</a:t>
            </a:r>
          </a:p>
        </p:txBody>
      </p:sp>
      <p:sp>
        <p:nvSpPr>
          <p:cNvPr id="451" name="text-405"/>
          <p:cNvSpPr txBox="1"/>
          <p:nvPr/>
        </p:nvSpPr>
        <p:spPr>
          <a:xfrm>
            <a:off x="6409944" y="3017520"/>
            <a:ext cx="2157984" cy="935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FFFFFF"/>
                </a:solidFill>
              </a:defRPr>
            </a:pPr>
            <a:r>
              <a:t>Productionize</a:t>
            </a:r>
            <a:endParaRPr sz="1400"/>
          </a:p>
          <a:p>
            <a:pPr>
              <a:defRPr sz="1500">
                <a:solidFill>
                  <a:schemeClr val="accent4"/>
                </a:solidFill>
              </a:defRPr>
            </a:pPr>
            <a:r>
              <a:t>Deployment shape, HA/DR, auth, CI eval gate, runbooks for their platform team.</a:t>
            </a:r>
          </a:p>
        </p:txBody>
      </p:sp>
      <p:sp>
        <p:nvSpPr>
          <p:cNvPr id="452" name="arrow-406"/>
          <p:cNvSpPr/>
          <p:nvPr/>
        </p:nvSpPr>
        <p:spPr>
          <a:xfrm>
            <a:off x="8814815" y="3406140"/>
            <a:ext cx="164593" cy="915"/>
          </a:xfrm>
          <a:prstGeom prst="line">
            <a:avLst/>
          </a:prstGeom>
          <a:ln w="19050">
            <a:solidFill>
              <a:schemeClr val="accent1"/>
            </a:solidFill>
            <a:tailEnd type="triangle"/>
          </a:ln>
        </p:spPr>
        <p:txBody>
          <a:bodyPr lIns="45719" rIns="45719"/>
          <a:lstStyle/>
          <a:p>
            <a:pPr/>
          </a:p>
        </p:txBody>
      </p:sp>
      <p:sp>
        <p:nvSpPr>
          <p:cNvPr id="453" name="card-407"/>
          <p:cNvSpPr/>
          <p:nvPr/>
        </p:nvSpPr>
        <p:spPr>
          <a:xfrm>
            <a:off x="8997695" y="2103120"/>
            <a:ext cx="2615185" cy="2606041"/>
          </a:xfrm>
          <a:prstGeom prst="roundRect">
            <a:avLst>
              <a:gd name="adj" fmla="val 4211"/>
            </a:avLst>
          </a:prstGeom>
          <a:solidFill>
            <a:srgbClr val="1B4A3E"/>
          </a:solidFill>
          <a:ln w="12700">
            <a:solidFill>
              <a:srgbClr val="1B4A3E"/>
            </a:solidFill>
          </a:ln>
        </p:spPr>
        <p:txBody>
          <a:bodyPr lIns="45719" rIns="45719"/>
          <a:lstStyle/>
          <a:p>
            <a:pPr/>
          </a:p>
        </p:txBody>
      </p:sp>
      <p:sp>
        <p:nvSpPr>
          <p:cNvPr id="454" name="badge-408"/>
          <p:cNvSpPr/>
          <p:nvPr/>
        </p:nvSpPr>
        <p:spPr>
          <a:xfrm>
            <a:off x="9226295" y="2331720"/>
            <a:ext cx="457201" cy="457201"/>
          </a:xfrm>
          <a:prstGeom prst="roundRect">
            <a:avLst>
              <a:gd name="adj" fmla="val 20000"/>
            </a:avLst>
          </a:prstGeom>
          <a:solidFill>
            <a:schemeClr val="accent1"/>
          </a:solidFill>
          <a:ln w="12700">
            <a:solidFill>
              <a:schemeClr val="accent1"/>
            </a:solidFill>
          </a:ln>
        </p:spPr>
        <p:txBody>
          <a:bodyPr lIns="45719" rIns="45719"/>
          <a:lstStyle/>
          <a:p>
            <a:pPr/>
          </a:p>
        </p:txBody>
      </p:sp>
      <p:sp>
        <p:nvSpPr>
          <p:cNvPr id="455" name="badge-label-409"/>
          <p:cNvSpPr txBox="1"/>
          <p:nvPr/>
        </p:nvSpPr>
        <p:spPr>
          <a:xfrm>
            <a:off x="9226295" y="2461628"/>
            <a:ext cx="457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latin typeface="Arial"/>
                <a:ea typeface="Arial"/>
                <a:cs typeface="Arial"/>
                <a:sym typeface="Arial"/>
              </a:defRPr>
            </a:lvl1pPr>
          </a:lstStyle>
          <a:p>
            <a:pPr/>
            <a:r>
              <a:t>4</a:t>
            </a:r>
          </a:p>
        </p:txBody>
      </p:sp>
      <p:sp>
        <p:nvSpPr>
          <p:cNvPr id="456" name="text-410"/>
          <p:cNvSpPr txBox="1"/>
          <p:nvPr/>
        </p:nvSpPr>
        <p:spPr>
          <a:xfrm>
            <a:off x="9226295" y="3017520"/>
            <a:ext cx="2157985" cy="116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FFFFFF"/>
                </a:solidFill>
              </a:defRPr>
            </a:pPr>
            <a:r>
              <a:t>Improve</a:t>
            </a:r>
            <a:endParaRPr sz="1400"/>
          </a:p>
          <a:p>
            <a:pPr>
              <a:defRPr sz="1500">
                <a:solidFill>
                  <a:schemeClr val="accent4"/>
                </a:solidFill>
              </a:defRPr>
            </a:pPr>
            <a:r>
              <a:t>Online evals and annotation queues feeding the dataset; prompt and model A/B tests.</a:t>
            </a:r>
          </a:p>
        </p:txBody>
      </p:sp>
      <p:sp>
        <p:nvSpPr>
          <p:cNvPr id="457" name="text-411"/>
          <p:cNvSpPr txBox="1"/>
          <p:nvPr/>
        </p:nvSpPr>
        <p:spPr>
          <a:xfrm>
            <a:off x="548640" y="5440679"/>
            <a:ext cx="5486401" cy="4566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200">
                <a:solidFill>
                  <a:srgbClr val="FFFFFF"/>
                </a:solidFill>
                <a:latin typeface="Arial"/>
                <a:ea typeface="Arial"/>
                <a:cs typeface="Arial"/>
                <a:sym typeface="Arial"/>
              </a:defRPr>
            </a:lvl1pPr>
          </a:lstStyle>
          <a:p>
            <a:pPr/>
            <a:r>
              <a:t>Questions?</a:t>
            </a:r>
          </a:p>
        </p:txBody>
      </p:sp>
      <p:sp>
        <p:nvSpPr>
          <p:cNvPr id="458" name="text-412"/>
          <p:cNvSpPr txBox="1"/>
          <p:nvPr/>
        </p:nvSpPr>
        <p:spPr>
          <a:xfrm>
            <a:off x="6153911" y="5669279"/>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400">
                <a:solidFill>
                  <a:schemeClr val="accent4"/>
                </a:solidFill>
              </a:defRPr>
            </a:lvl1pPr>
          </a:lstStyle>
          <a:p>
            <a:pPr/>
            <a:r>
              <a:t>Adam Gantt  ·  gantta@gmail.com</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PSC Evergreen">
  <a:themeElements>
    <a:clrScheme name="PSC Evergreen">
      <a:dk1>
        <a:srgbClr val="0E1A17"/>
      </a:dk1>
      <a:lt1>
        <a:srgbClr val="12332B"/>
      </a:lt1>
      <a:dk2>
        <a:srgbClr val="A7A7A7"/>
      </a:dk2>
      <a:lt2>
        <a:srgbClr val="535353"/>
      </a:lt2>
      <a:accent1>
        <a:srgbClr val="14A37F"/>
      </a:accent1>
      <a:accent2>
        <a:srgbClr val="E8A33D"/>
      </a:accent2>
      <a:accent3>
        <a:srgbClr val="2F6F5E"/>
      </a:accent3>
      <a:accent4>
        <a:srgbClr val="C6E8DB"/>
      </a:accent4>
      <a:accent5>
        <a:srgbClr val="5B6B66"/>
      </a:accent5>
      <a:accent6>
        <a:srgbClr val="D9534F"/>
      </a:accent6>
      <a:hlink>
        <a:srgbClr val="0000FF"/>
      </a:hlink>
      <a:folHlink>
        <a:srgbClr val="FF00FF"/>
      </a:folHlink>
    </a:clrScheme>
    <a:fontScheme name="PSC Evergreen">
      <a:majorFont>
        <a:latin typeface="Calibri"/>
        <a:ea typeface="Calibri"/>
        <a:cs typeface="Calibri"/>
      </a:majorFont>
      <a:minorFont>
        <a:latin typeface="Helvetica"/>
        <a:ea typeface="Helvetica"/>
        <a:cs typeface="Helvetica"/>
      </a:minorFont>
    </a:fontScheme>
    <a:fmtScheme name="PSC Evergre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SC Evergreen">
  <a:themeElements>
    <a:clrScheme name="PSC Evergreen">
      <a:dk1>
        <a:srgbClr val="0E1A17"/>
      </a:dk1>
      <a:lt1>
        <a:srgbClr val="1A0C10"/>
      </a:lt1>
      <a:dk2>
        <a:srgbClr val="A7A7A7"/>
      </a:dk2>
      <a:lt2>
        <a:srgbClr val="535353"/>
      </a:lt2>
      <a:accent1>
        <a:srgbClr val="14A37F"/>
      </a:accent1>
      <a:accent2>
        <a:srgbClr val="E8A33D"/>
      </a:accent2>
      <a:accent3>
        <a:srgbClr val="2F6F5E"/>
      </a:accent3>
      <a:accent4>
        <a:srgbClr val="C6E8DB"/>
      </a:accent4>
      <a:accent5>
        <a:srgbClr val="5B6B66"/>
      </a:accent5>
      <a:accent6>
        <a:srgbClr val="D9534F"/>
      </a:accent6>
      <a:hlink>
        <a:srgbClr val="0000FF"/>
      </a:hlink>
      <a:folHlink>
        <a:srgbClr val="FF00FF"/>
      </a:folHlink>
    </a:clrScheme>
    <a:fontScheme name="PSC Evergreen">
      <a:majorFont>
        <a:latin typeface="Calibri"/>
        <a:ea typeface="Calibri"/>
        <a:cs typeface="Calibri"/>
      </a:majorFont>
      <a:minorFont>
        <a:latin typeface="Helvetica"/>
        <a:ea typeface="Helvetica"/>
        <a:cs typeface="Helvetica"/>
      </a:minorFont>
    </a:fontScheme>
    <a:fmtScheme name="PSC Evergre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E1A17"/>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